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17"/>
  </p:notesMasterIdLst>
  <p:handoutMasterIdLst>
    <p:handoutMasterId r:id="rId18"/>
  </p:handoutMasterIdLst>
  <p:sldIdLst>
    <p:sldId id="256" r:id="rId5"/>
    <p:sldId id="257" r:id="rId6"/>
    <p:sldId id="261" r:id="rId7"/>
    <p:sldId id="263" r:id="rId8"/>
    <p:sldId id="264" r:id="rId9"/>
    <p:sldId id="267" r:id="rId10"/>
    <p:sldId id="270" r:id="rId11"/>
    <p:sldId id="271" r:id="rId12"/>
    <p:sldId id="272" r:id="rId13"/>
    <p:sldId id="259" r:id="rId14"/>
    <p:sldId id="268" r:id="rId15"/>
    <p:sldId id="269"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5529" autoAdjust="0"/>
  </p:normalViewPr>
  <p:slideViewPr>
    <p:cSldViewPr snapToGrid="0">
      <p:cViewPr varScale="1">
        <p:scale>
          <a:sx n="91" d="100"/>
          <a:sy n="91" d="100"/>
        </p:scale>
        <p:origin x="322" y="77"/>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6/19/2025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6/19/2025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6</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10</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Tahoma" panose="020B0604030504040204" pitchFamily="34" charset="0"/>
                <a:ea typeface="Tahoma" panose="020B0604030504040204" pitchFamily="34" charset="0"/>
                <a:cs typeface="Tahoma" panose="020B0604030504040204" pitchFamily="34" charset="0"/>
              </a:rPr>
              <a:t>The action step is what the audience is supposed to do or think about the topic.  It should be one sentence that is written clearly and with much thought. It may also be the thesis statement restated as an action.  The goal of this slide is to leave the audience with a clear message as to what they are to do or think at the end of the speech.  It may be a good idea to end with a powerful quote or image.  </a:t>
            </a:r>
          </a:p>
        </p:txBody>
      </p:sp>
      <p:sp>
        <p:nvSpPr>
          <p:cNvPr id="4" name="Slide Number Placeholder 3"/>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29062576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6/19/2025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hyperlink" Target="https://go.microsoft.com/fwlink/?linkid=2007348"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1" y="5280847"/>
            <a:ext cx="10572000" cy="1217090"/>
          </a:xfrm>
        </p:spPr>
        <p:txBody>
          <a:bodyPr>
            <a:normAutofit fontScale="62500" lnSpcReduction="20000"/>
          </a:bodyPr>
          <a:lstStyle/>
          <a:p>
            <a:r>
              <a:rPr lang="en-IN" b="1" dirty="0"/>
              <a:t>Presented by: Shahil Kumar (MML2023008)</a:t>
            </a:r>
          </a:p>
          <a:p>
            <a:r>
              <a:rPr lang="en-IN" b="1" dirty="0"/>
              <a:t>    MTech. IT (MLIS)</a:t>
            </a:r>
          </a:p>
          <a:p>
            <a:r>
              <a:rPr lang="en-IN" b="1" dirty="0"/>
              <a:t>June 25, 2025</a:t>
            </a:r>
          </a:p>
          <a:p>
            <a:r>
              <a:rPr lang="en-IN" dirty="0"/>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131332"/>
            <a:ext cx="11208204" cy="2595336"/>
          </a:xfrm>
        </p:spPr>
        <p:txBody>
          <a:bodyPr>
            <a:normAutofit/>
          </a:bodyPr>
          <a:lstStyle/>
          <a:p>
            <a:pPr algn="just"/>
            <a:r>
              <a:rPr lang="en-IN" b="1" dirty="0"/>
              <a:t>Information Retrieval Challenge:</a:t>
            </a:r>
            <a:r>
              <a:rPr lang="en-IN" dirty="0"/>
              <a:t> Modern IR systems require precise document ranking from vast collections</a:t>
            </a:r>
          </a:p>
          <a:p>
            <a:pPr algn="just"/>
            <a:r>
              <a:rPr lang="en-IN" b="1" dirty="0"/>
              <a:t>Cross-Encoder Advantage:</a:t>
            </a:r>
            <a:r>
              <a:rPr lang="en-IN" dirty="0"/>
              <a:t> State-of-the-art reranking through deep query-document interactions</a:t>
            </a:r>
          </a:p>
          <a:p>
            <a:pPr algn="just"/>
            <a:r>
              <a:rPr lang="en-IN" b="1" dirty="0"/>
              <a:t>Optimization Gap:</a:t>
            </a:r>
            <a:r>
              <a:rPr lang="en-IN" dirty="0"/>
              <a:t> Limited research on Lion optimizer for IR tasks despite success in other domains</a:t>
            </a:r>
          </a:p>
          <a:p>
            <a:pPr algn="just"/>
            <a:r>
              <a:rPr lang="en-IN" b="1" dirty="0"/>
              <a:t>Practical Impact:</a:t>
            </a:r>
            <a:r>
              <a:rPr lang="en-IN" dirty="0"/>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 and AdamW 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t>Research </a:t>
            </a:r>
            <a:r>
              <a:rPr lang="en-IN" b="1" dirty="0">
                <a:latin typeface="Barlow ExtraBold" panose="00000900000000000000" pitchFamily="2" charset="0"/>
              </a:rPr>
              <a:t>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2022538"/>
            <a:ext cx="10151233" cy="2948179"/>
          </a:xfrm>
          <a:prstGeom prst="rect">
            <a:avLst/>
          </a:prstGeom>
          <a:noFill/>
        </p:spPr>
        <p:txBody>
          <a:bodyPr wrap="square" rtlCol="0">
            <a:spAutoFit/>
          </a:bodyPr>
          <a:lstStyle/>
          <a:p>
            <a:pPr marL="342900" indent="-342900">
              <a:lnSpc>
                <a:spcPct val="150000"/>
              </a:lnSpc>
              <a:buFont typeface="+mj-lt"/>
              <a:buAutoNum type="arabicPeriod"/>
            </a:pPr>
            <a:r>
              <a:rPr lang="en-IN" b="1" dirty="0"/>
              <a:t>Systematic Evaluation:</a:t>
            </a:r>
            <a:r>
              <a:rPr lang="en-IN" dirty="0"/>
              <a:t> Compare Lion and AdamW across three transformer architectures.</a:t>
            </a:r>
          </a:p>
          <a:p>
            <a:pPr marL="342900" indent="-342900">
              <a:lnSpc>
                <a:spcPct val="150000"/>
              </a:lnSpc>
              <a:buFont typeface="+mj-lt"/>
              <a:buAutoNum type="arabicPeriod"/>
            </a:pPr>
            <a:r>
              <a:rPr lang="en-IN" b="1" dirty="0"/>
              <a:t>Comprehensive Benchmarking:</a:t>
            </a:r>
            <a:r>
              <a:rPr lang="en-IN" dirty="0"/>
              <a:t> Evaluate performance using standard IR metrics on TREC DL 2019 and MS MARCO.</a:t>
            </a:r>
          </a:p>
          <a:p>
            <a:pPr marL="342900" indent="-342900">
              <a:lnSpc>
                <a:spcPct val="150000"/>
              </a:lnSpc>
              <a:buFont typeface="+mj-lt"/>
              <a:buAutoNum type="arabicPeriod"/>
            </a:pPr>
            <a:r>
              <a:rPr lang="en-IN" b="1" dirty="0"/>
              <a:t>Training Dynamics Analysis:</a:t>
            </a:r>
            <a:r>
              <a:rPr lang="en-IN" dirty="0"/>
              <a:t> Investigate convergence patterns and stability.</a:t>
            </a:r>
          </a:p>
          <a:p>
            <a:pPr marL="342900" indent="-342900">
              <a:lnSpc>
                <a:spcPct val="150000"/>
              </a:lnSpc>
              <a:buFont typeface="+mj-lt"/>
              <a:buAutoNum type="arabicPeriod"/>
            </a:pPr>
            <a:r>
              <a:rPr lang="en-IN" b="1" dirty="0"/>
              <a:t>Practical Guidelines:</a:t>
            </a:r>
            <a:r>
              <a:rPr lang="en-IN" dirty="0"/>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28506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714037" y="473988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tretch>
            <a:fillRect/>
          </a:stretch>
        </p:blipFill>
        <p:spPr>
          <a:xfrm>
            <a:off x="190791" y="35955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3009779045"/>
              </p:ext>
            </p:extLst>
          </p:nvPr>
        </p:nvGraphicFramePr>
        <p:xfrm>
          <a:off x="782704" y="1812991"/>
          <a:ext cx="10215263" cy="2473960"/>
        </p:xfrm>
        <a:graphic>
          <a:graphicData uri="http://schemas.openxmlformats.org/drawingml/2006/table">
            <a:tbl>
              <a:tblPr firstRow="1" bandRow="1">
                <a:tableStyleId>{69C7853C-536D-4A76-A0AE-DD22124D55A5}</a:tableStyleId>
              </a:tblPr>
              <a:tblGrid>
                <a:gridCol w="2196235">
                  <a:extLst>
                    <a:ext uri="{9D8B030D-6E8A-4147-A177-3AD203B41FA5}">
                      <a16:colId xmlns:a16="http://schemas.microsoft.com/office/drawing/2014/main" val="902513758"/>
                    </a:ext>
                  </a:extLst>
                </a:gridCol>
                <a:gridCol w="2196235">
                  <a:extLst>
                    <a:ext uri="{9D8B030D-6E8A-4147-A177-3AD203B41FA5}">
                      <a16:colId xmlns:a16="http://schemas.microsoft.com/office/drawing/2014/main" val="2836376390"/>
                    </a:ext>
                  </a:extLst>
                </a:gridCol>
                <a:gridCol w="2123248">
                  <a:extLst>
                    <a:ext uri="{9D8B030D-6E8A-4147-A177-3AD203B41FA5}">
                      <a16:colId xmlns:a16="http://schemas.microsoft.com/office/drawing/2014/main" val="4239693166"/>
                    </a:ext>
                  </a:extLst>
                </a:gridCol>
                <a:gridCol w="3699545">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rPr>
                        <a:t>Model</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Parameters</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Context Length</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Key Features</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b="1" dirty="0">
                          <a:effectLst/>
                        </a:rPr>
                        <a:t>MiniLM-L12-H384</a:t>
                      </a:r>
                      <a:endParaRPr lang="en-IN" dirty="0">
                        <a:effectLst/>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b="1">
                          <a:effectLst/>
                        </a:rPr>
                        <a:t>GTE-multilingual-base</a:t>
                      </a:r>
                      <a:endParaRPr lang="en-IN">
                        <a:effectLst/>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b="1">
                          <a:effectLst/>
                        </a:rPr>
                        <a:t>ModernBERT-base</a:t>
                      </a:r>
                      <a:endParaRPr lang="en-IN">
                        <a:effectLst/>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RoPE, Flash Attention, GeGLU</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296873"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dirty="0">
                <a:latin typeface="Barlow ExtraBold" panose="00000900000000000000" pitchFamily="2" charset="0"/>
              </a:rPr>
              <a:t>Optimizers Comparison (AdamW)</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extLst>
              <a:ext uri="{FF2B5EF4-FFF2-40B4-BE49-F238E27FC236}">
                <a16:creationId xmlns:a16="http://schemas.microsoft.com/office/drawing/2014/main" id="{9ADE2C19-748C-BEF1-E01F-6CA5DA982809}"/>
              </a:ext>
            </a:extLst>
          </p:cNvPr>
          <p:cNvPicPr>
            <a:picLocks/>
          </p:cNvPicPr>
          <p:nvPr/>
        </p:nvPicPr>
        <p:blipFill>
          <a:blip r:embed="rId3"/>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4"/>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dirty="0">
                <a:latin typeface="Barlow ExtraBold" panose="00000900000000000000" pitchFamily="2" charset="0"/>
              </a:rPr>
              <a:t>Optimizers Comparison (Lion)</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291364"/>
            <a:ext cx="4366007" cy="2211814"/>
          </a:xfrm>
          <a:prstGeom prst="rect">
            <a:avLst/>
          </a:prstGeom>
        </p:spPr>
      </p:pic>
      <p:pic>
        <p:nvPicPr>
          <p:cNvPr id="3" name="@holatex&#10;\begin{document}&#10;\center&#10;where:&#10;\begin{itemize}&#10;    \item $c_t$: interpolated momentum for update direction&#10;    \item $\text{sign}(\cdot)$: element-wise sign function&#10;    \item Other parameters follow similar definitions as AdamW&#10;\end{itemize}&#10;\end{document}">
            <a:extLst>
              <a:ext uri="{FF2B5EF4-FFF2-40B4-BE49-F238E27FC236}">
                <a16:creationId xmlns:a16="http://schemas.microsoft.com/office/drawing/2014/main" id="{996BC0B4-312F-574A-8729-9E94B96A1AB9}"/>
              </a:ext>
            </a:extLst>
          </p:cNvPr>
          <p:cNvPicPr>
            <a:picLocks/>
          </p:cNvPicPr>
          <p:nvPr/>
        </p:nvPicPr>
        <p:blipFill>
          <a:blip r:embed="rId4"/>
          <a:stretch>
            <a:fillRect/>
          </a:stretch>
        </p:blipFill>
        <p:spPr>
          <a:xfrm>
            <a:off x="6329956" y="3687882"/>
            <a:ext cx="4599964" cy="1667013"/>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SemiBold" panose="00000700000000000000" pitchFamily="2" charset="0"/>
              </a:rPr>
              <a:t>AdamW vs. Lion : Key Difference</a:t>
            </a:r>
            <a:endParaRPr lang="en-IN" dirty="0">
              <a:latin typeface="Barlow SemiBold" panose="00000700000000000000" pitchFamily="2" charset="0"/>
            </a:endParaRPr>
          </a:p>
        </p:txBody>
      </p:sp>
      <p:graphicFrame>
        <p:nvGraphicFramePr>
          <p:cNvPr id="4" name="Table 3">
            <a:extLst>
              <a:ext uri="{FF2B5EF4-FFF2-40B4-BE49-F238E27FC236}">
                <a16:creationId xmlns:a16="http://schemas.microsoft.com/office/drawing/2014/main" id="{9BC2424E-52F9-B085-3991-5B1AC6A5C119}"/>
              </a:ext>
            </a:extLst>
          </p:cNvPr>
          <p:cNvGraphicFramePr>
            <a:graphicFrameLocks noGrp="1"/>
          </p:cNvGraphicFramePr>
          <p:nvPr>
            <p:extLst>
              <p:ext uri="{D42A27DB-BD31-4B8C-83A1-F6EECF244321}">
                <p14:modId xmlns:p14="http://schemas.microsoft.com/office/powerpoint/2010/main" val="3792682621"/>
              </p:ext>
            </p:extLst>
          </p:nvPr>
        </p:nvGraphicFramePr>
        <p:xfrm>
          <a:off x="1125989" y="2622616"/>
          <a:ext cx="8907243" cy="3666720"/>
        </p:xfrm>
        <a:graphic>
          <a:graphicData uri="http://schemas.openxmlformats.org/drawingml/2006/table">
            <a:tbl>
              <a:tblPr firstRow="1" bandRow="1">
                <a:tableStyleId>{69C7853C-536D-4A76-A0AE-DD22124D55A5}</a:tableStyleId>
              </a:tblPr>
              <a:tblGrid>
                <a:gridCol w="2969081">
                  <a:extLst>
                    <a:ext uri="{9D8B030D-6E8A-4147-A177-3AD203B41FA5}">
                      <a16:colId xmlns:a16="http://schemas.microsoft.com/office/drawing/2014/main" val="1060200112"/>
                    </a:ext>
                  </a:extLst>
                </a:gridCol>
                <a:gridCol w="2969081">
                  <a:extLst>
                    <a:ext uri="{9D8B030D-6E8A-4147-A177-3AD203B41FA5}">
                      <a16:colId xmlns:a16="http://schemas.microsoft.com/office/drawing/2014/main" val="926785508"/>
                    </a:ext>
                  </a:extLst>
                </a:gridCol>
                <a:gridCol w="2969081">
                  <a:extLst>
                    <a:ext uri="{9D8B030D-6E8A-4147-A177-3AD203B41FA5}">
                      <a16:colId xmlns:a16="http://schemas.microsoft.com/office/drawing/2014/main" val="685443098"/>
                    </a:ext>
                  </a:extLst>
                </a:gridCol>
              </a:tblGrid>
              <a:tr h="582160">
                <a:tc>
                  <a:txBody>
                    <a:bodyPr/>
                    <a:lstStyle/>
                    <a:p>
                      <a:pPr algn="l"/>
                      <a:r>
                        <a:rPr lang="en-GB" sz="2400" b="1" dirty="0">
                          <a:solidFill>
                            <a:schemeClr val="bg1"/>
                          </a:solidFill>
                          <a:latin typeface="Barlow SemiBold" panose="00000700000000000000" pitchFamily="2" charset="0"/>
                        </a:rPr>
                        <a:t>Aspect</a:t>
                      </a:r>
                      <a:endParaRPr lang="en-IN" sz="2400" b="1" dirty="0">
                        <a:solidFill>
                          <a:schemeClr val="bg1"/>
                        </a:solidFill>
                        <a:latin typeface="Barlow SemiBold" panose="00000700000000000000" pitchFamily="2" charset="0"/>
                      </a:endParaRPr>
                    </a:p>
                  </a:txBody>
                  <a:tcPr>
                    <a:lnB w="15875" cap="rnd" cmpd="sng" algn="ctr">
                      <a:noFill/>
                      <a:prstDash val="solid"/>
                    </a:lnB>
                  </a:tcPr>
                </a:tc>
                <a:tc>
                  <a:txBody>
                    <a:bodyPr/>
                    <a:lstStyle/>
                    <a:p>
                      <a:pPr algn="l"/>
                      <a:r>
                        <a:rPr lang="en-GB" sz="2400" dirty="0">
                          <a:latin typeface="Barlow SemiBold" panose="00000700000000000000" pitchFamily="2" charset="0"/>
                        </a:rPr>
                        <a:t>AdamW</a:t>
                      </a:r>
                      <a:endParaRPr lang="en-IN" sz="2400" dirty="0">
                        <a:latin typeface="Barlow SemiBold" panose="00000700000000000000" pitchFamily="2" charset="0"/>
                      </a:endParaRPr>
                    </a:p>
                  </a:txBody>
                  <a:tcPr>
                    <a:lnB w="15875" cap="rnd" cmpd="sng" algn="ctr">
                      <a:noFill/>
                      <a:prstDash val="solid"/>
                    </a:lnB>
                  </a:tcPr>
                </a:tc>
                <a:tc>
                  <a:txBody>
                    <a:bodyPr/>
                    <a:lstStyle/>
                    <a:p>
                      <a:pPr algn="l"/>
                      <a:r>
                        <a:rPr lang="en-GB" sz="2400" dirty="0">
                          <a:latin typeface="Barlow SemiBold" panose="00000700000000000000" pitchFamily="2" charset="0"/>
                        </a:rPr>
                        <a:t>Lion</a:t>
                      </a:r>
                    </a:p>
                  </a:txBody>
                  <a:tcPr>
                    <a:lnB w="15875" cap="rnd" cmpd="sng" algn="ctr">
                      <a:noFill/>
                      <a:prstDash val="solid"/>
                    </a:lnB>
                  </a:tcPr>
                </a:tc>
                <a:extLst>
                  <a:ext uri="{0D108BD9-81ED-4DB2-BD59-A6C34878D82A}">
                    <a16:rowId xmlns:a16="http://schemas.microsoft.com/office/drawing/2014/main" val="1563949812"/>
                  </a:ext>
                </a:extLst>
              </a:tr>
              <a:tr h="582160">
                <a:tc>
                  <a:txBody>
                    <a:bodyPr/>
                    <a:lstStyle/>
                    <a:p>
                      <a:pPr algn="l"/>
                      <a:r>
                        <a:rPr lang="en-IN" b="1" dirty="0">
                          <a:effectLst/>
                          <a:latin typeface="Barlow Medium" panose="00000600000000000000" pitchFamily="2" charset="0"/>
                        </a:rPr>
                        <a:t>Update Rule</a:t>
                      </a:r>
                      <a:endParaRPr lang="en-IN" dirty="0">
                        <a:effectLst/>
                        <a:latin typeface="Barlow Medium" panose="000006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GB" dirty="0">
                          <a:effectLst/>
                          <a:latin typeface="Barlow Medium" panose="00000600000000000000" pitchFamily="2" charset="0"/>
                        </a:rPr>
                        <a:t>Adaptive learning rates with momentum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latin typeface="Barlow Medium" panose="00000600000000000000" pitchFamily="2" charset="0"/>
                        </a:rPr>
                        <a:t>Sign-based momentum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295004568"/>
                  </a:ext>
                </a:extLst>
              </a:tr>
              <a:tr h="582160">
                <a:tc>
                  <a:txBody>
                    <a:bodyPr/>
                    <a:lstStyle/>
                    <a:p>
                      <a:pPr algn="l"/>
                      <a:r>
                        <a:rPr lang="en-IN" b="1" dirty="0">
                          <a:effectLst/>
                          <a:latin typeface="Barlow Medium" panose="00000600000000000000" pitchFamily="2" charset="0"/>
                        </a:rPr>
                        <a:t>Memory Usage</a:t>
                      </a:r>
                      <a:endParaRPr lang="en-IN" dirty="0">
                        <a:effectLst/>
                        <a:latin typeface="Barlow Medium" panose="000006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Higher (stores gradients + variance)</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Lower (momentum only)</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63590911"/>
                  </a:ext>
                </a:extLst>
              </a:tr>
              <a:tr h="582160">
                <a:tc>
                  <a:txBody>
                    <a:bodyPr/>
                    <a:lstStyle/>
                    <a:p>
                      <a:pPr algn="l"/>
                      <a:r>
                        <a:rPr lang="en-IN" b="1">
                          <a:effectLst/>
                          <a:latin typeface="Barlow Medium" panose="00000600000000000000" pitchFamily="2" charset="0"/>
                        </a:rPr>
                        <a:t>Computation</a:t>
                      </a:r>
                      <a:endParaRPr lang="en-IN">
                        <a:effectLst/>
                        <a:latin typeface="Barlow Medium" panose="000006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Complex adaptive scaling</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Simple sign operation</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870938022"/>
                  </a:ext>
                </a:extLst>
              </a:tr>
              <a:tr h="582160">
                <a:tc>
                  <a:txBody>
                    <a:bodyPr/>
                    <a:lstStyle/>
                    <a:p>
                      <a:pPr algn="l"/>
                      <a:r>
                        <a:rPr lang="en-IN" b="1">
                          <a:effectLst/>
                          <a:latin typeface="Barlow Medium" panose="00000600000000000000" pitchFamily="2" charset="0"/>
                        </a:rPr>
                        <a:t>Tuning</a:t>
                      </a:r>
                      <a:endParaRPr lang="en-IN">
                        <a:effectLst/>
                        <a:latin typeface="Barlow Medium" panose="000006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Well-established hyperparameters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Requires careful tuning</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193721353"/>
                  </a:ext>
                </a:extLst>
              </a:tr>
              <a:tr h="582160">
                <a:tc>
                  <a:txBody>
                    <a:bodyPr/>
                    <a:lstStyle/>
                    <a:p>
                      <a:pPr algn="l"/>
                      <a:r>
                        <a:rPr lang="en-IN" b="1" dirty="0">
                          <a:effectLst/>
                          <a:latin typeface="Barlow Medium" panose="00000600000000000000" pitchFamily="2" charset="0"/>
                        </a:rPr>
                        <a:t>Novelty</a:t>
                      </a:r>
                      <a:endParaRPr lang="en-IN" dirty="0">
                        <a:effectLst/>
                        <a:latin typeface="Barlow Medium" panose="000006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latin typeface="Barlow Medium" panose="00000600000000000000" pitchFamily="2" charset="0"/>
                        </a:rPr>
                        <a:t>Standard for transformers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latin typeface="Barlow Medium" panose="00000600000000000000" pitchFamily="2" charset="0"/>
                        </a:rPr>
                        <a:t>Recent innovation</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421708171"/>
                  </a:ext>
                </a:extLst>
              </a:tr>
            </a:tbl>
          </a:graphicData>
        </a:graphic>
      </p:graphicFrame>
    </p:spTree>
    <p:extLst>
      <p:ext uri="{BB962C8B-B14F-4D97-AF65-F5344CB8AC3E}">
        <p14:creationId xmlns:p14="http://schemas.microsoft.com/office/powerpoint/2010/main" val="19618454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90395" y="311813"/>
            <a:ext cx="5399343" cy="837479"/>
          </a:xfrm>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501629"/>
            <a:ext cx="10708975" cy="5044557"/>
          </a:xfrm>
        </p:spPr>
        <p:txBody>
          <a:bodyPr>
            <a:normAutofit fontScale="92500" lnSpcReduction="20000"/>
          </a:bodyPr>
          <a:lstStyle/>
          <a:p>
            <a:r>
              <a:rPr lang="en-IN" sz="3200" b="1" dirty="0">
                <a:latin typeface="Barlow Medium" panose="00000600000000000000" pitchFamily="2" charset="0"/>
              </a:rPr>
              <a:t>Dataset Configuration</a:t>
            </a:r>
          </a:p>
          <a:p>
            <a:pPr lvl="1"/>
            <a:r>
              <a:rPr lang="en-IN" sz="1800" b="1" dirty="0">
                <a:latin typeface="Barlow Medium" panose="00000600000000000000" pitchFamily="2" charset="0"/>
              </a:rPr>
              <a:t>T</a:t>
            </a:r>
            <a:r>
              <a:rPr lang="en-IN" sz="1800" b="1" dirty="0">
                <a:latin typeface="Barlow" panose="00000500000000000000" pitchFamily="2" charset="0"/>
              </a:rPr>
              <a:t>raining:</a:t>
            </a:r>
            <a:r>
              <a:rPr lang="en-IN" sz="1800" dirty="0">
                <a:latin typeface="Barlow" panose="00000500000000000000" pitchFamily="2" charset="0"/>
              </a:rPr>
              <a:t> MS MARCO Passage Ranking (~500K query-passage pairs)</a:t>
            </a:r>
          </a:p>
          <a:p>
            <a:pPr lvl="1"/>
            <a:r>
              <a:rPr lang="en-IN" sz="1800" b="1" dirty="0">
                <a:latin typeface="Barlow" panose="00000500000000000000" pitchFamily="2" charset="0"/>
              </a:rPr>
              <a:t>Evaluation:</a:t>
            </a:r>
            <a:r>
              <a:rPr lang="en-IN" sz="1800" dirty="0">
                <a:latin typeface="Barlow" panose="00000500000000000000" pitchFamily="2" charset="0"/>
              </a:rPr>
              <a:t> TREC DL 2019 (43 queries with comprehensive relevance judgments)</a:t>
            </a:r>
          </a:p>
          <a:p>
            <a:pPr lvl="1"/>
            <a:r>
              <a:rPr lang="en-IN" sz="1800" b="1" dirty="0">
                <a:latin typeface="Barlow" panose="00000500000000000000" pitchFamily="2" charset="0"/>
              </a:rPr>
              <a:t>Metrics:</a:t>
            </a:r>
            <a:r>
              <a:rPr lang="en-IN" sz="1800" dirty="0">
                <a:latin typeface="Barlow" panose="00000500000000000000" pitchFamily="2" charset="0"/>
              </a:rPr>
              <a:t> NDCG@10, MAP, MRR@10, Recall@10, R-Precision, P@10</a:t>
            </a:r>
          </a:p>
          <a:p>
            <a:r>
              <a:rPr lang="en-IN" sz="3200" b="1" dirty="0">
                <a:latin typeface="Barlow Medium" panose="00000600000000000000" pitchFamily="2" charset="0"/>
              </a:rPr>
              <a:t>Infrastructure</a:t>
            </a:r>
          </a:p>
          <a:p>
            <a:pPr lvl="1"/>
            <a:r>
              <a:rPr lang="en-IN" sz="1800" b="1" dirty="0">
                <a:latin typeface="Barlow" panose="00000500000000000000" pitchFamily="2" charset="0"/>
              </a:rPr>
              <a:t>Platform:</a:t>
            </a:r>
            <a:r>
              <a:rPr lang="en-IN" sz="1800" dirty="0">
                <a:latin typeface="Barlow" panose="00000500000000000000" pitchFamily="2" charset="0"/>
              </a:rPr>
              <a:t> Modal cloud computing</a:t>
            </a:r>
          </a:p>
          <a:p>
            <a:pPr lvl="1"/>
            <a:r>
              <a:rPr lang="en-IN" sz="1800" b="1" dirty="0">
                <a:latin typeface="Barlow" panose="00000500000000000000" pitchFamily="2" charset="0"/>
              </a:rPr>
              <a:t>Hardware:</a:t>
            </a:r>
            <a:r>
              <a:rPr lang="en-IN" sz="1800" dirty="0">
                <a:latin typeface="Barlow" panose="00000500000000000000" pitchFamily="2" charset="0"/>
              </a:rPr>
              <a:t> 3 × NVIDIA L40S GPUs</a:t>
            </a:r>
          </a:p>
          <a:p>
            <a:pPr lvl="1"/>
            <a:r>
              <a:rPr lang="en-IN" sz="1800" b="1" dirty="0">
                <a:latin typeface="Barlow" panose="00000500000000000000" pitchFamily="2" charset="0"/>
              </a:rPr>
              <a:t>Monitoring:</a:t>
            </a:r>
            <a:r>
              <a:rPr lang="en-IN" sz="1800" dirty="0">
                <a:latin typeface="Barlow" panose="00000500000000000000" pitchFamily="2" charset="0"/>
              </a:rPr>
              <a:t> Weights &amp; Biases</a:t>
            </a:r>
          </a:p>
          <a:p>
            <a:pPr lvl="1"/>
            <a:r>
              <a:rPr lang="en-IN" sz="1800" b="1" dirty="0">
                <a:latin typeface="Barlow" panose="00000500000000000000" pitchFamily="2" charset="0"/>
              </a:rPr>
              <a:t>Training:</a:t>
            </a:r>
            <a:r>
              <a:rPr lang="en-IN" sz="1800" dirty="0">
                <a:latin typeface="Barlow" panose="00000500000000000000" pitchFamily="2" charset="0"/>
              </a:rPr>
              <a:t> 3 epochs per configuration</a:t>
            </a:r>
          </a:p>
          <a:p>
            <a:r>
              <a:rPr lang="en-IN" sz="3200" b="1" dirty="0">
                <a:latin typeface="Barlow Medium" panose="00000600000000000000" pitchFamily="2" charset="0"/>
              </a:rPr>
              <a:t>Experimental Design</a:t>
            </a:r>
          </a:p>
          <a:p>
            <a:pPr lvl="1"/>
            <a:r>
              <a:rPr lang="en-IN" sz="1800" b="1" dirty="0">
                <a:latin typeface="Barlow" panose="00000500000000000000" pitchFamily="2" charset="0"/>
              </a:rPr>
              <a:t>Total Configurations:</a:t>
            </a:r>
            <a:r>
              <a:rPr lang="en-IN" sz="1800" dirty="0">
                <a:latin typeface="Barlow" panose="00000500000000000000" pitchFamily="2" charset="0"/>
              </a:rPr>
              <a:t> 6 (3 models × 2 optimizers)</a:t>
            </a:r>
          </a:p>
          <a:p>
            <a:pPr lvl="1"/>
            <a:r>
              <a:rPr lang="en-IN" sz="1800" b="1" dirty="0">
                <a:latin typeface="Barlow" panose="00000500000000000000" pitchFamily="2" charset="0"/>
              </a:rPr>
              <a:t>Controlled Variables:</a:t>
            </a:r>
            <a:r>
              <a:rPr lang="en-IN" sz="1800" dirty="0">
                <a:latin typeface="Barlow" panose="00000500000000000000" pitchFamily="2" charset="0"/>
              </a:rPr>
              <a:t> Batch size, training steps, evaluation frequency</a:t>
            </a:r>
          </a:p>
          <a:p>
            <a:pPr lvl="1"/>
            <a:r>
              <a:rPr lang="en-IN" sz="1800" b="1" dirty="0">
                <a:latin typeface="Barlow" panose="00000500000000000000" pitchFamily="2" charset="0"/>
              </a:rPr>
              <a:t>Variable Parameters:</a:t>
            </a:r>
            <a:r>
              <a:rPr lang="en-IN" sz="18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27240B3-8BFF-4F4A-AFA2-52E66F2680F1}"/>
              </a:ext>
            </a:extLst>
          </p:cNvPr>
          <p:cNvSpPr txBox="1"/>
          <p:nvPr/>
        </p:nvSpPr>
        <p:spPr>
          <a:xfrm>
            <a:off x="7360032" y="311847"/>
            <a:ext cx="4537679" cy="830997"/>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The thesis should be clear and bold.  Use powerful images as a background or an accent to strengthen the thesis statement.</a:t>
            </a:r>
          </a:p>
        </p:txBody>
      </p:sp>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t>[Type Thesis Statement Here]</a:t>
            </a:r>
          </a:p>
        </p:txBody>
      </p:sp>
    </p:spTree>
    <p:extLst>
      <p:ext uri="{BB962C8B-B14F-4D97-AF65-F5344CB8AC3E}">
        <p14:creationId xmlns:p14="http://schemas.microsoft.com/office/powerpoint/2010/main" val="38690944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A7EC95-D971-4A86-9927-619CED5AB4B2}"/>
              </a:ext>
            </a:extLst>
          </p:cNvPr>
          <p:cNvSpPr>
            <a:spLocks noGrp="1"/>
          </p:cNvSpPr>
          <p:nvPr>
            <p:ph type="title"/>
          </p:nvPr>
        </p:nvSpPr>
        <p:spPr>
          <a:xfrm>
            <a:off x="810000" y="4489884"/>
            <a:ext cx="10561418" cy="1426004"/>
          </a:xfrm>
        </p:spPr>
        <p:txBody>
          <a:bodyPr/>
          <a:lstStyle/>
          <a:p>
            <a:r>
              <a:rPr lang="en-US" dirty="0"/>
              <a:t>[Type The Action Step Here]</a:t>
            </a:r>
          </a:p>
        </p:txBody>
      </p:sp>
      <p:sp>
        <p:nvSpPr>
          <p:cNvPr id="9" name="Content Placeholder 8">
            <a:extLst>
              <a:ext uri="{FF2B5EF4-FFF2-40B4-BE49-F238E27FC236}">
                <a16:creationId xmlns:a16="http://schemas.microsoft.com/office/drawing/2014/main" id="{D7442235-8F25-4E4C-8750-8CC8C44313AD}"/>
              </a:ext>
            </a:extLst>
          </p:cNvPr>
          <p:cNvSpPr>
            <a:spLocks noGrp="1"/>
          </p:cNvSpPr>
          <p:nvPr>
            <p:ph sz="quarter" idx="14"/>
          </p:nvPr>
        </p:nvSpPr>
        <p:spPr/>
        <p:txBody>
          <a:bodyPr/>
          <a:lstStyle/>
          <a:p>
            <a:pPr marL="0" indent="0" algn="ctr">
              <a:buFont typeface="Arial" panose="020B0604020202020204" pitchFamily="34" charset="0"/>
              <a:buNone/>
            </a:pPr>
            <a:r>
              <a:rPr lang="en-US" dirty="0">
                <a:ea typeface="Tahoma" panose="020B0604030504040204" pitchFamily="34" charset="0"/>
                <a:cs typeface="Tahoma" panose="020B0604030504040204" pitchFamily="34" charset="0"/>
              </a:rPr>
              <a:t>[Use this space to place an image that best captures the main idea of the action step]</a:t>
            </a:r>
          </a:p>
        </p:txBody>
      </p:sp>
      <p:sp>
        <p:nvSpPr>
          <p:cNvPr id="7" name="TextBox 6">
            <a:extLst>
              <a:ext uri="{FF2B5EF4-FFF2-40B4-BE49-F238E27FC236}">
                <a16:creationId xmlns:a16="http://schemas.microsoft.com/office/drawing/2014/main" id="{43264A76-ADAD-4DC9-84FD-71DFAFEE7A6F}"/>
              </a:ext>
            </a:extLst>
          </p:cNvPr>
          <p:cNvSpPr txBox="1"/>
          <p:nvPr/>
        </p:nvSpPr>
        <p:spPr>
          <a:xfrm>
            <a:off x="8089900" y="186333"/>
            <a:ext cx="3886200" cy="1077218"/>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If time and format permits it may be a good idea to add another slide for questions.  It may be as simple as a title that states “Questions?”</a:t>
            </a:r>
          </a:p>
        </p:txBody>
      </p:sp>
    </p:spTree>
    <p:extLst>
      <p:ext uri="{BB962C8B-B14F-4D97-AF65-F5344CB8AC3E}">
        <p14:creationId xmlns:p14="http://schemas.microsoft.com/office/powerpoint/2010/main" val="1980296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p:txBody>
          <a:bodyPr/>
          <a:lstStyle/>
          <a:p>
            <a:r>
              <a:rPr lang="en-US" dirty="0"/>
              <a:t>Customize this Template</a:t>
            </a:r>
          </a:p>
        </p:txBody>
      </p:sp>
      <p:sp>
        <p:nvSpPr>
          <p:cNvPr id="8" name="TextBox 7">
            <a:hlinkClick r:id="rId2"/>
            <a:extLst>
              <a:ext uri="{FF2B5EF4-FFF2-40B4-BE49-F238E27FC236}">
                <a16:creationId xmlns:a16="http://schemas.microsoft.com/office/drawing/2014/main" id="{5FC6C278-4035-446A-A94B-030E792FDDF5}"/>
              </a:ext>
            </a:extLst>
          </p:cNvPr>
          <p:cNvSpPr txBox="1"/>
          <p:nvPr/>
        </p:nvSpPr>
        <p:spPr>
          <a:xfrm>
            <a:off x="1547813" y="2459504"/>
            <a:ext cx="9096374" cy="1938992"/>
          </a:xfrm>
          <a:prstGeom prst="rect">
            <a:avLst/>
          </a:prstGeom>
          <a:noFill/>
        </p:spPr>
        <p:txBody>
          <a:bodyPr wrap="square" rtlCol="0">
            <a:noAutofit/>
          </a:bodyPr>
          <a:lstStyle/>
          <a:p>
            <a:pPr algn="ctr"/>
            <a:r>
              <a:rPr lang="en-US" sz="6000" u="sng" dirty="0">
                <a:solidFill>
                  <a:srgbClr val="0070C0"/>
                </a:solidFill>
              </a:rPr>
              <a:t>Template Editing Instructions and Feedback</a:t>
            </a:r>
          </a:p>
        </p:txBody>
      </p:sp>
    </p:spTree>
    <p:extLst>
      <p:ext uri="{BB962C8B-B14F-4D97-AF65-F5344CB8AC3E}">
        <p14:creationId xmlns:p14="http://schemas.microsoft.com/office/powerpoint/2010/main" val="23945982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7">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64</TotalTime>
  <Words>1160</Words>
  <Application>Microsoft Office PowerPoint</Application>
  <PresentationFormat>Widescreen</PresentationFormat>
  <Paragraphs>119</Paragraphs>
  <Slides>12</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12</vt:i4>
      </vt:variant>
    </vt:vector>
  </HeadingPairs>
  <TitlesOfParts>
    <vt:vector size="23"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Research Overview &amp; Motivation</vt:lpstr>
      <vt:lpstr>Research Objectives</vt:lpstr>
      <vt:lpstr>Cross-Encoder Architecture</vt:lpstr>
      <vt:lpstr>Model Architectures Tested</vt:lpstr>
      <vt:lpstr>Optimizers Comparison (AdamW)</vt:lpstr>
      <vt:lpstr>Optimizers Comparison (Lion)</vt:lpstr>
      <vt:lpstr>AdamW vs. Lion : Key Difference</vt:lpstr>
      <vt:lpstr>Experimental Setup</vt:lpstr>
      <vt:lpstr>[Type Thesis Statement Here]</vt:lpstr>
      <vt:lpstr>[Type The Action Step Here]</vt:lpstr>
      <vt:lpstr>Customize this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10</cp:revision>
  <dcterms:created xsi:type="dcterms:W3CDTF">2025-06-19T06:03:54Z</dcterms:created>
  <dcterms:modified xsi:type="dcterms:W3CDTF">2025-06-19T07:08:51Z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