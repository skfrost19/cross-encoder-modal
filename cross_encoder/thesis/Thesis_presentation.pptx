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35"/>
  </p:notesMasterIdLst>
  <p:handoutMasterIdLst>
    <p:handoutMasterId r:id="rId36"/>
  </p:handoutMasterIdLst>
  <p:sldIdLst>
    <p:sldId id="256" r:id="rId5"/>
    <p:sldId id="259" r:id="rId6"/>
    <p:sldId id="257" r:id="rId7"/>
    <p:sldId id="261" r:id="rId8"/>
    <p:sldId id="286" r:id="rId9"/>
    <p:sldId id="281" r:id="rId10"/>
    <p:sldId id="263" r:id="rId11"/>
    <p:sldId id="282" r:id="rId12"/>
    <p:sldId id="267" r:id="rId13"/>
    <p:sldId id="283" r:id="rId14"/>
    <p:sldId id="270" r:id="rId15"/>
    <p:sldId id="287" r:id="rId16"/>
    <p:sldId id="272" r:id="rId17"/>
    <p:sldId id="264" r:id="rId18"/>
    <p:sldId id="279" r:id="rId19"/>
    <p:sldId id="273" r:id="rId20"/>
    <p:sldId id="271" r:id="rId21"/>
    <p:sldId id="288" r:id="rId22"/>
    <p:sldId id="275" r:id="rId23"/>
    <p:sldId id="276" r:id="rId24"/>
    <p:sldId id="277" r:id="rId25"/>
    <p:sldId id="278" r:id="rId26"/>
    <p:sldId id="289" r:id="rId27"/>
    <p:sldId id="269" r:id="rId28"/>
    <p:sldId id="293" r:id="rId29"/>
    <p:sldId id="294" r:id="rId30"/>
    <p:sldId id="290" r:id="rId31"/>
    <p:sldId id="291" r:id="rId32"/>
    <p:sldId id="292" r:id="rId33"/>
    <p:sldId id="28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529" autoAdjust="0"/>
  </p:normalViewPr>
  <p:slideViewPr>
    <p:cSldViewPr snapToGrid="0">
      <p:cViewPr varScale="1">
        <p:scale>
          <a:sx n="163" d="100"/>
          <a:sy n="163" d="100"/>
        </p:scale>
        <p:origin x="150" y="252"/>
      </p:cViewPr>
      <p:guideLst/>
    </p:cSldViewPr>
  </p:slideViewPr>
  <p:notesTextViewPr>
    <p:cViewPr>
      <p:scale>
        <a:sx n="1" d="1"/>
        <a:sy n="1" d="1"/>
      </p:scale>
      <p:origin x="0" y="0"/>
    </p:cViewPr>
  </p:notesTextViewPr>
  <p:notesViewPr>
    <p:cSldViewPr snapToGrid="0">
      <p:cViewPr varScale="1">
        <p:scale>
          <a:sx n="60" d="100"/>
          <a:sy n="60" d="100"/>
        </p:scale>
        <p:origin x="242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6/25/2025</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6/25/2025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Be specific and direct in the title. Use the subtitle to give the specific context of the speech.</a:t>
            </a:r>
          </a:p>
          <a:p>
            <a:r>
              <a:rPr lang="en-US" sz="1200" dirty="0">
                <a:latin typeface="Tahoma" panose="020B0604030504040204" pitchFamily="34" charset="0"/>
                <a:ea typeface="Tahoma" panose="020B0604030504040204" pitchFamily="34" charset="0"/>
                <a:cs typeface="Tahoma" panose="020B0604030504040204" pitchFamily="34" charset="0"/>
              </a:rPr>
              <a:t>-The goal should be to capture the audience’s attention which can be done with a quote, a startling statistic, or fact.  It is not necessary to include this attention getter on the slide.</a:t>
            </a:r>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320545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2</a:t>
            </a:fld>
            <a:endParaRPr lang="en-US" dirty="0"/>
          </a:p>
        </p:txBody>
      </p:sp>
    </p:spTree>
    <p:extLst>
      <p:ext uri="{BB962C8B-B14F-4D97-AF65-F5344CB8AC3E}">
        <p14:creationId xmlns:p14="http://schemas.microsoft.com/office/powerpoint/2010/main" val="3338027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ahoma" panose="020B0604030504040204" pitchFamily="34" charset="0"/>
                <a:ea typeface="Tahoma" panose="020B0604030504040204" pitchFamily="34" charset="0"/>
                <a:cs typeface="Tahoma" panose="020B0604030504040204" pitchFamily="34" charset="0"/>
              </a:rPr>
              <a:t>Use the background points to post details that are not common knowledge, or that the audience will need to understand the context of the speech.</a:t>
            </a:r>
          </a:p>
          <a:p>
            <a:r>
              <a:rPr lang="en-US" dirty="0"/>
              <a:t>-Do not read these main points from the PowerPoint, instead elaborate on these points during the speech.</a:t>
            </a:r>
          </a:p>
        </p:txBody>
      </p:sp>
      <p:sp>
        <p:nvSpPr>
          <p:cNvPr id="4" name="Slide Number Placeholder 3"/>
          <p:cNvSpPr>
            <a:spLocks noGrp="1"/>
          </p:cNvSpPr>
          <p:nvPr>
            <p:ph type="sldNum" sz="quarter" idx="10"/>
          </p:nvPr>
        </p:nvSpPr>
        <p:spPr/>
        <p:txBody>
          <a:bodyPr/>
          <a:lstStyle/>
          <a:p>
            <a:fld id="{E6AEB063-7F11-4E3B-BA52-07405B1C2D95}" type="slidenum">
              <a:rPr lang="en-US" smtClean="0"/>
              <a:t>3</a:t>
            </a:fld>
            <a:endParaRPr lang="en-US" dirty="0"/>
          </a:p>
        </p:txBody>
      </p:sp>
    </p:spTree>
    <p:extLst>
      <p:ext uri="{BB962C8B-B14F-4D97-AF65-F5344CB8AC3E}">
        <p14:creationId xmlns:p14="http://schemas.microsoft.com/office/powerpoint/2010/main" val="2752401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#1 should be clear and concise.  Each piece of evidence should be summarized for clarity and cited correctly.  Do not simply read the pieces of evidence, but elaborate where needed.  </a:t>
            </a:r>
          </a:p>
          <a:p>
            <a:r>
              <a:rPr lang="en-US" dirty="0"/>
              <a:t>[type notes for elaboration here]</a:t>
            </a:r>
          </a:p>
          <a:p>
            <a:r>
              <a:rPr lang="en-US" dirty="0"/>
              <a:t>Be sure to transition to main point #2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4</a:t>
            </a:fld>
            <a:endParaRPr lang="en-US" dirty="0"/>
          </a:p>
        </p:txBody>
      </p:sp>
    </p:spTree>
    <p:extLst>
      <p:ext uri="{BB962C8B-B14F-4D97-AF65-F5344CB8AC3E}">
        <p14:creationId xmlns:p14="http://schemas.microsoft.com/office/powerpoint/2010/main" val="2639452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EBDA1-2A39-F528-3D62-7F1412666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EEFF0-8CFF-DCB9-CFA8-823617315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8456D-E3CE-204C-9EA3-429B2F1E06EC}"/>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ED6EDCE5-6A1E-157D-B918-86350EA59087}"/>
              </a:ext>
            </a:extLst>
          </p:cNvPr>
          <p:cNvSpPr>
            <a:spLocks noGrp="1"/>
          </p:cNvSpPr>
          <p:nvPr>
            <p:ph type="sldNum" sz="quarter" idx="10"/>
          </p:nvPr>
        </p:nvSpPr>
        <p:spPr/>
        <p:txBody>
          <a:bodyPr/>
          <a:lstStyle/>
          <a:p>
            <a:fld id="{E6AEB063-7F11-4E3B-BA52-07405B1C2D95}" type="slidenum">
              <a:rPr lang="en-US" smtClean="0"/>
              <a:t>5</a:t>
            </a:fld>
            <a:endParaRPr lang="en-US" dirty="0"/>
          </a:p>
        </p:txBody>
      </p:sp>
    </p:spTree>
    <p:extLst>
      <p:ext uri="{BB962C8B-B14F-4D97-AF65-F5344CB8AC3E}">
        <p14:creationId xmlns:p14="http://schemas.microsoft.com/office/powerpoint/2010/main" val="409902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#2 should be clear and concise.  Each piece of evidence should be summarized for clarity and cited correctly.  Do not simply read the pieces of evidence, but elaborate where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notes for elaboration here]</a:t>
            </a:r>
          </a:p>
          <a:p>
            <a:r>
              <a:rPr lang="en-US" dirty="0"/>
              <a:t>Be sure to transition to main point #3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7</a:t>
            </a:fld>
            <a:endParaRPr lang="en-US" dirty="0"/>
          </a:p>
        </p:txBody>
      </p:sp>
    </p:spTree>
    <p:extLst>
      <p:ext uri="{BB962C8B-B14F-4D97-AF65-F5344CB8AC3E}">
        <p14:creationId xmlns:p14="http://schemas.microsoft.com/office/powerpoint/2010/main" val="750561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9</a:t>
            </a:fld>
            <a:endParaRPr lang="en-US" dirty="0"/>
          </a:p>
        </p:txBody>
      </p:sp>
    </p:spTree>
    <p:extLst>
      <p:ext uri="{BB962C8B-B14F-4D97-AF65-F5344CB8AC3E}">
        <p14:creationId xmlns:p14="http://schemas.microsoft.com/office/powerpoint/2010/main" val="3730541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97B9-C95E-C958-D018-FD985B40F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0C768-89E4-9130-77FC-EB511F19D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AE96A-0DC8-D413-BA90-ABDFB3F76E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a:extLst>
              <a:ext uri="{FF2B5EF4-FFF2-40B4-BE49-F238E27FC236}">
                <a16:creationId xmlns:a16="http://schemas.microsoft.com/office/drawing/2014/main" id="{7E486FE0-0CEE-94C8-A02D-3F65B45A83D1}"/>
              </a:ext>
            </a:extLst>
          </p:cNvPr>
          <p:cNvSpPr>
            <a:spLocks noGrp="1"/>
          </p:cNvSpPr>
          <p:nvPr>
            <p:ph type="sldNum" sz="quarter" idx="10"/>
          </p:nvPr>
        </p:nvSpPr>
        <p:spPr/>
        <p:txBody>
          <a:bodyPr/>
          <a:lstStyle/>
          <a:p>
            <a:fld id="{E6AEB063-7F11-4E3B-BA52-07405B1C2D95}" type="slidenum">
              <a:rPr lang="en-US" smtClean="0"/>
              <a:t>11</a:t>
            </a:fld>
            <a:endParaRPr lang="en-US" dirty="0"/>
          </a:p>
        </p:txBody>
      </p:sp>
    </p:spTree>
    <p:extLst>
      <p:ext uri="{BB962C8B-B14F-4D97-AF65-F5344CB8AC3E}">
        <p14:creationId xmlns:p14="http://schemas.microsoft.com/office/powerpoint/2010/main" val="3893626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1F5F2-9C67-3FF6-B1C2-005DCC7F8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E3303-605A-A2C4-7474-6EF509195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07AAA-D64D-E4A9-917B-42BDFDAB96FC}"/>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E38F30E9-476E-A334-F2B4-6D63AA46F2B4}"/>
              </a:ext>
            </a:extLst>
          </p:cNvPr>
          <p:cNvSpPr>
            <a:spLocks noGrp="1"/>
          </p:cNvSpPr>
          <p:nvPr>
            <p:ph type="sldNum" sz="quarter" idx="10"/>
          </p:nvPr>
        </p:nvSpPr>
        <p:spPr/>
        <p:txBody>
          <a:bodyPr/>
          <a:lstStyle/>
          <a:p>
            <a:fld id="{E6AEB063-7F11-4E3B-BA52-07405B1C2D95}" type="slidenum">
              <a:rPr lang="en-US" smtClean="0"/>
              <a:t>12</a:t>
            </a:fld>
            <a:endParaRPr lang="en-US" dirty="0"/>
          </a:p>
        </p:txBody>
      </p:sp>
    </p:spTree>
    <p:extLst>
      <p:ext uri="{BB962C8B-B14F-4D97-AF65-F5344CB8AC3E}">
        <p14:creationId xmlns:p14="http://schemas.microsoft.com/office/powerpoint/2010/main" val="3231253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#3 should be clear and concise.  Each piece of evidence should be summarized for clarity and cited correctly.  Do not simply read the pieces of evidence, but elaborate where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notes for elaboration here]</a:t>
            </a:r>
          </a:p>
          <a:p>
            <a:r>
              <a:rPr lang="en-US" dirty="0"/>
              <a:t>Be sure to transition to the counterargument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14</a:t>
            </a:fld>
            <a:endParaRPr lang="en-US" dirty="0"/>
          </a:p>
        </p:txBody>
      </p:sp>
    </p:spTree>
    <p:extLst>
      <p:ext uri="{BB962C8B-B14F-4D97-AF65-F5344CB8AC3E}">
        <p14:creationId xmlns:p14="http://schemas.microsoft.com/office/powerpoint/2010/main" val="418214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1082-DB30-3988-0A75-589CE729F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50740-EE7A-B904-DF75-68F14BD76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A42C5-80E8-6F31-5C5D-AB56F2C1212E}"/>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2D02C9FB-5257-B378-0FAC-6275695347E8}"/>
              </a:ext>
            </a:extLst>
          </p:cNvPr>
          <p:cNvSpPr>
            <a:spLocks noGrp="1"/>
          </p:cNvSpPr>
          <p:nvPr>
            <p:ph type="sldNum" sz="quarter" idx="10"/>
          </p:nvPr>
        </p:nvSpPr>
        <p:spPr/>
        <p:txBody>
          <a:bodyPr/>
          <a:lstStyle/>
          <a:p>
            <a:fld id="{E6AEB063-7F11-4E3B-BA52-07405B1C2D95}" type="slidenum">
              <a:rPr lang="en-US" smtClean="0"/>
              <a:t>18</a:t>
            </a:fld>
            <a:endParaRPr lang="en-US" dirty="0"/>
          </a:p>
        </p:txBody>
      </p:sp>
    </p:spTree>
    <p:extLst>
      <p:ext uri="{BB962C8B-B14F-4D97-AF65-F5344CB8AC3E}">
        <p14:creationId xmlns:p14="http://schemas.microsoft.com/office/powerpoint/2010/main" val="257452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E342-2DD0-BA83-6201-2C8C815DA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52E9F-E64B-D6F2-2318-61D48CAA6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18968-9130-F0CC-6C97-02CADD3C12D9}"/>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3106AEF4-6A97-B618-C164-69F3BD8FDAE9}"/>
              </a:ext>
            </a:extLst>
          </p:cNvPr>
          <p:cNvSpPr>
            <a:spLocks noGrp="1"/>
          </p:cNvSpPr>
          <p:nvPr>
            <p:ph type="sldNum" sz="quarter" idx="10"/>
          </p:nvPr>
        </p:nvSpPr>
        <p:spPr/>
        <p:txBody>
          <a:bodyPr/>
          <a:lstStyle/>
          <a:p>
            <a:fld id="{E6AEB063-7F11-4E3B-BA52-07405B1C2D95}" type="slidenum">
              <a:rPr lang="en-US" smtClean="0"/>
              <a:t>23</a:t>
            </a:fld>
            <a:endParaRPr lang="en-US" dirty="0"/>
          </a:p>
        </p:txBody>
      </p:sp>
    </p:spTree>
    <p:extLst>
      <p:ext uri="{BB962C8B-B14F-4D97-AF65-F5344CB8AC3E}">
        <p14:creationId xmlns:p14="http://schemas.microsoft.com/office/powerpoint/2010/main" val="3638664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84FF-2A06-9C0C-D2AF-A8A8C272C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A46D3-7668-4938-EA6C-BF254EE0F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A9B49-2A18-10EA-5263-9A799D35011C}"/>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99E93F07-F05B-40A6-87EA-D30992FCE840}"/>
              </a:ext>
            </a:extLst>
          </p:cNvPr>
          <p:cNvSpPr>
            <a:spLocks noGrp="1"/>
          </p:cNvSpPr>
          <p:nvPr>
            <p:ph type="sldNum" sz="quarter" idx="10"/>
          </p:nvPr>
        </p:nvSpPr>
        <p:spPr/>
        <p:txBody>
          <a:bodyPr/>
          <a:lstStyle/>
          <a:p>
            <a:fld id="{E6AEB063-7F11-4E3B-BA52-07405B1C2D95}" type="slidenum">
              <a:rPr lang="en-US" smtClean="0"/>
              <a:t>30</a:t>
            </a:fld>
            <a:endParaRPr lang="en-US" dirty="0"/>
          </a:p>
        </p:txBody>
      </p:sp>
    </p:spTree>
    <p:extLst>
      <p:ext uri="{BB962C8B-B14F-4D97-AF65-F5344CB8AC3E}">
        <p14:creationId xmlns:p14="http://schemas.microsoft.com/office/powerpoint/2010/main" val="4191064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noProof="0"/>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5" name="Footer Placeholder 4"/>
          <p:cNvSpPr>
            <a:spLocks noGrp="1"/>
          </p:cNvSpPr>
          <p:nvPr>
            <p:ph type="ftr" sz="quarter" idx="11"/>
          </p:nvPr>
        </p:nvSpPr>
        <p:spPr/>
        <p:txBody>
          <a:bodyPr/>
          <a:lstStyle/>
          <a:p>
            <a:r>
              <a:rPr lang="en-US" noProof="0" dirty="0"/>
              <a:t>Add a footer </a:t>
            </a:r>
          </a:p>
        </p:txBody>
      </p:sp>
      <p:sp>
        <p:nvSpPr>
          <p:cNvPr id="6" name="Slide Number Placeholder 5"/>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C3AB4A3-AE75-4D00-9BE1-AF3996C6B77E}"/>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10" name="Footer Placeholder 9">
            <a:extLst>
              <a:ext uri="{FF2B5EF4-FFF2-40B4-BE49-F238E27FC236}">
                <a16:creationId xmlns:a16="http://schemas.microsoft.com/office/drawing/2014/main" id="{9471F3C4-BAAF-4391-B574-8E340EDA39E9}"/>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FB8DD71F-FEC6-4AB5-974A-FD2B82A7BEE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740B6DF-7478-4740-A710-DA5E9EBA7CBF}"/>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7" name="Footer Placeholder 6">
            <a:extLst>
              <a:ext uri="{FF2B5EF4-FFF2-40B4-BE49-F238E27FC236}">
                <a16:creationId xmlns:a16="http://schemas.microsoft.com/office/drawing/2014/main" id="{42D89951-67E9-4086-AED0-C236A00A5330}"/>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38553809-8746-49E3-BCB5-0A9FF406C30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F86C4-C3A0-4CA8-8809-1D90DE9E4D4F}"/>
              </a:ext>
            </a:extLst>
          </p:cNvPr>
          <p:cNvSpPr>
            <a:spLocks noGrp="1"/>
          </p:cNvSpPr>
          <p:nvPr>
            <p:ph type="dt" sz="half" idx="14"/>
          </p:nvPr>
        </p:nvSpPr>
        <p:spPr/>
        <p:txBody>
          <a:bodyPr/>
          <a:lstStyle/>
          <a:p>
            <a:fld id="{FB7F6C47-B260-4BB6-8230-7D14D5CDE026}" type="datetimeFigureOut">
              <a:rPr lang="en-US" noProof="0" smtClean="0"/>
              <a:t>6/25/2025</a:t>
            </a:fld>
            <a:endParaRPr lang="en-US" noProof="0" dirty="0"/>
          </a:p>
        </p:txBody>
      </p:sp>
      <p:sp>
        <p:nvSpPr>
          <p:cNvPr id="10" name="Footer Placeholder 9">
            <a:extLst>
              <a:ext uri="{FF2B5EF4-FFF2-40B4-BE49-F238E27FC236}">
                <a16:creationId xmlns:a16="http://schemas.microsoft.com/office/drawing/2014/main" id="{EDD26EA8-C9F2-49A7-8F7B-A782D30B827A}"/>
              </a:ext>
            </a:extLst>
          </p:cNvPr>
          <p:cNvSpPr>
            <a:spLocks noGrp="1"/>
          </p:cNvSpPr>
          <p:nvPr>
            <p:ph type="ftr" sz="quarter" idx="15"/>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241DD2E8-07A6-430F-A2FB-E2746C9352D4}"/>
              </a:ext>
            </a:extLst>
          </p:cNvPr>
          <p:cNvSpPr>
            <a:spLocks noGrp="1"/>
          </p:cNvSpPr>
          <p:nvPr>
            <p:ph type="sldNum" sz="quarter" idx="16"/>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2940641-87D1-48C5-879E-8A5FBA537AFD}"/>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10" name="Footer Placeholder 9">
            <a:extLst>
              <a:ext uri="{FF2B5EF4-FFF2-40B4-BE49-F238E27FC236}">
                <a16:creationId xmlns:a16="http://schemas.microsoft.com/office/drawing/2014/main" id="{DBFA68A8-3A7A-430B-9A66-482C28DC5A76}"/>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96C17F98-4E3F-4327-8CCF-D13C337121A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Date Placeholder 2">
            <a:extLst>
              <a:ext uri="{FF2B5EF4-FFF2-40B4-BE49-F238E27FC236}">
                <a16:creationId xmlns:a16="http://schemas.microsoft.com/office/drawing/2014/main" id="{5829ED24-3C5F-4326-A304-DBDBA6CE7E1A}"/>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4" name="Footer Placeholder 3">
            <a:extLst>
              <a:ext uri="{FF2B5EF4-FFF2-40B4-BE49-F238E27FC236}">
                <a16:creationId xmlns:a16="http://schemas.microsoft.com/office/drawing/2014/main" id="{BF532AEE-3AAE-4FBF-969F-8A364CE8AEB6}"/>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6717C1A8-7DBE-4E24-BCA1-D820D780B9C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0466CE2-DFEE-46B8-AFB2-817272E3B703}"/>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9" name="Footer Placeholder 8">
            <a:extLst>
              <a:ext uri="{FF2B5EF4-FFF2-40B4-BE49-F238E27FC236}">
                <a16:creationId xmlns:a16="http://schemas.microsoft.com/office/drawing/2014/main" id="{27E9A94A-136A-4208-8F98-012BDAC1A23C}"/>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81459C8B-DA0F-4808-A642-40471D1D2C96}"/>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1FE71A4-2AD7-44A1-9075-3AB1A226C1C2}"/>
              </a:ext>
            </a:extLst>
          </p:cNvPr>
          <p:cNvSpPr>
            <a:spLocks noGrp="1"/>
          </p:cNvSpPr>
          <p:nvPr>
            <p:ph type="dt" sz="half" idx="15"/>
          </p:nvPr>
        </p:nvSpPr>
        <p:spPr/>
        <p:txBody>
          <a:bodyPr/>
          <a:lstStyle/>
          <a:p>
            <a:fld id="{FB7F6C47-B260-4BB6-8230-7D14D5CDE026}" type="datetimeFigureOut">
              <a:rPr lang="en-US" noProof="0" smtClean="0"/>
              <a:t>6/25/2025</a:t>
            </a:fld>
            <a:endParaRPr lang="en-US" noProof="0" dirty="0"/>
          </a:p>
        </p:txBody>
      </p:sp>
      <p:sp>
        <p:nvSpPr>
          <p:cNvPr id="4" name="Footer Placeholder 3">
            <a:extLst>
              <a:ext uri="{FF2B5EF4-FFF2-40B4-BE49-F238E27FC236}">
                <a16:creationId xmlns:a16="http://schemas.microsoft.com/office/drawing/2014/main" id="{0F5F74D3-28C0-4AA1-8508-75D32DA3C2A0}"/>
              </a:ext>
            </a:extLst>
          </p:cNvPr>
          <p:cNvSpPr>
            <a:spLocks noGrp="1"/>
          </p:cNvSpPr>
          <p:nvPr>
            <p:ph type="ftr" sz="quarter" idx="16"/>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77D83112-B341-46D2-8B30-46DBC3DAE35A}"/>
              </a:ext>
            </a:extLst>
          </p:cNvPr>
          <p:cNvSpPr>
            <a:spLocks noGrp="1"/>
          </p:cNvSpPr>
          <p:nvPr>
            <p:ph type="sldNum" sz="quarter" idx="17"/>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913A633-0BBE-491F-94FD-A319FC7D2B1A}"/>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8" name="Footer Placeholder 7">
            <a:extLst>
              <a:ext uri="{FF2B5EF4-FFF2-40B4-BE49-F238E27FC236}">
                <a16:creationId xmlns:a16="http://schemas.microsoft.com/office/drawing/2014/main" id="{9916FEDE-3F7F-4F2C-A341-BDA56AA7C2AC}"/>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0C1EE25F-3E3B-45D3-B259-498E69BF2D67}"/>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D4F5D18E-4241-429D-BEDB-6A7415C52F3D}"/>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8" name="Footer Placeholder 7">
            <a:extLst>
              <a:ext uri="{FF2B5EF4-FFF2-40B4-BE49-F238E27FC236}">
                <a16:creationId xmlns:a16="http://schemas.microsoft.com/office/drawing/2014/main" id="{7F5CFD55-6AD5-4B7E-AC33-483174EF1EBD}"/>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14D43F5-DCFF-4B29-AC19-0BF28605BA8B}"/>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B3473E37-6504-470F-92FA-792C3ACA4FEC}"/>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12" name="Footer Placeholder 11">
            <a:extLst>
              <a:ext uri="{FF2B5EF4-FFF2-40B4-BE49-F238E27FC236}">
                <a16:creationId xmlns:a16="http://schemas.microsoft.com/office/drawing/2014/main" id="{7523DE74-18E2-4EF3-A1FC-8A32CCFE2666}"/>
              </a:ext>
            </a:extLst>
          </p:cNvPr>
          <p:cNvSpPr>
            <a:spLocks noGrp="1"/>
          </p:cNvSpPr>
          <p:nvPr>
            <p:ph type="ftr" sz="quarter" idx="11"/>
          </p:nvPr>
        </p:nvSpPr>
        <p:spPr/>
        <p:txBody>
          <a:bodyPr/>
          <a:lstStyle/>
          <a:p>
            <a:r>
              <a:rPr lang="en-US" noProof="0" dirty="0"/>
              <a:t>Add a footer</a:t>
            </a:r>
          </a:p>
        </p:txBody>
      </p:sp>
      <p:sp>
        <p:nvSpPr>
          <p:cNvPr id="13" name="Slide Number Placeholder 12">
            <a:extLst>
              <a:ext uri="{FF2B5EF4-FFF2-40B4-BE49-F238E27FC236}">
                <a16:creationId xmlns:a16="http://schemas.microsoft.com/office/drawing/2014/main" id="{51B4AF82-5505-4A7E-AA81-139F21451D9A}"/>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noProof="0"/>
              <a:t>Click to edit Master title style</a:t>
            </a:r>
          </a:p>
        </p:txBody>
      </p:sp>
      <p:sp>
        <p:nvSpPr>
          <p:cNvPr id="7" name="Date Placeholder 6">
            <a:extLst>
              <a:ext uri="{FF2B5EF4-FFF2-40B4-BE49-F238E27FC236}">
                <a16:creationId xmlns:a16="http://schemas.microsoft.com/office/drawing/2014/main" id="{93AF03C3-E3F3-4845-8D9E-9BD2A676707E}"/>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8" name="Footer Placeholder 7">
            <a:extLst>
              <a:ext uri="{FF2B5EF4-FFF2-40B4-BE49-F238E27FC236}">
                <a16:creationId xmlns:a16="http://schemas.microsoft.com/office/drawing/2014/main" id="{DB9C7230-29FF-42F2-A662-1BC1D19C5003}"/>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99EBD02D-5A68-4A14-892F-DE4953F2E3DD}"/>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6D14D8-4D13-4DFE-938B-B710F891BBA2}"/>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6" name="Footer Placeholder 5">
            <a:extLst>
              <a:ext uri="{FF2B5EF4-FFF2-40B4-BE49-F238E27FC236}">
                <a16:creationId xmlns:a16="http://schemas.microsoft.com/office/drawing/2014/main" id="{6864B8A5-6021-4208-A587-B45576E66D48}"/>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53C96ABC-E632-4853-B7CC-A2FB4B7CF144}"/>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noProof="0"/>
              <a:t>Click to edit Master title style</a:t>
            </a:r>
          </a:p>
        </p:txBody>
      </p:sp>
      <p:sp>
        <p:nvSpPr>
          <p:cNvPr id="3" name="Content Placeholder 2"/>
          <p:cNvSpPr>
            <a:spLocks noGrp="1"/>
          </p:cNvSpPr>
          <p:nvPr>
            <p:ph idx="1" hasCustomPrompt="1"/>
          </p:nvPr>
        </p:nvSpPr>
        <p:spPr>
          <a:xfrm>
            <a:off x="4855633" y="446088"/>
            <a:ext cx="6252633" cy="5414963"/>
          </a:xfrm>
        </p:spPr>
        <p:txBody>
          <a:bodyP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hasCustomPrompt="1"/>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8" name="Date Placeholder 7">
            <a:extLst>
              <a:ext uri="{FF2B5EF4-FFF2-40B4-BE49-F238E27FC236}">
                <a16:creationId xmlns:a16="http://schemas.microsoft.com/office/drawing/2014/main" id="{CBF97433-9C09-4B71-A1E0-24F75011D99C}"/>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9" name="Footer Placeholder 8">
            <a:extLst>
              <a:ext uri="{FF2B5EF4-FFF2-40B4-BE49-F238E27FC236}">
                <a16:creationId xmlns:a16="http://schemas.microsoft.com/office/drawing/2014/main" id="{46EDA271-FE91-46E6-ABB5-0A3AD2448B21}"/>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C44DCFF3-B944-4C24-A12C-689D1FF794E8}"/>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noProof="0"/>
              <a:t>Click to edit Master title style</a:t>
            </a:r>
          </a:p>
        </p:txBody>
      </p:sp>
      <p:sp>
        <p:nvSpPr>
          <p:cNvPr id="3" name="Text Placeholder 2"/>
          <p:cNvSpPr>
            <a:spLocks noGrp="1"/>
          </p:cNvSpPr>
          <p:nvPr>
            <p:ph type="body" idx="1" hasCustomPrompt="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9" name="Text Placeholder 5"/>
          <p:cNvSpPr>
            <a:spLocks noGrp="1"/>
          </p:cNvSpPr>
          <p:nvPr>
            <p:ph type="body" sz="quarter" idx="16" hasCustomPrompt="1"/>
          </p:nvPr>
        </p:nvSpPr>
        <p:spPr>
          <a:xfrm>
            <a:off x="7574642" y="1081456"/>
            <a:ext cx="3810001" cy="4075465"/>
          </a:xfrm>
        </p:spPr>
        <p:txBody>
          <a:bodyPr anchor="t" anchorCtr="0">
            <a:normAutofit/>
          </a:bodyPr>
          <a:lstStyle>
            <a:lvl1pPr marL="0" indent="0" algn="l">
              <a:buFontTx/>
              <a:buNone/>
              <a:defRPr sz="2800"/>
            </a:lvl1pPr>
          </a:lstStyle>
          <a:p>
            <a:pPr lvl="0"/>
            <a:r>
              <a:rPr lang="en-US" noProof="0"/>
              <a:t>Edit Master text styles</a:t>
            </a:r>
          </a:p>
        </p:txBody>
      </p:sp>
      <p:sp>
        <p:nvSpPr>
          <p:cNvPr id="7" name="Date Placeholder 6">
            <a:extLst>
              <a:ext uri="{FF2B5EF4-FFF2-40B4-BE49-F238E27FC236}">
                <a16:creationId xmlns:a16="http://schemas.microsoft.com/office/drawing/2014/main" id="{7964F81E-11BA-4BB3-AC2C-0A729DC676E6}"/>
              </a:ext>
            </a:extLst>
          </p:cNvPr>
          <p:cNvSpPr>
            <a:spLocks noGrp="1"/>
          </p:cNvSpPr>
          <p:nvPr>
            <p:ph type="dt" sz="half" idx="17"/>
          </p:nvPr>
        </p:nvSpPr>
        <p:spPr/>
        <p:txBody>
          <a:bodyPr/>
          <a:lstStyle/>
          <a:p>
            <a:fld id="{FB7F6C47-B260-4BB6-8230-7D14D5CDE026}" type="datetimeFigureOut">
              <a:rPr lang="en-US" noProof="0" smtClean="0"/>
              <a:t>6/25/2025</a:t>
            </a:fld>
            <a:endParaRPr lang="en-US" noProof="0" dirty="0"/>
          </a:p>
        </p:txBody>
      </p:sp>
      <p:sp>
        <p:nvSpPr>
          <p:cNvPr id="10" name="Footer Placeholder 9">
            <a:extLst>
              <a:ext uri="{FF2B5EF4-FFF2-40B4-BE49-F238E27FC236}">
                <a16:creationId xmlns:a16="http://schemas.microsoft.com/office/drawing/2014/main" id="{F93A4488-E8DE-4FEB-88F9-B37F95CC838A}"/>
              </a:ext>
            </a:extLst>
          </p:cNvPr>
          <p:cNvSpPr>
            <a:spLocks noGrp="1"/>
          </p:cNvSpPr>
          <p:nvPr>
            <p:ph type="ftr" sz="quarter" idx="18"/>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DF909D08-1E53-42D5-954B-F61B5083645D}"/>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noProof="0"/>
              <a:t>Click to edit Master title style</a:t>
            </a:r>
          </a:p>
        </p:txBody>
      </p:sp>
      <p:sp>
        <p:nvSpPr>
          <p:cNvPr id="6" name="Text Placeholder 5"/>
          <p:cNvSpPr>
            <a:spLocks noGrp="1"/>
          </p:cNvSpPr>
          <p:nvPr>
            <p:ph type="body" sz="quarter" idx="16" hasCustomPrompt="1"/>
          </p:nvPr>
        </p:nvSpPr>
        <p:spPr>
          <a:xfrm>
            <a:off x="6156000" y="2286000"/>
            <a:ext cx="4880300" cy="2295525"/>
          </a:xfrm>
        </p:spPr>
        <p:txBody>
          <a:bodyPr anchor="ctr" anchorCtr="0">
            <a:normAutofit/>
          </a:bodyPr>
          <a:lstStyle>
            <a:lvl1pPr marL="0" indent="0" algn="ctr">
              <a:buFontTx/>
              <a:buNone/>
              <a:defRPr sz="2800"/>
            </a:lvl1pPr>
          </a:lstStyle>
          <a:p>
            <a:pPr lvl="0"/>
            <a:r>
              <a:rPr lang="en-US" noProof="0"/>
              <a:t>Edit Master text styles</a:t>
            </a:r>
          </a:p>
        </p:txBody>
      </p:sp>
      <p:sp>
        <p:nvSpPr>
          <p:cNvPr id="5" name="Date Placeholder 4">
            <a:extLst>
              <a:ext uri="{FF2B5EF4-FFF2-40B4-BE49-F238E27FC236}">
                <a16:creationId xmlns:a16="http://schemas.microsoft.com/office/drawing/2014/main" id="{52142ECB-4FB1-4B01-80F3-04208C781B16}"/>
              </a:ext>
            </a:extLst>
          </p:cNvPr>
          <p:cNvSpPr>
            <a:spLocks noGrp="1"/>
          </p:cNvSpPr>
          <p:nvPr>
            <p:ph type="dt" sz="half" idx="17"/>
          </p:nvPr>
        </p:nvSpPr>
        <p:spPr/>
        <p:txBody>
          <a:bodyPr/>
          <a:lstStyle/>
          <a:p>
            <a:fld id="{FB7F6C47-B260-4BB6-8230-7D14D5CDE026}" type="datetimeFigureOut">
              <a:rPr lang="en-US" noProof="0" smtClean="0"/>
              <a:t>6/25/2025</a:t>
            </a:fld>
            <a:endParaRPr lang="en-US" noProof="0" dirty="0"/>
          </a:p>
        </p:txBody>
      </p:sp>
      <p:sp>
        <p:nvSpPr>
          <p:cNvPr id="7" name="Footer Placeholder 6">
            <a:extLst>
              <a:ext uri="{FF2B5EF4-FFF2-40B4-BE49-F238E27FC236}">
                <a16:creationId xmlns:a16="http://schemas.microsoft.com/office/drawing/2014/main" id="{776F215A-F354-440E-A263-A920F5950831}"/>
              </a:ext>
            </a:extLst>
          </p:cNvPr>
          <p:cNvSpPr>
            <a:spLocks noGrp="1"/>
          </p:cNvSpPr>
          <p:nvPr>
            <p:ph type="ftr" sz="quarter" idx="18"/>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E90FC50C-9C02-4BD6-9CBE-6880E1297783}"/>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noProof="0"/>
              <a:t>Click to edit Master title style</a:t>
            </a:r>
          </a:p>
        </p:txBody>
      </p:sp>
      <p:sp>
        <p:nvSpPr>
          <p:cNvPr id="3" name="Vertical Text Placeholder 2"/>
          <p:cNvSpPr>
            <a:spLocks noGrp="1"/>
          </p:cNvSpPr>
          <p:nvPr>
            <p:ph type="body" orient="vert" idx="1" hasCustomPrompt="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9D7128B4-F868-4384-A8AA-473DA3516902}"/>
              </a:ext>
            </a:extLst>
          </p:cNvPr>
          <p:cNvSpPr>
            <a:spLocks noGrp="1"/>
          </p:cNvSpPr>
          <p:nvPr>
            <p:ph type="dt" sz="half" idx="10"/>
          </p:nvPr>
        </p:nvSpPr>
        <p:spPr/>
        <p:txBody>
          <a:bodyPr/>
          <a:lstStyle/>
          <a:p>
            <a:fld id="{FB7F6C47-B260-4BB6-8230-7D14D5CDE026}" type="datetimeFigureOut">
              <a:rPr lang="en-US" noProof="0" smtClean="0"/>
              <a:t>6/25/2025</a:t>
            </a:fld>
            <a:endParaRPr lang="en-US" noProof="0" dirty="0"/>
          </a:p>
        </p:txBody>
      </p:sp>
      <p:sp>
        <p:nvSpPr>
          <p:cNvPr id="8" name="Footer Placeholder 7">
            <a:extLst>
              <a:ext uri="{FF2B5EF4-FFF2-40B4-BE49-F238E27FC236}">
                <a16:creationId xmlns:a16="http://schemas.microsoft.com/office/drawing/2014/main" id="{84FF940D-9281-4C2A-BA62-E5854A11F99B}"/>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FB1454F-842C-4F51-A7E7-0335B2FB16F1}"/>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noProof="0"/>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US" noProof="0" dirty="0"/>
              <a:t>Add a footer</a:t>
            </a:r>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noProof="0" smtClean="0"/>
              <a:t>6/25/2025</a:t>
            </a:fld>
            <a:endParaRPr lang="en-US" noProof="0"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slide" Target="slide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slide" Target="slide28.xml"/></Relationships>
</file>

<file path=ppt/slides/_rels/slide15.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huggingface.co/collections/skfrost19/rerenkers-681320776cfb45e44b18f5f1" TargetMode="External"/><Relationship Id="rId2" Type="http://schemas.openxmlformats.org/officeDocument/2006/relationships/hyperlink" Target="https://github.com/skfrost19/Cross-Encoder-Lion-vs-AdamW.git" TargetMode="External"/><Relationship Id="rId1" Type="http://schemas.openxmlformats.org/officeDocument/2006/relationships/slideLayout" Target="../slideLayouts/slideLayout6.xml"/><Relationship Id="rId4" Type="http://schemas.openxmlformats.org/officeDocument/2006/relationships/hyperlink" Target="https://arxiv.org/abs/2506.18297"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hyperlink" Target="https://microsoft.github.io/msmarco/" TargetMode="Externa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bwMode="grayWhite">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37BC-7D91-4F83-845D-70080D7DD6FC}"/>
              </a:ext>
            </a:extLst>
          </p:cNvPr>
          <p:cNvSpPr>
            <a:spLocks noGrp="1"/>
          </p:cNvSpPr>
          <p:nvPr>
            <p:ph type="ctrTitle"/>
          </p:nvPr>
        </p:nvSpPr>
        <p:spPr bwMode="black"/>
        <p:txBody>
          <a:bodyPr/>
          <a:lstStyle/>
          <a:p>
            <a:r>
              <a:rPr lang="en-GB" sz="4000" b="1" dirty="0"/>
              <a:t>Comparative Analysis of Lion and AdamW Optimizers for Cross-Encoder Reranking</a:t>
            </a:r>
            <a:br>
              <a:rPr lang="en-GB" sz="4000" b="1" dirty="0"/>
            </a:br>
            <a:r>
              <a:rPr lang="en-GB" sz="4000" dirty="0"/>
              <a:t>with MiniLM, GTE, and ModernBERT</a:t>
            </a:r>
            <a:br>
              <a:rPr lang="en-GB" sz="4000" dirty="0"/>
            </a:br>
            <a:endParaRPr lang="en-US" sz="4000" b="0" dirty="0"/>
          </a:p>
        </p:txBody>
      </p:sp>
      <p:sp>
        <p:nvSpPr>
          <p:cNvPr id="3" name="Subtitle 2">
            <a:extLst>
              <a:ext uri="{FF2B5EF4-FFF2-40B4-BE49-F238E27FC236}">
                <a16:creationId xmlns:a16="http://schemas.microsoft.com/office/drawing/2014/main" id="{59E5DACC-1D74-41AD-B036-C015472B948F}"/>
              </a:ext>
            </a:extLst>
          </p:cNvPr>
          <p:cNvSpPr>
            <a:spLocks noGrp="1"/>
          </p:cNvSpPr>
          <p:nvPr>
            <p:ph type="subTitle" idx="1"/>
          </p:nvPr>
        </p:nvSpPr>
        <p:spPr>
          <a:xfrm>
            <a:off x="810000" y="5124435"/>
            <a:ext cx="10572000" cy="1577153"/>
          </a:xfrm>
        </p:spPr>
        <p:txBody>
          <a:bodyPr>
            <a:normAutofit/>
          </a:bodyPr>
          <a:lstStyle/>
          <a:p>
            <a:r>
              <a:rPr lang="en-IN" sz="1600" b="1" dirty="0">
                <a:latin typeface="Barlow SemiBold" panose="00000700000000000000" pitchFamily="2" charset="0"/>
              </a:rPr>
              <a:t>Presented by: Shahil Kumar (MML2023008)</a:t>
            </a:r>
          </a:p>
          <a:p>
            <a:r>
              <a:rPr lang="en-IN" sz="1600" b="1" dirty="0">
                <a:latin typeface="Barlow SemiBold" panose="00000700000000000000" pitchFamily="2" charset="0"/>
              </a:rPr>
              <a:t>    MTech. IT (MLIS)</a:t>
            </a:r>
          </a:p>
          <a:p>
            <a:r>
              <a:rPr lang="en-IN" sz="1600" b="1" dirty="0">
                <a:latin typeface="Barlow SemiBold" panose="00000700000000000000" pitchFamily="2" charset="0"/>
              </a:rPr>
              <a:t>June 25, 2025</a:t>
            </a:r>
          </a:p>
          <a:p>
            <a:r>
              <a:rPr lang="en-IN" sz="1600" dirty="0">
                <a:latin typeface="Barlow SemiBold" panose="00000700000000000000" pitchFamily="2" charset="0"/>
              </a:rPr>
              <a:t>Supervisor: Dr. Muneendra Ojha</a:t>
            </a:r>
          </a:p>
        </p:txBody>
      </p:sp>
    </p:spTree>
    <p:extLst>
      <p:ext uri="{BB962C8B-B14F-4D97-AF65-F5344CB8AC3E}">
        <p14:creationId xmlns:p14="http://schemas.microsoft.com/office/powerpoint/2010/main" val="1613975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5665-583F-4DD8-814D-FECA92009E9A}"/>
              </a:ext>
            </a:extLst>
          </p:cNvPr>
          <p:cNvSpPr>
            <a:spLocks noGrp="1"/>
          </p:cNvSpPr>
          <p:nvPr>
            <p:ph type="title"/>
          </p:nvPr>
        </p:nvSpPr>
        <p:spPr bwMode="white"/>
        <p:txBody>
          <a:bodyPr/>
          <a:lstStyle/>
          <a:p>
            <a:r>
              <a:rPr lang="en-US" sz="4000" dirty="0">
                <a:latin typeface="Barlow ExtraBold" panose="00000900000000000000" pitchFamily="2" charset="0"/>
              </a:rPr>
              <a:t>Introduction</a:t>
            </a:r>
          </a:p>
        </p:txBody>
      </p:sp>
    </p:spTree>
    <p:extLst>
      <p:ext uri="{BB962C8B-B14F-4D97-AF65-F5344CB8AC3E}">
        <p14:creationId xmlns:p14="http://schemas.microsoft.com/office/powerpoint/2010/main" val="3869094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B58F-1CF7-41B5-BF70-710D7AC7941C}"/>
              </a:ext>
            </a:extLst>
          </p:cNvPr>
          <p:cNvSpPr>
            <a:spLocks noGrp="1"/>
          </p:cNvSpPr>
          <p:nvPr>
            <p:ph type="title"/>
          </p:nvPr>
        </p:nvSpPr>
        <p:spPr/>
        <p:txBody>
          <a:bodyPr/>
          <a:lstStyle/>
          <a:p>
            <a:r>
              <a:rPr lang="en-US" dirty="0">
                <a:latin typeface="Barlow ExtraBold" panose="00000900000000000000" pitchFamily="2" charset="0"/>
              </a:rPr>
              <a:t>Research Overview &amp; Motivation</a:t>
            </a:r>
          </a:p>
        </p:txBody>
      </p:sp>
      <p:sp>
        <p:nvSpPr>
          <p:cNvPr id="3" name="Content Placeholder 2">
            <a:extLst>
              <a:ext uri="{FF2B5EF4-FFF2-40B4-BE49-F238E27FC236}">
                <a16:creationId xmlns:a16="http://schemas.microsoft.com/office/drawing/2014/main" id="{F3FF1311-DD92-45BA-B10F-C1A324C27B55}"/>
              </a:ext>
            </a:extLst>
          </p:cNvPr>
          <p:cNvSpPr>
            <a:spLocks noGrp="1"/>
          </p:cNvSpPr>
          <p:nvPr>
            <p:ph sz="half" idx="4294967295"/>
          </p:nvPr>
        </p:nvSpPr>
        <p:spPr>
          <a:xfrm>
            <a:off x="810000" y="2253374"/>
            <a:ext cx="10571998" cy="2880506"/>
          </a:xfrm>
        </p:spPr>
        <p:txBody>
          <a:bodyPr>
            <a:noAutofit/>
          </a:bodyPr>
          <a:lstStyle/>
          <a:p>
            <a:pPr algn="just"/>
            <a:r>
              <a:rPr lang="en-IN" sz="2000" b="1" dirty="0">
                <a:latin typeface="Barlow" panose="00000500000000000000" pitchFamily="2" charset="0"/>
              </a:rPr>
              <a:t>Information Retrieval Challenge:</a:t>
            </a:r>
            <a:r>
              <a:rPr lang="en-IN" sz="2000" dirty="0">
                <a:latin typeface="Barlow" panose="00000500000000000000" pitchFamily="2" charset="0"/>
              </a:rPr>
              <a:t> Modern IR systems require precise document ranking from vast collections</a:t>
            </a:r>
          </a:p>
          <a:p>
            <a:pPr algn="just"/>
            <a:r>
              <a:rPr lang="en-IN" sz="2000" b="1" dirty="0">
                <a:latin typeface="Barlow" panose="00000500000000000000" pitchFamily="2" charset="0"/>
              </a:rPr>
              <a:t>Cross-Encoder</a:t>
            </a:r>
            <a:r>
              <a:rPr lang="en-IN" sz="20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[2] </a:t>
            </a:r>
            <a:r>
              <a:rPr lang="en-IN" sz="2000" b="1" dirty="0">
                <a:latin typeface="Barlow" panose="00000500000000000000" pitchFamily="2" charset="0"/>
              </a:rPr>
              <a:t>Advantage:</a:t>
            </a:r>
            <a:r>
              <a:rPr lang="en-IN" sz="2000" dirty="0">
                <a:latin typeface="Barlow" panose="00000500000000000000" pitchFamily="2" charset="0"/>
              </a:rPr>
              <a:t> State-of-the-art reranking through deep query-document interactions</a:t>
            </a:r>
          </a:p>
          <a:p>
            <a:pPr algn="just"/>
            <a:r>
              <a:rPr lang="en-IN" sz="2000" b="1" dirty="0">
                <a:latin typeface="Barlow" panose="00000500000000000000" pitchFamily="2" charset="0"/>
              </a:rPr>
              <a:t>Optimization Gap:</a:t>
            </a:r>
            <a:r>
              <a:rPr lang="en-IN" sz="2000" dirty="0">
                <a:latin typeface="Barlow" panose="00000500000000000000" pitchFamily="2" charset="0"/>
              </a:rPr>
              <a:t> Limited research on Lion optimizer</a:t>
            </a:r>
            <a:r>
              <a:rPr lang="en-IN" sz="20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[4] </a:t>
            </a:r>
            <a:r>
              <a:rPr lang="en-IN" sz="2000" dirty="0">
                <a:latin typeface="Barlow" panose="00000500000000000000" pitchFamily="2" charset="0"/>
              </a:rPr>
              <a:t>for IR tasks despite success in other domains</a:t>
            </a:r>
          </a:p>
          <a:p>
            <a:pPr algn="just"/>
            <a:r>
              <a:rPr lang="en-IN" sz="2000" b="1" dirty="0">
                <a:latin typeface="Barlow" panose="00000500000000000000" pitchFamily="2" charset="0"/>
              </a:rPr>
              <a:t>Practical Impact:</a:t>
            </a:r>
            <a:r>
              <a:rPr lang="en-IN" sz="2000" dirty="0">
                <a:latin typeface="Barlow" panose="00000500000000000000" pitchFamily="2" charset="0"/>
              </a:rPr>
              <a:t> Optimizer choice significantly affects training cost and model performance</a:t>
            </a:r>
          </a:p>
        </p:txBody>
      </p:sp>
      <p:sp>
        <p:nvSpPr>
          <p:cNvPr id="8" name="TextBox 7">
            <a:extLst>
              <a:ext uri="{FF2B5EF4-FFF2-40B4-BE49-F238E27FC236}">
                <a16:creationId xmlns:a16="http://schemas.microsoft.com/office/drawing/2014/main" id="{11BC2E4F-B1D9-76B6-A5D7-599B3316BF4E}"/>
              </a:ext>
            </a:extLst>
          </p:cNvPr>
          <p:cNvSpPr txBox="1"/>
          <p:nvPr/>
        </p:nvSpPr>
        <p:spPr>
          <a:xfrm>
            <a:off x="1476462" y="5133880"/>
            <a:ext cx="10301679" cy="1815882"/>
          </a:xfrm>
          <a:prstGeom prst="rect">
            <a:avLst/>
          </a:prstGeom>
          <a:noFill/>
        </p:spPr>
        <p:txBody>
          <a:bodyPr wrap="square" rtlCol="0">
            <a:spAutoFit/>
          </a:bodyPr>
          <a:lstStyle/>
          <a:p>
            <a:r>
              <a:rPr lang="en-GB" b="1" i="1" dirty="0"/>
              <a:t>						</a:t>
            </a:r>
            <a:r>
              <a:rPr lang="en-GB" sz="2800" b="1" i="1" dirty="0">
                <a:solidFill>
                  <a:srgbClr val="FF0000"/>
                </a:solidFill>
                <a:latin typeface="Barlow ExtraBold" panose="00000900000000000000" pitchFamily="2" charset="0"/>
              </a:rPr>
              <a:t>Research Problem:</a:t>
            </a:r>
            <a:br>
              <a:rPr lang="en-GB" i="1" dirty="0"/>
            </a:br>
            <a:r>
              <a:rPr lang="en-GB" sz="2400" i="1" dirty="0">
                <a:solidFill>
                  <a:srgbClr val="002060"/>
                </a:solidFill>
                <a:latin typeface="Barlow Medium" panose="00000600000000000000" pitchFamily="2" charset="0"/>
              </a:rPr>
              <a:t>How do Lion</a:t>
            </a:r>
            <a:r>
              <a:rPr lang="en-GB" b="1" i="1" baseline="30000" dirty="0">
                <a:solidFill>
                  <a:srgbClr val="FF0000"/>
                </a:solidFill>
                <a:latin typeface="Barlow Medium" panose="00000600000000000000" pitchFamily="2" charset="0"/>
                <a:hlinkClick r:id="rId3" action="ppaction://hlinksldjump">
                  <a:extLst>
                    <a:ext uri="{A12FA001-AC4F-418D-AE19-62706E023703}">
                      <ahyp:hlinkClr xmlns:ahyp="http://schemas.microsoft.com/office/drawing/2018/hyperlinkcolor" val="tx"/>
                    </a:ext>
                  </a:extLst>
                </a:hlinkClick>
              </a:rPr>
              <a:t>[4]</a:t>
            </a:r>
            <a:r>
              <a:rPr lang="en-GB" b="1" i="1" dirty="0">
                <a:solidFill>
                  <a:srgbClr val="FF0000"/>
                </a:solidFill>
                <a:latin typeface="Barlow Medium" panose="00000600000000000000" pitchFamily="2" charset="0"/>
                <a:hlinkClick r:id="rId3" action="ppaction://hlinksldjump">
                  <a:extLst>
                    <a:ext uri="{A12FA001-AC4F-418D-AE19-62706E023703}">
                      <ahyp:hlinkClr xmlns:ahyp="http://schemas.microsoft.com/office/drawing/2018/hyperlinkcolor" val="tx"/>
                    </a:ext>
                  </a:extLst>
                </a:hlinkClick>
              </a:rPr>
              <a:t> </a:t>
            </a:r>
            <a:r>
              <a:rPr lang="en-GB" sz="2400" i="1" dirty="0">
                <a:solidFill>
                  <a:srgbClr val="002060"/>
                </a:solidFill>
                <a:latin typeface="Barlow Medium" panose="00000600000000000000" pitchFamily="2" charset="0"/>
              </a:rPr>
              <a:t>and AdamW</a:t>
            </a:r>
            <a:r>
              <a:rPr lang="en-GB" b="1" i="1" baseline="30000" dirty="0">
                <a:solidFill>
                  <a:srgbClr val="FF0000"/>
                </a:solidFill>
                <a:latin typeface="Barlow Medium" panose="00000600000000000000" pitchFamily="2" charset="0"/>
                <a:hlinkClick r:id="rId3" action="ppaction://hlinksldjump">
                  <a:extLst>
                    <a:ext uri="{A12FA001-AC4F-418D-AE19-62706E023703}">
                      <ahyp:hlinkClr xmlns:ahyp="http://schemas.microsoft.com/office/drawing/2018/hyperlinkcolor" val="tx"/>
                    </a:ext>
                  </a:extLst>
                </a:hlinkClick>
              </a:rPr>
              <a:t>[3]</a:t>
            </a:r>
            <a:r>
              <a:rPr lang="en-GB" b="1" i="1" dirty="0">
                <a:solidFill>
                  <a:srgbClr val="FF0000"/>
                </a:solidFill>
                <a:latin typeface="Barlow Medium" panose="00000600000000000000" pitchFamily="2" charset="0"/>
                <a:hlinkClick r:id="rId3" action="ppaction://hlinksldjump">
                  <a:extLst>
                    <a:ext uri="{A12FA001-AC4F-418D-AE19-62706E023703}">
                      <ahyp:hlinkClr xmlns:ahyp="http://schemas.microsoft.com/office/drawing/2018/hyperlinkcolor" val="tx"/>
                    </a:ext>
                  </a:extLst>
                </a:hlinkClick>
              </a:rPr>
              <a:t> </a:t>
            </a:r>
            <a:r>
              <a:rPr lang="en-GB" sz="2400" i="1" dirty="0">
                <a:solidFill>
                  <a:srgbClr val="002060"/>
                </a:solidFill>
                <a:latin typeface="Barlow Medium" panose="00000600000000000000" pitchFamily="2" charset="0"/>
              </a:rPr>
              <a:t>optimizers compare across different cross-encoder architectures for information retrieval tasks?</a:t>
            </a:r>
          </a:p>
          <a:p>
            <a:br>
              <a:rPr lang="en-GB" dirty="0"/>
            </a:br>
            <a:endParaRPr lang="en-IN" dirty="0">
              <a:latin typeface="Barlow Medium" panose="00000600000000000000" pitchFamily="2" charset="0"/>
            </a:endParaRPr>
          </a:p>
        </p:txBody>
      </p:sp>
    </p:spTree>
    <p:extLst>
      <p:ext uri="{BB962C8B-B14F-4D97-AF65-F5344CB8AC3E}">
        <p14:creationId xmlns:p14="http://schemas.microsoft.com/office/powerpoint/2010/main" val="213104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6498D-2480-4101-BEA1-C21902705539}"/>
              </a:ext>
            </a:extLst>
          </p:cNvPr>
          <p:cNvSpPr>
            <a:spLocks noGrp="1"/>
          </p:cNvSpPr>
          <p:nvPr>
            <p:ph type="title"/>
          </p:nvPr>
        </p:nvSpPr>
        <p:spPr>
          <a:xfrm>
            <a:off x="451514" y="375313"/>
            <a:ext cx="5475757" cy="1139895"/>
          </a:xfrm>
        </p:spPr>
        <p:txBody>
          <a:bodyPr/>
          <a:lstStyle/>
          <a:p>
            <a:r>
              <a:rPr lang="en-IN" b="1" dirty="0">
                <a:latin typeface="Barlow ExtraBold" panose="00000900000000000000" pitchFamily="2" charset="0"/>
              </a:rPr>
              <a:t>Research Objectives</a:t>
            </a:r>
          </a:p>
        </p:txBody>
      </p:sp>
      <p:sp>
        <p:nvSpPr>
          <p:cNvPr id="10" name="TextBox 9">
            <a:extLst>
              <a:ext uri="{FF2B5EF4-FFF2-40B4-BE49-F238E27FC236}">
                <a16:creationId xmlns:a16="http://schemas.microsoft.com/office/drawing/2014/main" id="{E885D1F4-01D9-A4DE-CC4A-1AD89E2A5D66}"/>
              </a:ext>
            </a:extLst>
          </p:cNvPr>
          <p:cNvSpPr txBox="1"/>
          <p:nvPr/>
        </p:nvSpPr>
        <p:spPr>
          <a:xfrm>
            <a:off x="451514" y="1926285"/>
            <a:ext cx="10858170" cy="2798202"/>
          </a:xfrm>
          <a:prstGeom prst="rect">
            <a:avLst/>
          </a:prstGeom>
          <a:noFill/>
        </p:spPr>
        <p:txBody>
          <a:bodyPr wrap="square" rtlCol="0">
            <a:spAutoFit/>
          </a:bodyPr>
          <a:lstStyle/>
          <a:p>
            <a:pPr marL="342900" indent="-342900" algn="just">
              <a:lnSpc>
                <a:spcPct val="150000"/>
              </a:lnSpc>
              <a:buFont typeface="+mj-lt"/>
              <a:buAutoNum type="arabicPeriod"/>
            </a:pPr>
            <a:r>
              <a:rPr lang="en-IN" sz="2000" b="1" dirty="0">
                <a:latin typeface="Barlow" panose="00000500000000000000" pitchFamily="2" charset="0"/>
              </a:rPr>
              <a:t>Systematic Evaluation:</a:t>
            </a:r>
            <a:r>
              <a:rPr lang="en-IN" sz="2000" dirty="0">
                <a:latin typeface="Barlow" panose="00000500000000000000" pitchFamily="2" charset="0"/>
              </a:rPr>
              <a:t> Compare Lion</a:t>
            </a:r>
            <a:r>
              <a:rPr lang="en-IN" sz="20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[4]</a:t>
            </a:r>
            <a:r>
              <a:rPr lang="en-IN" sz="2000" dirty="0">
                <a:solidFill>
                  <a:srgbClr val="FF0000"/>
                </a:solidFill>
                <a:latin typeface="Barlow" panose="00000500000000000000" pitchFamily="2" charset="0"/>
                <a:hlinkClick r:id="rId3" action="ppaction://hlinksldjump"/>
              </a:rPr>
              <a:t> </a:t>
            </a:r>
            <a:r>
              <a:rPr lang="en-IN" sz="2000" dirty="0">
                <a:latin typeface="Barlow" panose="00000500000000000000" pitchFamily="2" charset="0"/>
              </a:rPr>
              <a:t>and AdamW</a:t>
            </a:r>
            <a:r>
              <a:rPr lang="en-IN" sz="20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[3]</a:t>
            </a:r>
            <a:r>
              <a:rPr lang="en-IN" sz="2000" dirty="0">
                <a:solidFill>
                  <a:srgbClr val="FFC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 </a:t>
            </a:r>
            <a:r>
              <a:rPr lang="en-IN" sz="2000" dirty="0">
                <a:latin typeface="Barlow" panose="00000500000000000000" pitchFamily="2" charset="0"/>
              </a:rPr>
              <a:t>across three transformer architectures.</a:t>
            </a:r>
          </a:p>
          <a:p>
            <a:pPr marL="342900" indent="-342900" algn="just">
              <a:lnSpc>
                <a:spcPct val="150000"/>
              </a:lnSpc>
              <a:buFont typeface="+mj-lt"/>
              <a:buAutoNum type="arabicPeriod"/>
            </a:pPr>
            <a:r>
              <a:rPr lang="en-IN" sz="2000" b="1" dirty="0">
                <a:latin typeface="Barlow" panose="00000500000000000000" pitchFamily="2" charset="0"/>
              </a:rPr>
              <a:t>Comprehensive Benchmarking:</a:t>
            </a:r>
            <a:r>
              <a:rPr lang="en-IN" sz="2000" dirty="0">
                <a:latin typeface="Barlow" panose="00000500000000000000" pitchFamily="2" charset="0"/>
              </a:rPr>
              <a:t> Evaluate performance using standard IR metrics on TREC DL 2019</a:t>
            </a:r>
            <a:r>
              <a:rPr lang="en-IN" sz="20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[8] </a:t>
            </a:r>
            <a:r>
              <a:rPr lang="en-IN" sz="2000" dirty="0">
                <a:latin typeface="Barlow" panose="00000500000000000000" pitchFamily="2" charset="0"/>
              </a:rPr>
              <a:t>and MS MARCO</a:t>
            </a:r>
            <a:r>
              <a:rPr lang="en-IN" sz="2000" b="1" baseline="30000" dirty="0">
                <a:solidFill>
                  <a:srgbClr val="FF0000"/>
                </a:solidFill>
                <a:latin typeface="Barlow" panose="00000500000000000000" pitchFamily="2" charset="0"/>
                <a:hlinkClick r:id="rId4" action="ppaction://hlinksldjump">
                  <a:extLst>
                    <a:ext uri="{A12FA001-AC4F-418D-AE19-62706E023703}">
                      <ahyp:hlinkClr xmlns:ahyp="http://schemas.microsoft.com/office/drawing/2018/hyperlinkcolor" val="tx"/>
                    </a:ext>
                  </a:extLst>
                </a:hlinkClick>
              </a:rPr>
              <a:t>[9]</a:t>
            </a:r>
            <a:r>
              <a:rPr lang="en-IN" sz="2000" dirty="0">
                <a:solidFill>
                  <a:srgbClr val="FFC000"/>
                </a:solidFill>
                <a:latin typeface="Barlow" panose="00000500000000000000" pitchFamily="2" charset="0"/>
                <a:hlinkClick r:id="rId4" action="ppaction://hlinksldjump">
                  <a:extLst>
                    <a:ext uri="{A12FA001-AC4F-418D-AE19-62706E023703}">
                      <ahyp:hlinkClr xmlns:ahyp="http://schemas.microsoft.com/office/drawing/2018/hyperlinkcolor" val="tx"/>
                    </a:ext>
                  </a:extLst>
                </a:hlinkClick>
              </a:rPr>
              <a:t>.</a:t>
            </a:r>
            <a:endParaRPr lang="en-IN" sz="2000" dirty="0">
              <a:latin typeface="Barlow" panose="00000500000000000000" pitchFamily="2" charset="0"/>
            </a:endParaRPr>
          </a:p>
          <a:p>
            <a:pPr marL="342900" indent="-342900" algn="just">
              <a:lnSpc>
                <a:spcPct val="150000"/>
              </a:lnSpc>
              <a:buFont typeface="+mj-lt"/>
              <a:buAutoNum type="arabicPeriod"/>
            </a:pPr>
            <a:r>
              <a:rPr lang="en-IN" sz="2000" b="1" dirty="0">
                <a:latin typeface="Barlow" panose="00000500000000000000" pitchFamily="2" charset="0"/>
              </a:rPr>
              <a:t>Training Dynamics Analysis:</a:t>
            </a:r>
            <a:r>
              <a:rPr lang="en-IN" sz="2000" dirty="0">
                <a:latin typeface="Barlow" panose="00000500000000000000" pitchFamily="2" charset="0"/>
              </a:rPr>
              <a:t> Investigate convergence patterns and stability.</a:t>
            </a:r>
          </a:p>
          <a:p>
            <a:pPr marL="342900" indent="-342900" algn="just">
              <a:lnSpc>
                <a:spcPct val="150000"/>
              </a:lnSpc>
              <a:buFont typeface="+mj-lt"/>
              <a:buAutoNum type="arabicPeriod"/>
            </a:pPr>
            <a:r>
              <a:rPr lang="en-IN" sz="2000" b="1" dirty="0">
                <a:latin typeface="Barlow" panose="00000500000000000000" pitchFamily="2" charset="0"/>
              </a:rPr>
              <a:t>Practical Guidelines:</a:t>
            </a:r>
            <a:r>
              <a:rPr lang="en-IN" sz="2000" dirty="0">
                <a:latin typeface="Barlow" panose="00000500000000000000" pitchFamily="2" charset="0"/>
              </a:rPr>
              <a:t> Provide evidence-based recommendations for optimizer selection.</a:t>
            </a:r>
          </a:p>
        </p:txBody>
      </p:sp>
      <p:sp>
        <p:nvSpPr>
          <p:cNvPr id="11" name="Rectangle: Rounded Corners 10">
            <a:extLst>
              <a:ext uri="{FF2B5EF4-FFF2-40B4-BE49-F238E27FC236}">
                <a16:creationId xmlns:a16="http://schemas.microsoft.com/office/drawing/2014/main" id="{1344718C-8109-F828-DF3B-72FFF8CA8DFD}"/>
              </a:ext>
            </a:extLst>
          </p:cNvPr>
          <p:cNvSpPr/>
          <p:nvPr/>
        </p:nvSpPr>
        <p:spPr>
          <a:xfrm>
            <a:off x="1465976" y="5321744"/>
            <a:ext cx="9260048" cy="1409726"/>
          </a:xfrm>
          <a:prstGeom prst="round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GB" sz="2200" dirty="0">
                <a:solidFill>
                  <a:srgbClr val="002060"/>
                </a:solidFill>
                <a:latin typeface="Barlow SemiBold" panose="00000700000000000000" pitchFamily="2" charset="0"/>
              </a:rPr>
              <a:t>• Empirical evidence comparing optimizers across multiple architectures</a:t>
            </a:r>
          </a:p>
          <a:p>
            <a:r>
              <a:rPr lang="en-GB" sz="2200" dirty="0">
                <a:solidFill>
                  <a:srgbClr val="002060"/>
                </a:solidFill>
                <a:latin typeface="Barlow SemiBold" panose="00000700000000000000" pitchFamily="2" charset="0"/>
              </a:rPr>
              <a:t>• Optimization guidelines for cross-encoder training in IR</a:t>
            </a:r>
          </a:p>
          <a:p>
            <a:r>
              <a:rPr lang="en-GB" sz="2200" dirty="0">
                <a:solidFill>
                  <a:srgbClr val="002060"/>
                </a:solidFill>
                <a:latin typeface="Barlow SemiBold" panose="00000700000000000000" pitchFamily="2" charset="0"/>
              </a:rPr>
              <a:t>• Analysis of training efficiency and resource utilization</a:t>
            </a:r>
          </a:p>
        </p:txBody>
      </p:sp>
      <p:sp>
        <p:nvSpPr>
          <p:cNvPr id="12" name="Rectangle 11">
            <a:extLst>
              <a:ext uri="{FF2B5EF4-FFF2-40B4-BE49-F238E27FC236}">
                <a16:creationId xmlns:a16="http://schemas.microsoft.com/office/drawing/2014/main" id="{21DB9AA8-D4C0-F67C-D4E7-D478C6CF9DCB}"/>
              </a:ext>
            </a:extLst>
          </p:cNvPr>
          <p:cNvSpPr/>
          <p:nvPr/>
        </p:nvSpPr>
        <p:spPr>
          <a:xfrm>
            <a:off x="3622650" y="4798524"/>
            <a:ext cx="4224234" cy="523220"/>
          </a:xfrm>
          <a:prstGeom prst="rect">
            <a:avLst/>
          </a:prstGeom>
          <a:noFill/>
        </p:spPr>
        <p:txBody>
          <a:bodyPr wrap="none" lIns="91440" tIns="45720" rIns="91440" bIns="45720">
            <a:spAutoFit/>
          </a:bodyPr>
          <a:lstStyle/>
          <a:p>
            <a:pPr algn="ctr"/>
            <a:r>
              <a:rPr lang="en-US" sz="2800" b="1" cap="none" spc="0" dirty="0">
                <a:ln w="22225">
                  <a:solidFill>
                    <a:schemeClr val="accent2"/>
                  </a:solidFill>
                  <a:prstDash val="solid"/>
                </a:ln>
                <a:solidFill>
                  <a:schemeClr val="accent2">
                    <a:lumMod val="40000"/>
                    <a:lumOff val="60000"/>
                  </a:schemeClr>
                </a:solidFill>
                <a:effectLst/>
              </a:rPr>
              <a:t>Expected Contributions</a:t>
            </a:r>
          </a:p>
        </p:txBody>
      </p:sp>
    </p:spTree>
    <p:extLst>
      <p:ext uri="{BB962C8B-B14F-4D97-AF65-F5344CB8AC3E}">
        <p14:creationId xmlns:p14="http://schemas.microsoft.com/office/powerpoint/2010/main" val="3895583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75E2E-F60B-32B5-AF92-F738B3BA9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1AB93-7D85-21E7-E4F6-569C31D12F1C}"/>
              </a:ext>
            </a:extLst>
          </p:cNvPr>
          <p:cNvSpPr>
            <a:spLocks noGrp="1"/>
          </p:cNvSpPr>
          <p:nvPr>
            <p:ph type="title"/>
          </p:nvPr>
        </p:nvSpPr>
        <p:spPr bwMode="white"/>
        <p:txBody>
          <a:bodyPr/>
          <a:lstStyle/>
          <a:p>
            <a:r>
              <a:rPr lang="en-US" sz="4000" dirty="0">
                <a:latin typeface="Barlow ExtraBold" panose="00000900000000000000" pitchFamily="2" charset="0"/>
              </a:rPr>
              <a:t>Literature Review</a:t>
            </a:r>
          </a:p>
        </p:txBody>
      </p:sp>
    </p:spTree>
    <p:extLst>
      <p:ext uri="{BB962C8B-B14F-4D97-AF65-F5344CB8AC3E}">
        <p14:creationId xmlns:p14="http://schemas.microsoft.com/office/powerpoint/2010/main" val="539214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F6150-9F5A-3B7A-3754-3BC216D35D22}"/>
              </a:ext>
            </a:extLst>
          </p:cNvPr>
          <p:cNvSpPr>
            <a:spLocks noGrp="1"/>
          </p:cNvSpPr>
          <p:nvPr>
            <p:ph type="title"/>
          </p:nvPr>
        </p:nvSpPr>
        <p:spPr>
          <a:xfrm>
            <a:off x="581400" y="669305"/>
            <a:ext cx="8346032" cy="970450"/>
          </a:xfrm>
        </p:spPr>
        <p:txBody>
          <a:bodyPr/>
          <a:lstStyle/>
          <a:p>
            <a:r>
              <a:rPr lang="en-IN" sz="2800" b="1" dirty="0">
                <a:latin typeface="Barlow SemiBold" panose="00000700000000000000" pitchFamily="2" charset="0"/>
              </a:rPr>
              <a:t>BERT &amp; Cross-Encoder Architecture</a:t>
            </a:r>
          </a:p>
        </p:txBody>
      </p:sp>
      <p:sp>
        <p:nvSpPr>
          <p:cNvPr id="6" name="TextBox 5">
            <a:extLst>
              <a:ext uri="{FF2B5EF4-FFF2-40B4-BE49-F238E27FC236}">
                <a16:creationId xmlns:a16="http://schemas.microsoft.com/office/drawing/2014/main" id="{5E2C2994-1480-B328-EDC1-8BC68CF79D32}"/>
              </a:ext>
            </a:extLst>
          </p:cNvPr>
          <p:cNvSpPr txBox="1"/>
          <p:nvPr/>
        </p:nvSpPr>
        <p:spPr>
          <a:xfrm>
            <a:off x="421105" y="2495376"/>
            <a:ext cx="8346032" cy="4062651"/>
          </a:xfrm>
          <a:prstGeom prst="rect">
            <a:avLst/>
          </a:prstGeom>
          <a:noFill/>
        </p:spPr>
        <p:txBody>
          <a:bodyPr wrap="square" rtlCol="0">
            <a:spAutoFit/>
          </a:bodyPr>
          <a:lstStyle/>
          <a:p>
            <a:r>
              <a:rPr lang="en-IN" sz="2000" dirty="0">
                <a:latin typeface="Barlow" panose="00000500000000000000" pitchFamily="2" charset="0"/>
              </a:rPr>
              <a:t>BERT-based Cross-Encoders</a:t>
            </a:r>
            <a:r>
              <a:rPr lang="en-IN" sz="20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[2] </a:t>
            </a:r>
            <a:r>
              <a:rPr lang="en-IN" sz="2000" dirty="0">
                <a:latin typeface="Barlow" panose="00000500000000000000" pitchFamily="2" charset="0"/>
              </a:rPr>
              <a:t>for Information Retrieval</a:t>
            </a:r>
          </a:p>
          <a:p>
            <a:endParaRPr lang="en-IN" sz="2000" dirty="0">
              <a:latin typeface="Barlow" panose="00000500000000000000" pitchFamily="2" charset="0"/>
            </a:endParaRPr>
          </a:p>
          <a:p>
            <a:r>
              <a:rPr lang="en-IN" sz="2000" dirty="0">
                <a:latin typeface="Barlow" panose="00000500000000000000" pitchFamily="2" charset="0"/>
              </a:rPr>
              <a:t>Key Innovation:</a:t>
            </a:r>
          </a:p>
          <a:p>
            <a:r>
              <a:rPr lang="en-IN" sz="2000" dirty="0">
                <a:latin typeface="Barlow" panose="00000500000000000000" pitchFamily="2" charset="0"/>
              </a:rPr>
              <a:t>• Joint encoding: [CLS] Query [SEP] Document [SEP]</a:t>
            </a:r>
          </a:p>
          <a:p>
            <a:r>
              <a:rPr lang="en-IN" sz="2000" dirty="0">
                <a:latin typeface="Barlow" panose="00000500000000000000" pitchFamily="2" charset="0"/>
              </a:rPr>
              <a:t>• Fine-tuning for relevance prediction</a:t>
            </a:r>
          </a:p>
          <a:p>
            <a:r>
              <a:rPr lang="en-IN" sz="2000" dirty="0">
                <a:latin typeface="Barlow" panose="00000500000000000000" pitchFamily="2" charset="0"/>
              </a:rPr>
              <a:t>• Superior to bi-encoders for reranking</a:t>
            </a:r>
          </a:p>
          <a:p>
            <a:endParaRPr lang="en-IN" sz="2000" dirty="0">
              <a:latin typeface="Barlow" panose="00000500000000000000" pitchFamily="2" charset="0"/>
            </a:endParaRPr>
          </a:p>
          <a:p>
            <a:r>
              <a:rPr lang="en-IN" sz="2000" dirty="0">
                <a:latin typeface="Barlow" panose="00000500000000000000" pitchFamily="2" charset="0"/>
              </a:rPr>
              <a:t>Modern Variants:</a:t>
            </a:r>
          </a:p>
          <a:p>
            <a:r>
              <a:rPr lang="en-IN" sz="2000" dirty="0">
                <a:latin typeface="Barlow" panose="00000500000000000000" pitchFamily="2" charset="0"/>
              </a:rPr>
              <a:t>• MiniLM</a:t>
            </a:r>
            <a:r>
              <a:rPr lang="en-IN" sz="20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[5]</a:t>
            </a:r>
            <a:r>
              <a:rPr lang="en-IN" sz="2000" dirty="0">
                <a:latin typeface="Barlow" panose="00000500000000000000" pitchFamily="2" charset="0"/>
              </a:rPr>
              <a:t>: Distilled BERT for efficiency</a:t>
            </a:r>
          </a:p>
          <a:p>
            <a:r>
              <a:rPr lang="en-IN" sz="2000" dirty="0">
                <a:latin typeface="Barlow" panose="00000500000000000000" pitchFamily="2" charset="0"/>
              </a:rPr>
              <a:t>• GTE</a:t>
            </a:r>
            <a:r>
              <a:rPr lang="en-IN" sz="20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[7]</a:t>
            </a:r>
            <a:r>
              <a:rPr lang="en-IN" sz="2000" dirty="0">
                <a:latin typeface="Barlow" panose="00000500000000000000" pitchFamily="2" charset="0"/>
              </a:rPr>
              <a:t>: Multilingual, extended context (8192 tokens)  </a:t>
            </a:r>
          </a:p>
          <a:p>
            <a:r>
              <a:rPr lang="en-IN" sz="2000" dirty="0">
                <a:latin typeface="Barlow" panose="00000500000000000000" pitchFamily="2" charset="0"/>
              </a:rPr>
              <a:t>• ModernBERT</a:t>
            </a:r>
            <a:r>
              <a:rPr lang="en-IN" sz="20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[6]</a:t>
            </a:r>
            <a:r>
              <a:rPr lang="en-IN" sz="2000" dirty="0">
                <a:latin typeface="Barlow" panose="00000500000000000000" pitchFamily="2" charset="0"/>
              </a:rPr>
              <a:t>: Advanced features (RoPE</a:t>
            </a:r>
            <a:r>
              <a:rPr lang="en-IN" sz="20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[12]</a:t>
            </a:r>
            <a:r>
              <a:rPr lang="en-IN" sz="2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 </a:t>
            </a:r>
            <a:r>
              <a:rPr lang="en-IN" sz="2000" dirty="0">
                <a:latin typeface="Barlow" panose="00000500000000000000" pitchFamily="2" charset="0"/>
              </a:rPr>
              <a:t>Flash Attention</a:t>
            </a:r>
            <a:r>
              <a:rPr lang="en-IN" sz="20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[13]</a:t>
            </a:r>
            <a:r>
              <a:rPr lang="en-IN" sz="2000" dirty="0">
                <a:latin typeface="Barlow" panose="00000500000000000000" pitchFamily="2" charset="0"/>
              </a:rPr>
              <a:t>)</a:t>
            </a:r>
          </a:p>
          <a:p>
            <a:endParaRPr lang="en-IN" sz="2000" dirty="0">
              <a:latin typeface="Barlow" panose="00000500000000000000" pitchFamily="2" charset="0"/>
            </a:endParaRPr>
          </a:p>
          <a:p>
            <a:r>
              <a:rPr lang="en-IN" sz="2000" dirty="0">
                <a:latin typeface="Barlow" panose="00000500000000000000" pitchFamily="2" charset="0"/>
              </a:rPr>
              <a:t>Standard approach for document reranking tasks</a:t>
            </a:r>
          </a:p>
        </p:txBody>
      </p:sp>
    </p:spTree>
    <p:extLst>
      <p:ext uri="{BB962C8B-B14F-4D97-AF65-F5344CB8AC3E}">
        <p14:creationId xmlns:p14="http://schemas.microsoft.com/office/powerpoint/2010/main" val="3955863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3FF28-EDA9-498B-BF3A-243D718DD7DF}"/>
              </a:ext>
            </a:extLst>
          </p:cNvPr>
          <p:cNvSpPr>
            <a:spLocks noGrp="1"/>
          </p:cNvSpPr>
          <p:nvPr>
            <p:ph type="title"/>
          </p:nvPr>
        </p:nvSpPr>
        <p:spPr/>
        <p:txBody>
          <a:bodyPr/>
          <a:lstStyle/>
          <a:p>
            <a:r>
              <a:rPr lang="en-US" dirty="0">
                <a:latin typeface="Barlow ExtraBold" panose="00000900000000000000" pitchFamily="2" charset="0"/>
              </a:rPr>
              <a:t>Cross-Encoder Architecture</a:t>
            </a:r>
          </a:p>
        </p:txBody>
      </p:sp>
      <p:pic>
        <p:nvPicPr>
          <p:cNvPr id="9" name="Content Placeholder 8">
            <a:extLst>
              <a:ext uri="{FF2B5EF4-FFF2-40B4-BE49-F238E27FC236}">
                <a16:creationId xmlns:a16="http://schemas.microsoft.com/office/drawing/2014/main" id="{C14DE4E6-3F91-B4A2-39C6-6E81E7AB0987}"/>
              </a:ext>
            </a:extLst>
          </p:cNvPr>
          <p:cNvPicPr>
            <a:picLocks noGrp="1" noChangeAspect="1"/>
          </p:cNvPicPr>
          <p:nvPr>
            <p:ph sz="half" idx="1"/>
          </p:nvPr>
        </p:nvPicPr>
        <p:blipFill>
          <a:blip r:embed="rId3"/>
          <a:srcRect/>
          <a:stretch/>
        </p:blipFill>
        <p:spPr>
          <a:xfrm>
            <a:off x="190791" y="158262"/>
            <a:ext cx="8416314" cy="6413632"/>
          </a:xfrm>
        </p:spPr>
      </p:pic>
      <p:sp>
        <p:nvSpPr>
          <p:cNvPr id="10" name="TextBox 9">
            <a:extLst>
              <a:ext uri="{FF2B5EF4-FFF2-40B4-BE49-F238E27FC236}">
                <a16:creationId xmlns:a16="http://schemas.microsoft.com/office/drawing/2014/main" id="{D2135ECC-4F4B-052B-4F24-634FD98549F1}"/>
              </a:ext>
            </a:extLst>
          </p:cNvPr>
          <p:cNvSpPr txBox="1"/>
          <p:nvPr/>
        </p:nvSpPr>
        <p:spPr>
          <a:xfrm>
            <a:off x="8288323" y="3722914"/>
            <a:ext cx="3712886" cy="1815882"/>
          </a:xfrm>
          <a:prstGeom prst="rect">
            <a:avLst/>
          </a:prstGeom>
          <a:noFill/>
        </p:spPr>
        <p:txBody>
          <a:bodyPr wrap="square" rtlCol="0">
            <a:spAutoFit/>
          </a:bodyPr>
          <a:lstStyle/>
          <a:p>
            <a:pPr lvl="1"/>
            <a:r>
              <a:rPr lang="en-GB" sz="2000" dirty="0">
                <a:latin typeface="Barlow ExtraBold" panose="00000900000000000000" pitchFamily="2" charset="0"/>
              </a:rPr>
              <a:t>Key Advantages</a:t>
            </a:r>
          </a:p>
          <a:p>
            <a:pPr lvl="1"/>
            <a:endParaRPr lang="en-GB" sz="2000" dirty="0">
              <a:latin typeface="Barlow ExtraBold" panose="00000900000000000000" pitchFamily="2" charset="0"/>
            </a:endParaRPr>
          </a:p>
          <a:p>
            <a:pPr marL="285750" indent="-285750">
              <a:buFont typeface="Wingdings" panose="05000000000000000000" pitchFamily="2" charset="2"/>
              <a:buChar char="q"/>
            </a:pPr>
            <a:r>
              <a:rPr lang="en-GB" sz="2400" dirty="0"/>
              <a:t>Deep Interaction</a:t>
            </a:r>
          </a:p>
          <a:p>
            <a:pPr marL="285750" indent="-285750">
              <a:buFont typeface="Wingdings" panose="05000000000000000000" pitchFamily="2" charset="2"/>
              <a:buChar char="q"/>
            </a:pPr>
            <a:r>
              <a:rPr lang="en-GB" sz="2400" dirty="0"/>
              <a:t>Token-level Attention</a:t>
            </a:r>
          </a:p>
          <a:p>
            <a:pPr marL="285750" indent="-285750">
              <a:buFont typeface="Wingdings" panose="05000000000000000000" pitchFamily="2" charset="2"/>
              <a:buChar char="q"/>
            </a:pPr>
            <a:r>
              <a:rPr lang="en-GB" sz="2400" dirty="0"/>
              <a:t>Superior Accuracy</a:t>
            </a:r>
            <a:endParaRPr lang="en-IN" sz="2400" dirty="0"/>
          </a:p>
        </p:txBody>
      </p:sp>
    </p:spTree>
    <p:extLst>
      <p:ext uri="{BB962C8B-B14F-4D97-AF65-F5344CB8AC3E}">
        <p14:creationId xmlns:p14="http://schemas.microsoft.com/office/powerpoint/2010/main" val="3378919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188A9-80E7-C64F-4520-F390B94E0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BC585-46D6-933D-9059-A35623571C3C}"/>
              </a:ext>
            </a:extLst>
          </p:cNvPr>
          <p:cNvSpPr>
            <a:spLocks noGrp="1"/>
          </p:cNvSpPr>
          <p:nvPr>
            <p:ph type="title"/>
          </p:nvPr>
        </p:nvSpPr>
        <p:spPr>
          <a:xfrm>
            <a:off x="810001" y="627662"/>
            <a:ext cx="10571998" cy="970450"/>
          </a:xfrm>
        </p:spPr>
        <p:txBody>
          <a:bodyPr/>
          <a:lstStyle/>
          <a:p>
            <a:r>
              <a:rPr lang="en-IN" sz="2800" dirty="0">
                <a:latin typeface="Barlow SemiBold" panose="00000700000000000000" pitchFamily="2" charset="0"/>
              </a:rPr>
              <a:t>AdamW: The Standard Optimizer </a:t>
            </a:r>
            <a:r>
              <a:rPr lang="en-IN" sz="2800" baseline="30000" dirty="0">
                <a:latin typeface="Barlow SemiBold" panose="00000700000000000000" pitchFamily="2" charset="0"/>
                <a:hlinkClick r:id="rId2" action="ppaction://hlinksldjump"/>
              </a:rPr>
              <a:t>[3]</a:t>
            </a:r>
            <a:endParaRPr lang="en-IN" sz="2800" baseline="30000" dirty="0">
              <a:latin typeface="Barlow SemiBold" panose="00000700000000000000" pitchFamily="2" charset="0"/>
            </a:endParaRPr>
          </a:p>
        </p:txBody>
      </p:sp>
      <p:sp>
        <p:nvSpPr>
          <p:cNvPr id="6" name="TextBox 5">
            <a:extLst>
              <a:ext uri="{FF2B5EF4-FFF2-40B4-BE49-F238E27FC236}">
                <a16:creationId xmlns:a16="http://schemas.microsoft.com/office/drawing/2014/main" id="{3F328A19-6B2F-462C-D96B-F58C09479D3A}"/>
              </a:ext>
            </a:extLst>
          </p:cNvPr>
          <p:cNvSpPr txBox="1"/>
          <p:nvPr/>
        </p:nvSpPr>
        <p:spPr>
          <a:xfrm>
            <a:off x="445168" y="2610853"/>
            <a:ext cx="6846746" cy="3477875"/>
          </a:xfrm>
          <a:prstGeom prst="rect">
            <a:avLst/>
          </a:prstGeom>
          <a:noFill/>
        </p:spPr>
        <p:txBody>
          <a:bodyPr wrap="none" rtlCol="0">
            <a:spAutoFit/>
          </a:bodyPr>
          <a:lstStyle/>
          <a:p>
            <a:r>
              <a:rPr lang="en-IN" sz="2000" dirty="0">
                <a:latin typeface="Barlow" panose="00000500000000000000" pitchFamily="2" charset="0"/>
              </a:rPr>
              <a:t>Evolution: Adam → AdamW</a:t>
            </a:r>
          </a:p>
          <a:p>
            <a:endParaRPr lang="en-IN" sz="2000" dirty="0">
              <a:latin typeface="Barlow" panose="00000500000000000000" pitchFamily="2" charset="0"/>
            </a:endParaRPr>
          </a:p>
          <a:p>
            <a:r>
              <a:rPr lang="en-IN" sz="2000" dirty="0">
                <a:latin typeface="Barlow" panose="00000500000000000000" pitchFamily="2" charset="0"/>
              </a:rPr>
              <a:t>Key Improvement:</a:t>
            </a:r>
          </a:p>
          <a:p>
            <a:r>
              <a:rPr lang="en-IN" sz="2000" dirty="0">
                <a:latin typeface="Barlow" panose="00000500000000000000" pitchFamily="2" charset="0"/>
              </a:rPr>
              <a:t>• Decoupled weight decay from gradient updates</a:t>
            </a:r>
          </a:p>
          <a:p>
            <a:endParaRPr lang="en-IN" sz="2000" dirty="0">
              <a:latin typeface="Barlow" panose="00000500000000000000" pitchFamily="2" charset="0"/>
            </a:endParaRPr>
          </a:p>
          <a:p>
            <a:r>
              <a:rPr lang="en-IN" sz="2000" dirty="0">
                <a:latin typeface="Barlow" panose="00000500000000000000" pitchFamily="2" charset="0"/>
              </a:rPr>
              <a:t>Why AdamW Dominates:</a:t>
            </a:r>
          </a:p>
          <a:p>
            <a:r>
              <a:rPr lang="en-IN" sz="2000" dirty="0">
                <a:latin typeface="Barlow" panose="00000500000000000000" pitchFamily="2" charset="0"/>
              </a:rPr>
              <a:t>✓ Better generalization than Adam</a:t>
            </a:r>
          </a:p>
          <a:p>
            <a:r>
              <a:rPr lang="en-IN" sz="2000" dirty="0">
                <a:latin typeface="Barlow" panose="00000500000000000000" pitchFamily="2" charset="0"/>
              </a:rPr>
              <a:t>✓ Stable training for transformers</a:t>
            </a:r>
          </a:p>
          <a:p>
            <a:r>
              <a:rPr lang="en-IN" sz="2000" dirty="0">
                <a:latin typeface="Barlow" panose="00000500000000000000" pitchFamily="2" charset="0"/>
              </a:rPr>
              <a:t>✓ De facto standard for BERT</a:t>
            </a:r>
            <a:r>
              <a:rPr lang="en-IN" sz="20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[1]</a:t>
            </a:r>
            <a:r>
              <a:rPr lang="en-IN" sz="2000" b="1" baseline="30000" dirty="0">
                <a:latin typeface="Barlow" panose="00000500000000000000" pitchFamily="2" charset="0"/>
              </a:rPr>
              <a:t>  </a:t>
            </a:r>
            <a:r>
              <a:rPr lang="en-IN" sz="2000" dirty="0">
                <a:latin typeface="Barlow" panose="00000500000000000000" pitchFamily="2" charset="0"/>
              </a:rPr>
              <a:t>family models</a:t>
            </a:r>
          </a:p>
          <a:p>
            <a:endParaRPr lang="en-IN" sz="2000" dirty="0">
              <a:latin typeface="Barlow" panose="00000500000000000000" pitchFamily="2" charset="0"/>
            </a:endParaRPr>
          </a:p>
          <a:p>
            <a:r>
              <a:rPr lang="en-IN" sz="2000" dirty="0">
                <a:latin typeface="Barlow" panose="00000500000000000000" pitchFamily="2" charset="0"/>
              </a:rPr>
              <a:t>Current Status: Default choice without alternatives explored</a:t>
            </a:r>
          </a:p>
        </p:txBody>
      </p:sp>
    </p:spTree>
    <p:extLst>
      <p:ext uri="{BB962C8B-B14F-4D97-AF65-F5344CB8AC3E}">
        <p14:creationId xmlns:p14="http://schemas.microsoft.com/office/powerpoint/2010/main" val="3552484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97A3-CAEC-4FBF-94DF-5925729E0C97}"/>
              </a:ext>
            </a:extLst>
          </p:cNvPr>
          <p:cNvSpPr>
            <a:spLocks noGrp="1"/>
          </p:cNvSpPr>
          <p:nvPr>
            <p:ph type="title"/>
          </p:nvPr>
        </p:nvSpPr>
        <p:spPr bwMode="white"/>
        <p:txBody>
          <a:bodyPr/>
          <a:lstStyle/>
          <a:p>
            <a:r>
              <a:rPr lang="en-US" sz="2800" dirty="0">
                <a:latin typeface="Barlow SemiBold" panose="00000700000000000000" pitchFamily="2" charset="0"/>
              </a:rPr>
              <a:t>AdamW Algorithm</a:t>
            </a:r>
          </a:p>
        </p:txBody>
      </p:sp>
      <p:pic>
        <p:nvPicPr>
          <p:cNvPr id="7" name="@holatex&#10;\begin{document}&#10;\center&#10;\Large&#10;AdamW Optimizer&#10;\medskip&#10;&#10;\begin{align}&#10;m_t &amp;= \beta_1 m_{t-1} + (1 - \beta_1) g_t \\&#10;v_t &amp;= \beta_2 v_{t-1} + (1 - \beta_2) g_t^2 \\&#10;\hat{m}_t &amp;= \frac{m_t}{1 - \beta_1^t} \\&#10;\hat{v}_t &amp;= \frac{v_t}{1 - \beta_2^t} \\&#10;\theta_t &amp;= \theta_{t-1} - \eta \left( \frac{\hat{m}_t}{\sqrt{\hat{v}_t} + \epsilon} + \lambda \theta_{t-1} \right)&#10;\end{align}&#10;&#10;\end{document}">
            <a:hlinkClick r:id="rId3" action="ppaction://hlinksldjump"/>
            <a:extLst>
              <a:ext uri="{FF2B5EF4-FFF2-40B4-BE49-F238E27FC236}">
                <a16:creationId xmlns:a16="http://schemas.microsoft.com/office/drawing/2014/main" id="{9ADE2C19-748C-BEF1-E01F-6CA5DA982809}"/>
              </a:ext>
            </a:extLst>
          </p:cNvPr>
          <p:cNvPicPr>
            <a:picLocks/>
          </p:cNvPicPr>
          <p:nvPr/>
        </p:nvPicPr>
        <p:blipFill>
          <a:blip r:embed="rId4"/>
          <a:stretch>
            <a:fillRect/>
          </a:stretch>
        </p:blipFill>
        <p:spPr>
          <a:xfrm>
            <a:off x="810000" y="2634598"/>
            <a:ext cx="4592510" cy="3329973"/>
          </a:xfrm>
          <a:prstGeom prst="rect">
            <a:avLst/>
          </a:prstGeom>
        </p:spPr>
      </p:pic>
      <p:pic>
        <p:nvPicPr>
          <p:cNvPr id="9" name="@holatex&#10;\begin{document}&#10;\center&#10;where:&#10;\begin{itemize}&#10;    \item $g_t$: gradient at time step $t$&#10;    \item $m_t$: exponential moving average of gradients (momentum)&#10;    \item $v_t$: exponential moving average of squared gradients&#10;    \item $\eta$: learning rate&#10;    \item $\lambda$: weight decay coefficient&#10;    \item $\beta_1, \beta_2$: exponential decay rates for moment estimates&#10;\end{itemize}&#10;\end{document}">
            <a:extLst>
              <a:ext uri="{FF2B5EF4-FFF2-40B4-BE49-F238E27FC236}">
                <a16:creationId xmlns:a16="http://schemas.microsoft.com/office/drawing/2014/main" id="{772A38C4-1A75-E8B5-619F-1809A4CF7874}"/>
              </a:ext>
            </a:extLst>
          </p:cNvPr>
          <p:cNvPicPr>
            <a:picLocks/>
          </p:cNvPicPr>
          <p:nvPr/>
        </p:nvPicPr>
        <p:blipFill>
          <a:blip r:embed="rId5"/>
          <a:stretch>
            <a:fillRect/>
          </a:stretch>
        </p:blipFill>
        <p:spPr>
          <a:xfrm>
            <a:off x="6195736" y="3120253"/>
            <a:ext cx="4944844" cy="2778112"/>
          </a:xfrm>
          <a:prstGeom prst="rect">
            <a:avLst/>
          </a:prstGeom>
        </p:spPr>
      </p:pic>
    </p:spTree>
    <p:extLst>
      <p:ext uri="{BB962C8B-B14F-4D97-AF65-F5344CB8AC3E}">
        <p14:creationId xmlns:p14="http://schemas.microsoft.com/office/powerpoint/2010/main" val="172946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DD1EF-647A-B110-D006-AD7A1BE1A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20AAC-7F2C-CE1C-1B41-06BF051AAF83}"/>
              </a:ext>
            </a:extLst>
          </p:cNvPr>
          <p:cNvSpPr>
            <a:spLocks noGrp="1"/>
          </p:cNvSpPr>
          <p:nvPr>
            <p:ph type="title"/>
          </p:nvPr>
        </p:nvSpPr>
        <p:spPr/>
        <p:txBody>
          <a:bodyPr/>
          <a:lstStyle/>
          <a:p>
            <a:r>
              <a:rPr lang="en-IN" sz="2800" dirty="0">
                <a:latin typeface="Barlow SemiBold" panose="00000700000000000000" pitchFamily="2" charset="0"/>
              </a:rPr>
              <a:t>Lion: A Novel Alternative</a:t>
            </a:r>
            <a:r>
              <a:rPr lang="en-IN" sz="2800" b="1" baseline="30000" dirty="0">
                <a:latin typeface="Barlow SemiBold" panose="00000700000000000000" pitchFamily="2" charset="0"/>
                <a:hlinkClick r:id="rId2" action="ppaction://hlinksldjump"/>
              </a:rPr>
              <a:t>[4]</a:t>
            </a:r>
            <a:endParaRPr lang="en-IN" sz="2800" b="1" baseline="30000" dirty="0">
              <a:latin typeface="Barlow SemiBold" panose="00000700000000000000" pitchFamily="2" charset="0"/>
            </a:endParaRPr>
          </a:p>
        </p:txBody>
      </p:sp>
      <p:sp>
        <p:nvSpPr>
          <p:cNvPr id="6" name="TextBox 5">
            <a:extLst>
              <a:ext uri="{FF2B5EF4-FFF2-40B4-BE49-F238E27FC236}">
                <a16:creationId xmlns:a16="http://schemas.microsoft.com/office/drawing/2014/main" id="{364D9E65-4ACF-AB7F-EB7E-92497B1D7DA2}"/>
              </a:ext>
            </a:extLst>
          </p:cNvPr>
          <p:cNvSpPr txBox="1"/>
          <p:nvPr/>
        </p:nvSpPr>
        <p:spPr>
          <a:xfrm>
            <a:off x="469232" y="2117892"/>
            <a:ext cx="7173759" cy="4401205"/>
          </a:xfrm>
          <a:prstGeom prst="rect">
            <a:avLst/>
          </a:prstGeom>
          <a:noFill/>
        </p:spPr>
        <p:txBody>
          <a:bodyPr wrap="none" rtlCol="0">
            <a:spAutoFit/>
          </a:bodyPr>
          <a:lstStyle/>
          <a:p>
            <a:endParaRPr lang="en-IN" sz="2000" dirty="0">
              <a:latin typeface="Barlow" panose="00000500000000000000" pitchFamily="2" charset="0"/>
            </a:endParaRPr>
          </a:p>
          <a:p>
            <a:r>
              <a:rPr lang="en-IN" sz="2000" dirty="0">
                <a:latin typeface="Barlow" panose="00000500000000000000" pitchFamily="2" charset="0"/>
              </a:rPr>
              <a:t>Revolutionary Approach:</a:t>
            </a:r>
          </a:p>
          <a:p>
            <a:r>
              <a:rPr lang="en-IN" sz="2000" dirty="0">
                <a:latin typeface="Barlow" panose="00000500000000000000" pitchFamily="2" charset="0"/>
              </a:rPr>
              <a:t>• Sign-based momentum</a:t>
            </a:r>
          </a:p>
          <a:p>
            <a:r>
              <a:rPr lang="en-IN" sz="2000" dirty="0">
                <a:latin typeface="Barlow" panose="00000500000000000000" pitchFamily="2" charset="0"/>
              </a:rPr>
              <a:t>• Simplified computation vs Adam family</a:t>
            </a:r>
          </a:p>
          <a:p>
            <a:r>
              <a:rPr lang="en-IN" sz="2000" dirty="0">
                <a:latin typeface="Barlow" panose="00000500000000000000" pitchFamily="2" charset="0"/>
              </a:rPr>
              <a:t>• Reduced memory requirements</a:t>
            </a:r>
          </a:p>
          <a:p>
            <a:endParaRPr lang="en-IN" sz="2000" dirty="0">
              <a:latin typeface="Barlow" panose="00000500000000000000" pitchFamily="2" charset="0"/>
            </a:endParaRPr>
          </a:p>
          <a:p>
            <a:r>
              <a:rPr lang="en-IN" sz="2000" dirty="0">
                <a:latin typeface="Barlow" panose="00000500000000000000" pitchFamily="2" charset="0"/>
              </a:rPr>
              <a:t>Proven Results:</a:t>
            </a:r>
          </a:p>
          <a:p>
            <a:r>
              <a:rPr lang="en-IN" sz="2000" dirty="0">
                <a:latin typeface="Barlow" panose="00000500000000000000" pitchFamily="2" charset="0"/>
              </a:rPr>
              <a:t>✓ Competitive performance in computer vision</a:t>
            </a:r>
          </a:p>
          <a:p>
            <a:r>
              <a:rPr lang="en-IN" sz="2000" dirty="0">
                <a:latin typeface="Barlow" panose="00000500000000000000" pitchFamily="2" charset="0"/>
              </a:rPr>
              <a:t>✓ Lower computational overhead</a:t>
            </a:r>
          </a:p>
          <a:p>
            <a:r>
              <a:rPr lang="en-IN" sz="2000" dirty="0">
                <a:latin typeface="Barlow" panose="00000500000000000000" pitchFamily="2" charset="0"/>
              </a:rPr>
              <a:t>✓ Faster convergence in some tasks</a:t>
            </a:r>
          </a:p>
          <a:p>
            <a:endParaRPr lang="en-IN" sz="2000" dirty="0">
              <a:latin typeface="Barlow" panose="00000500000000000000" pitchFamily="2" charset="0"/>
            </a:endParaRPr>
          </a:p>
          <a:p>
            <a:r>
              <a:rPr lang="en-IN" sz="2000" dirty="0">
                <a:latin typeface="Barlow" panose="00000500000000000000" pitchFamily="2" charset="0"/>
              </a:rPr>
              <a:t>Research Gap:</a:t>
            </a:r>
          </a:p>
          <a:p>
            <a:r>
              <a:rPr lang="en-IN" sz="2000" dirty="0">
                <a:latin typeface="Barlow" panose="00000500000000000000" pitchFamily="2" charset="0"/>
              </a:rPr>
              <a:t>❌ Unexplored in NLP/Information Retrieval</a:t>
            </a:r>
          </a:p>
          <a:p>
            <a:r>
              <a:rPr lang="en-IN" sz="2000" dirty="0">
                <a:latin typeface="Barlow" panose="00000500000000000000" pitchFamily="2" charset="0"/>
              </a:rPr>
              <a:t>❌ No systematic comparison with AdamW for cross-encoders</a:t>
            </a:r>
          </a:p>
        </p:txBody>
      </p:sp>
    </p:spTree>
    <p:extLst>
      <p:ext uri="{BB962C8B-B14F-4D97-AF65-F5344CB8AC3E}">
        <p14:creationId xmlns:p14="http://schemas.microsoft.com/office/powerpoint/2010/main" val="138550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C79B8-527C-C1F7-90FC-3D586AF97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AF39-4FFC-8AA2-DC58-E0E8CA1E1040}"/>
              </a:ext>
            </a:extLst>
          </p:cNvPr>
          <p:cNvSpPr>
            <a:spLocks noGrp="1"/>
          </p:cNvSpPr>
          <p:nvPr>
            <p:ph type="title"/>
          </p:nvPr>
        </p:nvSpPr>
        <p:spPr bwMode="white"/>
        <p:txBody>
          <a:bodyPr/>
          <a:lstStyle/>
          <a:p>
            <a:r>
              <a:rPr lang="en-US" sz="2800" dirty="0">
                <a:latin typeface="Barlow SemiBold" panose="00000700000000000000" pitchFamily="2" charset="0"/>
              </a:rPr>
              <a:t>Lion Algorithm</a:t>
            </a:r>
          </a:p>
        </p:txBody>
      </p:sp>
      <p:pic>
        <p:nvPicPr>
          <p:cNvPr id="8" name="@holatex&#10;\begin{document}&#10;\center&#10;\Large&#10;Lion Optimizer&#10;\medskip&#10;&#10;\begin{align}&#10;c_t &amp;= \beta_1 m_{t-1} + (1 - \beta_1) g_t \\&#10;\theta_t &amp;= \theta_{t-1} - \eta \left( \text{sign}(c_t) + \lambda \theta_{t-1} \right) \\&#10;m_t &amp;= \beta_2 m_{t-1} + (1 - \beta_2) g_t&#10;\end{align}&#10;&#10;\end{document}">
            <a:extLst>
              <a:ext uri="{FF2B5EF4-FFF2-40B4-BE49-F238E27FC236}">
                <a16:creationId xmlns:a16="http://schemas.microsoft.com/office/drawing/2014/main" id="{5F20DDE9-9919-6AA6-57C5-2715FF742D7B}"/>
              </a:ext>
            </a:extLst>
          </p:cNvPr>
          <p:cNvPicPr>
            <a:picLocks/>
          </p:cNvPicPr>
          <p:nvPr/>
        </p:nvPicPr>
        <p:blipFill>
          <a:blip r:embed="rId3"/>
          <a:stretch>
            <a:fillRect/>
          </a:stretch>
        </p:blipFill>
        <p:spPr>
          <a:xfrm>
            <a:off x="809999" y="3143081"/>
            <a:ext cx="5052045" cy="2487698"/>
          </a:xfrm>
          <a:prstGeom prst="rect">
            <a:avLst/>
          </a:prstGeom>
        </p:spPr>
      </p:pic>
      <p:pic>
        <p:nvPicPr>
          <p:cNvPr id="6" name="@holatex&#10;\begin{document}&#10;\center&#10;where:&#10;\begin{itemize}&#10;    \item $c_t$: interpolated momentum for update direction&#10;    \item $\text{sign}(\cdot)$: element-wise sign function  &#10;    \item $\theta_t$: model parameters at time step $t$&#10;    \item $g_t$: gradient at time step $t$&#10;    \item $m_t$: exponential moving average of gradients (momentum)&#10;    \item $\eta$: learning rate&#10;    \item $\beta_1$: momentum coefficient for update direction (typically 0.9)&#10;    \item $\beta_2$: momentum coefficient for gradient tracking (typically 0.99)&#10;    \item $\lambda$: weight decay coefficient&#10;\end{itemize}&#10;\end{document}">
            <a:extLst>
              <a:ext uri="{FF2B5EF4-FFF2-40B4-BE49-F238E27FC236}">
                <a16:creationId xmlns:a16="http://schemas.microsoft.com/office/drawing/2014/main" id="{5860B546-5E53-616F-31DD-9768D14F3DAB}"/>
              </a:ext>
            </a:extLst>
          </p:cNvPr>
          <p:cNvPicPr>
            <a:picLocks/>
          </p:cNvPicPr>
          <p:nvPr/>
        </p:nvPicPr>
        <p:blipFill>
          <a:blip r:embed="rId4"/>
          <a:stretch>
            <a:fillRect/>
          </a:stretch>
        </p:blipFill>
        <p:spPr>
          <a:xfrm>
            <a:off x="6505216" y="2461062"/>
            <a:ext cx="4876782" cy="3949750"/>
          </a:xfrm>
          <a:prstGeom prst="rect">
            <a:avLst/>
          </a:prstGeom>
        </p:spPr>
      </p:pic>
    </p:spTree>
    <p:extLst>
      <p:ext uri="{BB962C8B-B14F-4D97-AF65-F5344CB8AC3E}">
        <p14:creationId xmlns:p14="http://schemas.microsoft.com/office/powerpoint/2010/main" val="1087586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15DC-A185-2346-AA66-C3A301D1D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CB4B4-FA53-73CE-02A8-B9080F7EF0C2}"/>
              </a:ext>
            </a:extLst>
          </p:cNvPr>
          <p:cNvSpPr>
            <a:spLocks noGrp="1"/>
          </p:cNvSpPr>
          <p:nvPr>
            <p:ph type="title"/>
          </p:nvPr>
        </p:nvSpPr>
        <p:spPr bwMode="white"/>
        <p:txBody>
          <a:bodyPr/>
          <a:lstStyle/>
          <a:p>
            <a:r>
              <a:rPr lang="en-US" sz="4000" dirty="0">
                <a:latin typeface="Barlow ExtraBold" panose="00000900000000000000" pitchFamily="2" charset="0"/>
              </a:rPr>
              <a:t>Methodology</a:t>
            </a:r>
          </a:p>
        </p:txBody>
      </p:sp>
    </p:spTree>
    <p:extLst>
      <p:ext uri="{BB962C8B-B14F-4D97-AF65-F5344CB8AC3E}">
        <p14:creationId xmlns:p14="http://schemas.microsoft.com/office/powerpoint/2010/main" val="3883136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089F23-6A5A-9A27-D727-B577A104164E}"/>
              </a:ext>
            </a:extLst>
          </p:cNvPr>
          <p:cNvSpPr>
            <a:spLocks noGrp="1"/>
          </p:cNvSpPr>
          <p:nvPr>
            <p:ph type="title"/>
          </p:nvPr>
        </p:nvSpPr>
        <p:spPr>
          <a:xfrm>
            <a:off x="582006" y="479592"/>
            <a:ext cx="5399343" cy="720033"/>
          </a:xfrm>
          <a:solidFill>
            <a:schemeClr val="bg2"/>
          </a:solidFill>
          <a:ln>
            <a:noFill/>
          </a:ln>
          <a:effectLst>
            <a:outerShdw blurRad="50800" dist="38100" dir="16200000" rotWithShape="0">
              <a:prstClr val="black">
                <a:alpha val="40000"/>
              </a:prstClr>
            </a:outerShdw>
          </a:effectLst>
        </p:spPr>
        <p:txBody>
          <a:bodyPr/>
          <a:lstStyle/>
          <a:p>
            <a:r>
              <a:rPr lang="en-GB" dirty="0">
                <a:latin typeface="Barlow SemiBold" panose="00000700000000000000" pitchFamily="2" charset="0"/>
              </a:rPr>
              <a:t>Experimental Setup</a:t>
            </a:r>
            <a:endParaRPr lang="en-IN" dirty="0">
              <a:latin typeface="Barlow SemiBold" panose="00000700000000000000" pitchFamily="2" charset="0"/>
            </a:endParaRPr>
          </a:p>
        </p:txBody>
      </p:sp>
      <p:sp>
        <p:nvSpPr>
          <p:cNvPr id="4" name="Text Placeholder 3">
            <a:extLst>
              <a:ext uri="{FF2B5EF4-FFF2-40B4-BE49-F238E27FC236}">
                <a16:creationId xmlns:a16="http://schemas.microsoft.com/office/drawing/2014/main" id="{D3135813-3D43-E29E-81C9-5FD7F79E6710}"/>
              </a:ext>
            </a:extLst>
          </p:cNvPr>
          <p:cNvSpPr>
            <a:spLocks noGrp="1"/>
          </p:cNvSpPr>
          <p:nvPr>
            <p:ph type="body" sz="half" idx="2"/>
          </p:nvPr>
        </p:nvSpPr>
        <p:spPr>
          <a:xfrm>
            <a:off x="741512" y="1635853"/>
            <a:ext cx="10953183" cy="5044557"/>
          </a:xfrm>
        </p:spPr>
        <p:txBody>
          <a:bodyPr>
            <a:normAutofit fontScale="77500" lnSpcReduction="20000"/>
          </a:bodyPr>
          <a:lstStyle/>
          <a:p>
            <a:r>
              <a:rPr lang="en-IN" sz="3100" b="1" dirty="0">
                <a:solidFill>
                  <a:schemeClr val="tx2"/>
                </a:solidFill>
                <a:latin typeface="Barlow Medium" panose="00000600000000000000" pitchFamily="2" charset="0"/>
              </a:rPr>
              <a:t>Dataset Configuration</a:t>
            </a:r>
          </a:p>
          <a:p>
            <a:pPr lvl="1"/>
            <a:r>
              <a:rPr lang="en-IN" sz="2400" b="1" dirty="0">
                <a:latin typeface="Barlow Medium" panose="00000600000000000000" pitchFamily="2" charset="0"/>
              </a:rPr>
              <a:t>T</a:t>
            </a:r>
            <a:r>
              <a:rPr lang="en-IN" sz="2400" b="1" dirty="0">
                <a:latin typeface="Barlow" panose="00000500000000000000" pitchFamily="2" charset="0"/>
              </a:rPr>
              <a:t>raining:</a:t>
            </a:r>
            <a:r>
              <a:rPr lang="en-IN" sz="2400" dirty="0">
                <a:latin typeface="Barlow" panose="00000500000000000000" pitchFamily="2" charset="0"/>
              </a:rPr>
              <a:t> MS MARCO</a:t>
            </a:r>
            <a:r>
              <a:rPr lang="en-IN" sz="24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[9]</a:t>
            </a:r>
            <a:r>
              <a:rPr lang="en-IN" sz="2400" dirty="0">
                <a:solidFill>
                  <a:srgbClr val="FFC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 </a:t>
            </a:r>
            <a:r>
              <a:rPr lang="en-IN" sz="2400" dirty="0">
                <a:latin typeface="Barlow" panose="00000500000000000000" pitchFamily="2" charset="0"/>
              </a:rPr>
              <a:t>Passage Ranking (~2M triplets)</a:t>
            </a:r>
          </a:p>
          <a:p>
            <a:pPr lvl="1"/>
            <a:r>
              <a:rPr lang="en-IN" sz="2400" b="1" dirty="0">
                <a:latin typeface="Barlow" panose="00000500000000000000" pitchFamily="2" charset="0"/>
              </a:rPr>
              <a:t>Evaluation:</a:t>
            </a:r>
            <a:r>
              <a:rPr lang="en-IN" sz="2400" dirty="0">
                <a:latin typeface="Barlow" panose="00000500000000000000" pitchFamily="2" charset="0"/>
              </a:rPr>
              <a:t> TREC DL</a:t>
            </a:r>
            <a:r>
              <a:rPr lang="en-IN" sz="2400" b="1"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[8]</a:t>
            </a:r>
            <a:r>
              <a:rPr lang="en-IN" sz="2400" dirty="0">
                <a:solidFill>
                  <a:srgbClr val="FFC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 </a:t>
            </a:r>
            <a:r>
              <a:rPr lang="en-IN" sz="2400" dirty="0">
                <a:latin typeface="Barlow" panose="00000500000000000000" pitchFamily="2" charset="0"/>
              </a:rPr>
              <a:t>2019 (43 queries with comprehensive relevance judgments)</a:t>
            </a:r>
          </a:p>
          <a:p>
            <a:pPr lvl="1"/>
            <a:r>
              <a:rPr lang="en-IN" sz="2400" b="1" dirty="0">
                <a:latin typeface="Barlow" panose="00000500000000000000" pitchFamily="2" charset="0"/>
              </a:rPr>
              <a:t>Metrics:</a:t>
            </a:r>
            <a:r>
              <a:rPr lang="en-IN" sz="2400" dirty="0">
                <a:latin typeface="Barlow" panose="00000500000000000000" pitchFamily="2" charset="0"/>
              </a:rPr>
              <a:t> NDCG@10</a:t>
            </a:r>
            <a:r>
              <a:rPr lang="en-IN" sz="2400"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[16] </a:t>
            </a:r>
            <a:r>
              <a:rPr lang="en-IN" sz="2400" dirty="0">
                <a:latin typeface="Barlow" panose="00000500000000000000" pitchFamily="2" charset="0"/>
              </a:rPr>
              <a:t>, MRR@10, Recall@10, P@10</a:t>
            </a:r>
          </a:p>
          <a:p>
            <a:r>
              <a:rPr lang="en-IN" sz="3100" b="1" dirty="0">
                <a:solidFill>
                  <a:schemeClr val="tx2"/>
                </a:solidFill>
                <a:latin typeface="Barlow Medium" panose="00000600000000000000" pitchFamily="2" charset="0"/>
              </a:rPr>
              <a:t>Infrastructure</a:t>
            </a:r>
          </a:p>
          <a:p>
            <a:pPr lvl="1"/>
            <a:r>
              <a:rPr lang="en-IN" sz="2400" b="1" dirty="0">
                <a:latin typeface="Barlow" panose="00000500000000000000" pitchFamily="2" charset="0"/>
              </a:rPr>
              <a:t>Platform:</a:t>
            </a:r>
            <a:r>
              <a:rPr lang="en-IN" sz="2400" dirty="0">
                <a:latin typeface="Barlow" panose="00000500000000000000" pitchFamily="2" charset="0"/>
              </a:rPr>
              <a:t> Modal cloud computing</a:t>
            </a:r>
            <a:r>
              <a:rPr lang="en-IN" sz="24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[10]</a:t>
            </a:r>
            <a:endParaRPr lang="en-IN" sz="2400" b="1" baseline="30000" dirty="0">
              <a:solidFill>
                <a:srgbClr val="FF0000"/>
              </a:solidFill>
              <a:latin typeface="Barlow" panose="00000500000000000000" pitchFamily="2" charset="0"/>
            </a:endParaRPr>
          </a:p>
          <a:p>
            <a:pPr lvl="1"/>
            <a:r>
              <a:rPr lang="en-IN" sz="2400" b="1" dirty="0">
                <a:latin typeface="Barlow" panose="00000500000000000000" pitchFamily="2" charset="0"/>
              </a:rPr>
              <a:t>Hardware:</a:t>
            </a:r>
            <a:r>
              <a:rPr lang="en-IN" sz="2400" dirty="0">
                <a:latin typeface="Barlow" panose="00000500000000000000" pitchFamily="2" charset="0"/>
              </a:rPr>
              <a:t> 3 × NVIDIA L40S GPUs</a:t>
            </a:r>
          </a:p>
          <a:p>
            <a:pPr lvl="1"/>
            <a:r>
              <a:rPr lang="en-IN" sz="2400" b="1" dirty="0">
                <a:latin typeface="Barlow" panose="00000500000000000000" pitchFamily="2" charset="0"/>
              </a:rPr>
              <a:t>Monitoring:</a:t>
            </a:r>
            <a:r>
              <a:rPr lang="en-IN" sz="2400" dirty="0">
                <a:latin typeface="Barlow" panose="00000500000000000000" pitchFamily="2" charset="0"/>
              </a:rPr>
              <a:t> Weights &amp; Biases</a:t>
            </a:r>
            <a:r>
              <a:rPr lang="en-IN" sz="2400" b="1" baseline="30000" dirty="0">
                <a:solidFill>
                  <a:srgbClr val="FF0000"/>
                </a:solidFill>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[11]</a:t>
            </a:r>
            <a:endParaRPr lang="en-IN" sz="2400" b="1" baseline="30000" dirty="0">
              <a:solidFill>
                <a:srgbClr val="FF0000"/>
              </a:solidFill>
              <a:latin typeface="Barlow" panose="00000500000000000000" pitchFamily="2" charset="0"/>
            </a:endParaRPr>
          </a:p>
          <a:p>
            <a:pPr lvl="1"/>
            <a:r>
              <a:rPr lang="en-IN" sz="2400" b="1" dirty="0">
                <a:latin typeface="Barlow" panose="00000500000000000000" pitchFamily="2" charset="0"/>
              </a:rPr>
              <a:t>Training:</a:t>
            </a:r>
            <a:r>
              <a:rPr lang="en-IN" sz="2400" dirty="0">
                <a:latin typeface="Barlow" panose="00000500000000000000" pitchFamily="2" charset="0"/>
              </a:rPr>
              <a:t> 3 epochs per configuration</a:t>
            </a:r>
          </a:p>
          <a:p>
            <a:r>
              <a:rPr lang="en-IN" sz="3100" b="1" dirty="0">
                <a:solidFill>
                  <a:schemeClr val="tx2"/>
                </a:solidFill>
                <a:latin typeface="Barlow Medium" panose="00000600000000000000" pitchFamily="2" charset="0"/>
              </a:rPr>
              <a:t>Experimental Design</a:t>
            </a:r>
          </a:p>
          <a:p>
            <a:pPr lvl="1"/>
            <a:r>
              <a:rPr lang="en-IN" sz="2400" b="1" dirty="0">
                <a:latin typeface="Barlow" panose="00000500000000000000" pitchFamily="2" charset="0"/>
              </a:rPr>
              <a:t>Total Configurations:</a:t>
            </a:r>
            <a:r>
              <a:rPr lang="en-IN" sz="2400" dirty="0">
                <a:latin typeface="Barlow" panose="00000500000000000000" pitchFamily="2" charset="0"/>
              </a:rPr>
              <a:t> 6 (3 models × 2 optimizers)</a:t>
            </a:r>
          </a:p>
          <a:p>
            <a:pPr lvl="1"/>
            <a:r>
              <a:rPr lang="en-IN" sz="2400" b="1" dirty="0">
                <a:latin typeface="Barlow" panose="00000500000000000000" pitchFamily="2" charset="0"/>
              </a:rPr>
              <a:t>Controlled Variables:</a:t>
            </a:r>
            <a:r>
              <a:rPr lang="en-IN" sz="2400" dirty="0">
                <a:latin typeface="Barlow" panose="00000500000000000000" pitchFamily="2" charset="0"/>
              </a:rPr>
              <a:t> Batch size, training steps, evaluation frequency</a:t>
            </a:r>
          </a:p>
          <a:p>
            <a:pPr lvl="1"/>
            <a:r>
              <a:rPr lang="en-IN" sz="2400" b="1" dirty="0">
                <a:latin typeface="Barlow" panose="00000500000000000000" pitchFamily="2" charset="0"/>
              </a:rPr>
              <a:t>Variable Parameters:</a:t>
            </a:r>
            <a:r>
              <a:rPr lang="en-IN" sz="2400" dirty="0">
                <a:latin typeface="Barlow" panose="00000500000000000000" pitchFamily="2" charset="0"/>
              </a:rPr>
              <a:t> Learning rates (2e-5 standard, 2e-6 for ModernBERT</a:t>
            </a:r>
            <a:r>
              <a:rPr lang="en-IN" sz="2400"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[6]</a:t>
            </a:r>
            <a:r>
              <a:rPr lang="en-IN" sz="2400" dirty="0">
                <a:latin typeface="Barlow" panose="00000500000000000000" pitchFamily="2" charset="0"/>
              </a:rPr>
              <a:t>+Lion</a:t>
            </a:r>
            <a:r>
              <a:rPr lang="en-IN" sz="2400" baseline="30000" dirty="0">
                <a:solidFill>
                  <a:srgbClr val="FF0000"/>
                </a:solidFill>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[4]</a:t>
            </a:r>
            <a:r>
              <a:rPr lang="en-IN" sz="2400" dirty="0">
                <a:latin typeface="Barlow" panose="00000500000000000000" pitchFamily="2" charset="0"/>
              </a:rPr>
              <a:t>)</a:t>
            </a:r>
          </a:p>
        </p:txBody>
      </p:sp>
    </p:spTree>
    <p:extLst>
      <p:ext uri="{BB962C8B-B14F-4D97-AF65-F5344CB8AC3E}">
        <p14:creationId xmlns:p14="http://schemas.microsoft.com/office/powerpoint/2010/main" val="503350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2EB31-E42B-4D0C-AFEC-3EBBBBE96FC6}"/>
              </a:ext>
            </a:extLst>
          </p:cNvPr>
          <p:cNvSpPr>
            <a:spLocks noGrp="1"/>
          </p:cNvSpPr>
          <p:nvPr>
            <p:ph type="title"/>
          </p:nvPr>
        </p:nvSpPr>
        <p:spPr>
          <a:xfrm>
            <a:off x="1600470" y="-6969"/>
            <a:ext cx="8579730" cy="1453488"/>
          </a:xfrm>
        </p:spPr>
        <p:txBody>
          <a:bodyPr/>
          <a:lstStyle/>
          <a:p>
            <a:r>
              <a:rPr lang="en-US" dirty="0">
                <a:latin typeface="Barlow SemiBold" panose="00000700000000000000" pitchFamily="2" charset="0"/>
              </a:rPr>
              <a:t>Model Architectures Tested</a:t>
            </a:r>
          </a:p>
        </p:txBody>
      </p:sp>
      <p:graphicFrame>
        <p:nvGraphicFramePr>
          <p:cNvPr id="3" name="Table 2">
            <a:extLst>
              <a:ext uri="{FF2B5EF4-FFF2-40B4-BE49-F238E27FC236}">
                <a16:creationId xmlns:a16="http://schemas.microsoft.com/office/drawing/2014/main" id="{7FBF1AC1-134E-0FBB-B4D9-FDF88536B632}"/>
              </a:ext>
            </a:extLst>
          </p:cNvPr>
          <p:cNvGraphicFramePr>
            <a:graphicFrameLocks noGrp="1"/>
          </p:cNvGraphicFramePr>
          <p:nvPr>
            <p:extLst>
              <p:ext uri="{D42A27DB-BD31-4B8C-83A1-F6EECF244321}">
                <p14:modId xmlns:p14="http://schemas.microsoft.com/office/powerpoint/2010/main" val="589728642"/>
              </p:ext>
            </p:extLst>
          </p:nvPr>
        </p:nvGraphicFramePr>
        <p:xfrm>
          <a:off x="782704" y="1812991"/>
          <a:ext cx="10629934" cy="2926080"/>
        </p:xfrm>
        <a:graphic>
          <a:graphicData uri="http://schemas.openxmlformats.org/drawingml/2006/table">
            <a:tbl>
              <a:tblPr firstRow="1" bandRow="1">
                <a:tableStyleId>{69C7853C-536D-4A76-A0AE-DD22124D55A5}</a:tableStyleId>
              </a:tblPr>
              <a:tblGrid>
                <a:gridCol w="2285387">
                  <a:extLst>
                    <a:ext uri="{9D8B030D-6E8A-4147-A177-3AD203B41FA5}">
                      <a16:colId xmlns:a16="http://schemas.microsoft.com/office/drawing/2014/main" val="902513758"/>
                    </a:ext>
                  </a:extLst>
                </a:gridCol>
                <a:gridCol w="2285387">
                  <a:extLst>
                    <a:ext uri="{9D8B030D-6E8A-4147-A177-3AD203B41FA5}">
                      <a16:colId xmlns:a16="http://schemas.microsoft.com/office/drawing/2014/main" val="2836376390"/>
                    </a:ext>
                  </a:extLst>
                </a:gridCol>
                <a:gridCol w="2209438">
                  <a:extLst>
                    <a:ext uri="{9D8B030D-6E8A-4147-A177-3AD203B41FA5}">
                      <a16:colId xmlns:a16="http://schemas.microsoft.com/office/drawing/2014/main" val="4239693166"/>
                    </a:ext>
                  </a:extLst>
                </a:gridCol>
                <a:gridCol w="3849722">
                  <a:extLst>
                    <a:ext uri="{9D8B030D-6E8A-4147-A177-3AD203B41FA5}">
                      <a16:colId xmlns:a16="http://schemas.microsoft.com/office/drawing/2014/main" val="856259958"/>
                    </a:ext>
                  </a:extLst>
                </a:gridCol>
              </a:tblGrid>
              <a:tr h="370840">
                <a:tc>
                  <a:txBody>
                    <a:bodyPr/>
                    <a:lstStyle/>
                    <a:p>
                      <a:r>
                        <a:rPr lang="en-GB" sz="2400" dirty="0">
                          <a:effectLst>
                            <a:outerShdw blurRad="50800" dist="38100" dir="18900000" algn="bl" rotWithShape="0">
                              <a:prstClr val="black">
                                <a:alpha val="40000"/>
                              </a:prstClr>
                            </a:outerShdw>
                          </a:effectLst>
                          <a:latin typeface="Barlow Medium" panose="00000600000000000000" pitchFamily="2" charset="0"/>
                        </a:rPr>
                        <a:t>Model</a:t>
                      </a:r>
                      <a:endParaRPr lang="en-IN" sz="2400" dirty="0">
                        <a:effectLst>
                          <a:outerShdw blurRad="50800" dist="38100" dir="18900000" algn="bl" rotWithShape="0">
                            <a:prstClr val="black">
                              <a:alpha val="40000"/>
                            </a:prstClr>
                          </a:outerShdw>
                        </a:effectLst>
                        <a:latin typeface="Barlow Medium" panose="00000600000000000000" pitchFamily="2" charset="0"/>
                      </a:endParaRPr>
                    </a:p>
                  </a:txBody>
                  <a:tcPr>
                    <a:lnB w="15875" cap="rnd" cmpd="sng" algn="ctr">
                      <a:noFill/>
                      <a:prstDash val="solid"/>
                    </a:lnB>
                  </a:tcPr>
                </a:tc>
                <a:tc>
                  <a:txBody>
                    <a:bodyPr/>
                    <a:lstStyle/>
                    <a:p>
                      <a:r>
                        <a:rPr lang="en-GB" sz="2400" dirty="0">
                          <a:effectLst>
                            <a:outerShdw blurRad="50800" dist="38100" dir="18900000" algn="bl" rotWithShape="0">
                              <a:prstClr val="black">
                                <a:alpha val="40000"/>
                              </a:prstClr>
                            </a:outerShdw>
                          </a:effectLst>
                          <a:latin typeface="Barlow Medium" panose="00000600000000000000" pitchFamily="2" charset="0"/>
                        </a:rPr>
                        <a:t># Parameters</a:t>
                      </a:r>
                      <a:endParaRPr lang="en-IN" sz="2400" dirty="0">
                        <a:effectLst>
                          <a:outerShdw blurRad="50800" dist="38100" dir="18900000" algn="bl" rotWithShape="0">
                            <a:prstClr val="black">
                              <a:alpha val="40000"/>
                            </a:prstClr>
                          </a:outerShdw>
                        </a:effectLst>
                        <a:latin typeface="Barlow Medium" panose="00000600000000000000" pitchFamily="2" charset="0"/>
                      </a:endParaRPr>
                    </a:p>
                  </a:txBody>
                  <a:tcPr>
                    <a:lnB w="15875" cap="rnd" cmpd="sng" algn="ctr">
                      <a:noFill/>
                      <a:prstDash val="solid"/>
                    </a:lnB>
                  </a:tcPr>
                </a:tc>
                <a:tc>
                  <a:txBody>
                    <a:bodyPr/>
                    <a:lstStyle/>
                    <a:p>
                      <a:r>
                        <a:rPr lang="en-GB" sz="2400" dirty="0">
                          <a:effectLst>
                            <a:outerShdw blurRad="50800" dist="38100" dir="18900000" algn="bl" rotWithShape="0">
                              <a:prstClr val="black">
                                <a:alpha val="40000"/>
                              </a:prstClr>
                            </a:outerShdw>
                          </a:effectLst>
                          <a:latin typeface="Barlow Medium" panose="00000600000000000000" pitchFamily="2" charset="0"/>
                        </a:rPr>
                        <a:t>Context Length</a:t>
                      </a:r>
                      <a:endParaRPr lang="en-IN" sz="2400" dirty="0">
                        <a:effectLst>
                          <a:outerShdw blurRad="50800" dist="38100" dir="18900000" algn="bl" rotWithShape="0">
                            <a:prstClr val="black">
                              <a:alpha val="40000"/>
                            </a:prstClr>
                          </a:outerShdw>
                        </a:effectLst>
                        <a:latin typeface="Barlow Medium" panose="00000600000000000000" pitchFamily="2" charset="0"/>
                      </a:endParaRPr>
                    </a:p>
                  </a:txBody>
                  <a:tcPr>
                    <a:lnB w="15875" cap="rnd" cmpd="sng" algn="ctr">
                      <a:noFill/>
                      <a:prstDash val="solid"/>
                    </a:lnB>
                  </a:tcPr>
                </a:tc>
                <a:tc>
                  <a:txBody>
                    <a:bodyPr/>
                    <a:lstStyle/>
                    <a:p>
                      <a:r>
                        <a:rPr lang="en-GB" sz="2400" dirty="0">
                          <a:effectLst>
                            <a:outerShdw blurRad="50800" dist="38100" dir="18900000" algn="bl" rotWithShape="0">
                              <a:prstClr val="black">
                                <a:alpha val="40000"/>
                              </a:prstClr>
                            </a:outerShdw>
                          </a:effectLst>
                          <a:latin typeface="Barlow Medium" panose="00000600000000000000" pitchFamily="2" charset="0"/>
                        </a:rPr>
                        <a:t>Key Features</a:t>
                      </a:r>
                      <a:endParaRPr lang="en-IN" sz="2400" dirty="0">
                        <a:effectLst>
                          <a:outerShdw blurRad="50800" dist="38100" dir="18900000" algn="bl" rotWithShape="0">
                            <a:prstClr val="black">
                              <a:alpha val="40000"/>
                            </a:prstClr>
                          </a:outerShdw>
                        </a:effectLst>
                        <a:latin typeface="Barlow Medium" panose="00000600000000000000" pitchFamily="2" charset="0"/>
                      </a:endParaRPr>
                    </a:p>
                  </a:txBody>
                  <a:tcPr>
                    <a:lnB w="15875" cap="rnd" cmpd="sng" algn="ctr">
                      <a:noFill/>
                      <a:prstDash val="solid"/>
                    </a:lnB>
                  </a:tcPr>
                </a:tc>
                <a:extLst>
                  <a:ext uri="{0D108BD9-81ED-4DB2-BD59-A6C34878D82A}">
                    <a16:rowId xmlns:a16="http://schemas.microsoft.com/office/drawing/2014/main" val="1999864367"/>
                  </a:ext>
                </a:extLst>
              </a:tr>
              <a:tr h="370840">
                <a:tc>
                  <a:txBody>
                    <a:bodyPr/>
                    <a:lstStyle/>
                    <a:p>
                      <a:pPr algn="l"/>
                      <a:r>
                        <a:rPr lang="en-IN" sz="2000" b="1" dirty="0">
                          <a:effectLst/>
                          <a:latin typeface="Barlow" panose="00000500000000000000" pitchFamily="2" charset="0"/>
                        </a:rPr>
                        <a:t>MiniLM-L12-H384</a:t>
                      </a:r>
                      <a:r>
                        <a:rPr lang="en-IN" sz="2000" b="1" baseline="30000" dirty="0">
                          <a:solidFill>
                            <a:srgbClr val="FF0000"/>
                          </a:solidFill>
                          <a:effectLst/>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[5]</a:t>
                      </a:r>
                      <a:endParaRPr lang="en-IN" sz="2000" baseline="30000" dirty="0">
                        <a:solidFill>
                          <a:srgbClr val="FF0000"/>
                        </a:solidFill>
                        <a:effectLst/>
                        <a:latin typeface="Barlow" panose="00000500000000000000" pitchFamily="2" charset="0"/>
                      </a:endParaRPr>
                    </a:p>
                  </a:txBody>
                  <a:tcPr anchor="ctr">
                    <a:lnL w="9525" cap="rnd" cmpd="sng" algn="ctr">
                      <a:noFill/>
                      <a:prstDash val="solid"/>
                    </a:lnL>
                    <a:lnR w="9525" cap="rnd" cmpd="sng" algn="ctr">
                      <a:noFill/>
                      <a:prstDash val="solid"/>
                    </a:lnR>
                    <a:lnT w="1587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~33M</a:t>
                      </a:r>
                    </a:p>
                  </a:txBody>
                  <a:tcPr anchor="ctr">
                    <a:lnL w="9525" cap="rnd" cmpd="sng" algn="ctr">
                      <a:noFill/>
                      <a:prstDash val="solid"/>
                    </a:lnL>
                    <a:lnR w="9525" cap="rnd" cmpd="sng" algn="ctr">
                      <a:noFill/>
                      <a:prstDash val="solid"/>
                    </a:lnR>
                    <a:lnT w="1587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512 tokens</a:t>
                      </a:r>
                    </a:p>
                  </a:txBody>
                  <a:tcPr anchor="ctr">
                    <a:lnL w="9525" cap="rnd" cmpd="sng" algn="ctr">
                      <a:noFill/>
                      <a:prstDash val="solid"/>
                    </a:lnL>
                    <a:lnR w="9525" cap="rnd" cmpd="sng" algn="ctr">
                      <a:noFill/>
                      <a:prstDash val="solid"/>
                    </a:lnR>
                    <a:lnT w="1587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Efficient baseline, knowledge distillation</a:t>
                      </a:r>
                    </a:p>
                  </a:txBody>
                  <a:tcPr anchor="ctr">
                    <a:lnL w="9525" cap="rnd" cmpd="sng" algn="ctr">
                      <a:noFill/>
                      <a:prstDash val="solid"/>
                    </a:lnL>
                    <a:lnR w="9525" cap="rnd" cmpd="sng" algn="ctr">
                      <a:noFill/>
                      <a:prstDash val="solid"/>
                    </a:lnR>
                    <a:lnT w="1587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48339735"/>
                  </a:ext>
                </a:extLst>
              </a:tr>
              <a:tr h="370840">
                <a:tc>
                  <a:txBody>
                    <a:bodyPr/>
                    <a:lstStyle/>
                    <a:p>
                      <a:pPr algn="l"/>
                      <a:r>
                        <a:rPr lang="en-IN" sz="2000" b="1" dirty="0">
                          <a:effectLst/>
                          <a:latin typeface="Barlow" panose="00000500000000000000" pitchFamily="2" charset="0"/>
                        </a:rPr>
                        <a:t>GTE-multilingual-base</a:t>
                      </a:r>
                      <a:r>
                        <a:rPr lang="en-IN" sz="2000" b="1" baseline="30000" dirty="0">
                          <a:solidFill>
                            <a:srgbClr val="FF0000"/>
                          </a:solidFill>
                          <a:effectLst/>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[7]</a:t>
                      </a:r>
                      <a:endParaRPr lang="en-IN" sz="2000" baseline="30000" dirty="0">
                        <a:solidFill>
                          <a:srgbClr val="FF0000"/>
                        </a:solidFill>
                        <a:effectLst/>
                        <a:latin typeface="Barlow" panose="00000500000000000000" pitchFamily="2" charset="0"/>
                      </a:endParaRP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~305M</a:t>
                      </a: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8192 tokens</a:t>
                      </a: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Extended context, multilingual support</a:t>
                      </a: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31686448"/>
                  </a:ext>
                </a:extLst>
              </a:tr>
              <a:tr h="370840">
                <a:tc>
                  <a:txBody>
                    <a:bodyPr/>
                    <a:lstStyle/>
                    <a:p>
                      <a:pPr algn="l"/>
                      <a:r>
                        <a:rPr lang="en-IN" sz="2000" b="1" dirty="0">
                          <a:effectLst/>
                          <a:latin typeface="Barlow" panose="00000500000000000000" pitchFamily="2" charset="0"/>
                        </a:rPr>
                        <a:t>ModernBERT-base</a:t>
                      </a:r>
                      <a:r>
                        <a:rPr lang="en-IN" sz="2000" b="1" baseline="30000" dirty="0">
                          <a:solidFill>
                            <a:srgbClr val="FF0000"/>
                          </a:solidFill>
                          <a:effectLst/>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[6]</a:t>
                      </a:r>
                      <a:endParaRPr lang="en-IN" sz="2000" baseline="30000" dirty="0">
                        <a:solidFill>
                          <a:srgbClr val="FF0000"/>
                        </a:solidFill>
                        <a:effectLst/>
                        <a:latin typeface="Barlow" panose="00000500000000000000" pitchFamily="2" charset="0"/>
                      </a:endParaRP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~149M</a:t>
                      </a: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8192 tokens</a:t>
                      </a: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tc>
                  <a:txBody>
                    <a:bodyPr/>
                    <a:lstStyle/>
                    <a:p>
                      <a:pPr algn="l"/>
                      <a:r>
                        <a:rPr lang="en-IN" sz="2000" dirty="0">
                          <a:effectLst/>
                          <a:latin typeface="Barlow" panose="00000500000000000000" pitchFamily="2" charset="0"/>
                        </a:rPr>
                        <a:t>RoPE</a:t>
                      </a:r>
                      <a:r>
                        <a:rPr lang="en-IN" sz="2000" baseline="30000" dirty="0">
                          <a:solidFill>
                            <a:srgbClr val="FF0000"/>
                          </a:solidFill>
                          <a:effectLst/>
                          <a:latin typeface="Barlow" panose="00000500000000000000" pitchFamily="2" charset="0"/>
                          <a:hlinkClick r:id="rId4" action="ppaction://hlinksldjump">
                            <a:extLst>
                              <a:ext uri="{A12FA001-AC4F-418D-AE19-62706E023703}">
                                <ahyp:hlinkClr xmlns:ahyp="http://schemas.microsoft.com/office/drawing/2018/hyperlinkcolor" val="tx"/>
                              </a:ext>
                            </a:extLst>
                          </a:hlinkClick>
                        </a:rPr>
                        <a:t>[12]</a:t>
                      </a:r>
                      <a:r>
                        <a:rPr lang="en-IN" sz="2000" baseline="30000" dirty="0">
                          <a:effectLst/>
                          <a:latin typeface="Barlow" panose="00000500000000000000" pitchFamily="2" charset="0"/>
                        </a:rPr>
                        <a:t>, </a:t>
                      </a:r>
                      <a:r>
                        <a:rPr lang="en-IN" sz="2000" dirty="0">
                          <a:effectLst/>
                          <a:latin typeface="Barlow" panose="00000500000000000000" pitchFamily="2" charset="0"/>
                        </a:rPr>
                        <a:t>Flash Attention</a:t>
                      </a:r>
                      <a:r>
                        <a:rPr lang="en-IN" sz="2000" baseline="30000" dirty="0">
                          <a:solidFill>
                            <a:srgbClr val="FF0000"/>
                          </a:solidFill>
                          <a:effectLst/>
                          <a:latin typeface="Barlow" panose="00000500000000000000" pitchFamily="2" charset="0"/>
                          <a:hlinkClick r:id="rId4" action="ppaction://hlinksldjump">
                            <a:extLst>
                              <a:ext uri="{A12FA001-AC4F-418D-AE19-62706E023703}">
                                <ahyp:hlinkClr xmlns:ahyp="http://schemas.microsoft.com/office/drawing/2018/hyperlinkcolor" val="tx"/>
                              </a:ext>
                            </a:extLst>
                          </a:hlinkClick>
                        </a:rPr>
                        <a:t>[13]</a:t>
                      </a:r>
                      <a:r>
                        <a:rPr lang="en-IN" sz="2000" dirty="0">
                          <a:effectLst/>
                          <a:latin typeface="Barlow" panose="00000500000000000000" pitchFamily="2" charset="0"/>
                        </a:rPr>
                        <a:t>, GeGLU</a:t>
                      </a:r>
                      <a:r>
                        <a:rPr lang="en-IN" sz="2000" baseline="30000" dirty="0">
                          <a:solidFill>
                            <a:srgbClr val="FF0000"/>
                          </a:solidFill>
                          <a:effectLst/>
                          <a:latin typeface="Barlow" panose="00000500000000000000" pitchFamily="2" charset="0"/>
                          <a:hlinkClick r:id="rId4" action="ppaction://hlinksldjump">
                            <a:extLst>
                              <a:ext uri="{A12FA001-AC4F-418D-AE19-62706E023703}">
                                <ahyp:hlinkClr xmlns:ahyp="http://schemas.microsoft.com/office/drawing/2018/hyperlinkcolor" val="tx"/>
                              </a:ext>
                            </a:extLst>
                          </a:hlinkClick>
                        </a:rPr>
                        <a:t>[14]</a:t>
                      </a:r>
                      <a:endParaRPr lang="en-IN" sz="2000" baseline="30000" dirty="0">
                        <a:solidFill>
                          <a:srgbClr val="FF0000"/>
                        </a:solidFill>
                        <a:effectLst/>
                        <a:latin typeface="Barlow" panose="00000500000000000000" pitchFamily="2" charset="0"/>
                      </a:endParaRPr>
                    </a:p>
                  </a:txBody>
                  <a:tcPr anchor="ctr">
                    <a:lnL w="9525" cap="rnd" cmpd="sng" algn="ctr">
                      <a:noFill/>
                      <a:prstDash val="solid"/>
                    </a:lnL>
                    <a:lnR w="9525" cap="rnd" cmpd="sng" algn="ctr">
                      <a:noFill/>
                      <a:prstDash val="solid"/>
                    </a:lnR>
                    <a:lnT w="9525" cap="rnd" cmpd="sng" algn="ctr">
                      <a:noFill/>
                      <a:prstDash val="solid"/>
                    </a:lnT>
                    <a:lnB w="9525" cap="rnd" cmpd="sng" algn="ctr">
                      <a:noFill/>
                      <a:prstDash val="soli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44968829"/>
                  </a:ext>
                </a:extLst>
              </a:tr>
            </a:tbl>
          </a:graphicData>
        </a:graphic>
      </p:graphicFrame>
      <p:sp>
        <p:nvSpPr>
          <p:cNvPr id="4" name="Arrow: Pentagon 3">
            <a:extLst>
              <a:ext uri="{FF2B5EF4-FFF2-40B4-BE49-F238E27FC236}">
                <a16:creationId xmlns:a16="http://schemas.microsoft.com/office/drawing/2014/main" id="{A01696DB-BADC-B932-7535-D92B47A1AC19}"/>
              </a:ext>
            </a:extLst>
          </p:cNvPr>
          <p:cNvSpPr/>
          <p:nvPr/>
        </p:nvSpPr>
        <p:spPr>
          <a:xfrm>
            <a:off x="596895" y="830509"/>
            <a:ext cx="896345" cy="45946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6A5F860-B964-8247-C136-DB3C44647293}"/>
              </a:ext>
            </a:extLst>
          </p:cNvPr>
          <p:cNvSpPr txBox="1"/>
          <p:nvPr/>
        </p:nvSpPr>
        <p:spPr>
          <a:xfrm>
            <a:off x="782704" y="4801180"/>
            <a:ext cx="4704948" cy="707886"/>
          </a:xfrm>
          <a:prstGeom prst="rect">
            <a:avLst/>
          </a:prstGeom>
          <a:noFill/>
        </p:spPr>
        <p:txBody>
          <a:bodyPr wrap="square" rtlCol="0">
            <a:spAutoFit/>
          </a:bodyPr>
          <a:lstStyle/>
          <a:p>
            <a:r>
              <a:rPr lang="en-GB" sz="2000" b="1" dirty="0">
                <a:latin typeface="Barlow" panose="00000500000000000000" pitchFamily="2" charset="0"/>
              </a:rPr>
              <a:t>MiniLM:</a:t>
            </a:r>
            <a:r>
              <a:rPr lang="en-GB" sz="2000" dirty="0">
                <a:latin typeface="Barlow" panose="00000500000000000000" pitchFamily="2" charset="0"/>
              </a:rPr>
              <a:t> Efficiency-focused for resource-constrained scenarios</a:t>
            </a:r>
          </a:p>
        </p:txBody>
      </p:sp>
      <p:sp>
        <p:nvSpPr>
          <p:cNvPr id="6" name="TextBox 5">
            <a:extLst>
              <a:ext uri="{FF2B5EF4-FFF2-40B4-BE49-F238E27FC236}">
                <a16:creationId xmlns:a16="http://schemas.microsoft.com/office/drawing/2014/main" id="{0233F026-A0B3-B02F-D48E-918F79CD29F0}"/>
              </a:ext>
            </a:extLst>
          </p:cNvPr>
          <p:cNvSpPr txBox="1"/>
          <p:nvPr/>
        </p:nvSpPr>
        <p:spPr>
          <a:xfrm>
            <a:off x="6518245" y="4801180"/>
            <a:ext cx="5220749" cy="707886"/>
          </a:xfrm>
          <a:prstGeom prst="rect">
            <a:avLst/>
          </a:prstGeom>
          <a:noFill/>
        </p:spPr>
        <p:txBody>
          <a:bodyPr wrap="square" rtlCol="0">
            <a:spAutoFit/>
          </a:bodyPr>
          <a:lstStyle/>
          <a:p>
            <a:r>
              <a:rPr lang="en-GB" sz="2000" b="1" dirty="0">
                <a:latin typeface="Barlow" panose="00000500000000000000" pitchFamily="2" charset="0"/>
              </a:rPr>
              <a:t>GTE:</a:t>
            </a:r>
            <a:r>
              <a:rPr lang="en-GB" sz="2000" dirty="0">
                <a:latin typeface="Barlow" panose="00000500000000000000" pitchFamily="2" charset="0"/>
              </a:rPr>
              <a:t> Extended context for comprehensive document analysis</a:t>
            </a:r>
          </a:p>
        </p:txBody>
      </p:sp>
      <p:sp>
        <p:nvSpPr>
          <p:cNvPr id="10" name="TextBox 9">
            <a:extLst>
              <a:ext uri="{FF2B5EF4-FFF2-40B4-BE49-F238E27FC236}">
                <a16:creationId xmlns:a16="http://schemas.microsoft.com/office/drawing/2014/main" id="{BFA4BBCA-1F4A-4863-3C5A-8ED609E0F60F}"/>
              </a:ext>
            </a:extLst>
          </p:cNvPr>
          <p:cNvSpPr txBox="1"/>
          <p:nvPr/>
        </p:nvSpPr>
        <p:spPr>
          <a:xfrm>
            <a:off x="3537861" y="5763237"/>
            <a:ext cx="4704948" cy="707886"/>
          </a:xfrm>
          <a:prstGeom prst="rect">
            <a:avLst/>
          </a:prstGeom>
          <a:noFill/>
        </p:spPr>
        <p:txBody>
          <a:bodyPr wrap="square" rtlCol="0">
            <a:spAutoFit/>
          </a:bodyPr>
          <a:lstStyle/>
          <a:p>
            <a:r>
              <a:rPr lang="en-GB" sz="2000" b="1" dirty="0">
                <a:latin typeface="Barlow" panose="00000500000000000000" pitchFamily="2" charset="0"/>
              </a:rPr>
              <a:t>ModernBERT:</a:t>
            </a:r>
            <a:r>
              <a:rPr lang="en-GB" sz="2000" dirty="0">
                <a:latin typeface="Barlow" panose="00000500000000000000" pitchFamily="2" charset="0"/>
              </a:rPr>
              <a:t> State-of-the-art with advanced architectural innovations</a:t>
            </a:r>
          </a:p>
        </p:txBody>
      </p:sp>
    </p:spTree>
    <p:extLst>
      <p:ext uri="{BB962C8B-B14F-4D97-AF65-F5344CB8AC3E}">
        <p14:creationId xmlns:p14="http://schemas.microsoft.com/office/powerpoint/2010/main" val="1541546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13AF9-D74D-C4B9-6FB6-E42134EEC34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E827B3D-F915-4993-C941-A3487448D855}"/>
              </a:ext>
            </a:extLst>
          </p:cNvPr>
          <p:cNvSpPr>
            <a:spLocks noGrp="1"/>
          </p:cNvSpPr>
          <p:nvPr>
            <p:ph type="body" sz="half" idx="2"/>
          </p:nvPr>
        </p:nvSpPr>
        <p:spPr>
          <a:xfrm>
            <a:off x="741512" y="1091843"/>
            <a:ext cx="10708975" cy="5044557"/>
          </a:xfrm>
        </p:spPr>
        <p:txBody>
          <a:bodyPr>
            <a:normAutofit/>
          </a:bodyPr>
          <a:lstStyle/>
          <a:p>
            <a:r>
              <a:rPr lang="en-GB" sz="3000" b="1" dirty="0">
                <a:latin typeface="Barlow Medium" panose="00000600000000000000" pitchFamily="2" charset="0"/>
              </a:rPr>
              <a:t> ⚙️ </a:t>
            </a:r>
            <a:r>
              <a:rPr lang="en-IN" sz="3000" b="1" dirty="0">
                <a:latin typeface="Barlow Medium" panose="00000600000000000000" pitchFamily="2" charset="0"/>
              </a:rPr>
              <a:t>Hyperparameter Settings</a:t>
            </a:r>
          </a:p>
          <a:p>
            <a:endParaRPr lang="en-IN" sz="3000" b="1" dirty="0">
              <a:latin typeface="Barlow Medium" panose="00000600000000000000" pitchFamily="2" charset="0"/>
            </a:endParaRPr>
          </a:p>
          <a:p>
            <a:endParaRPr lang="en-IN" sz="3000" b="1" dirty="0">
              <a:latin typeface="Barlow Medium" panose="00000600000000000000" pitchFamily="2" charset="0"/>
            </a:endParaRPr>
          </a:p>
        </p:txBody>
      </p:sp>
      <p:graphicFrame>
        <p:nvGraphicFramePr>
          <p:cNvPr id="6" name="Table 5">
            <a:extLst>
              <a:ext uri="{FF2B5EF4-FFF2-40B4-BE49-F238E27FC236}">
                <a16:creationId xmlns:a16="http://schemas.microsoft.com/office/drawing/2014/main" id="{2A877A18-81E0-4688-5F13-8FFB50660AB7}"/>
              </a:ext>
            </a:extLst>
          </p:cNvPr>
          <p:cNvGraphicFramePr>
            <a:graphicFrameLocks noGrp="1"/>
          </p:cNvGraphicFramePr>
          <p:nvPr>
            <p:extLst>
              <p:ext uri="{D42A27DB-BD31-4B8C-83A1-F6EECF244321}">
                <p14:modId xmlns:p14="http://schemas.microsoft.com/office/powerpoint/2010/main" val="1270312117"/>
              </p:ext>
            </p:extLst>
          </p:nvPr>
        </p:nvGraphicFramePr>
        <p:xfrm>
          <a:off x="851383" y="2131060"/>
          <a:ext cx="8524113" cy="3048000"/>
        </p:xfrm>
        <a:graphic>
          <a:graphicData uri="http://schemas.openxmlformats.org/drawingml/2006/table">
            <a:tbl>
              <a:tblPr firstRow="1" bandRow="1">
                <a:tableStyleId>{69C7853C-536D-4A76-A0AE-DD22124D55A5}</a:tableStyleId>
              </a:tblPr>
              <a:tblGrid>
                <a:gridCol w="2372456">
                  <a:extLst>
                    <a:ext uri="{9D8B030D-6E8A-4147-A177-3AD203B41FA5}">
                      <a16:colId xmlns:a16="http://schemas.microsoft.com/office/drawing/2014/main" val="289530700"/>
                    </a:ext>
                  </a:extLst>
                </a:gridCol>
                <a:gridCol w="3310286">
                  <a:extLst>
                    <a:ext uri="{9D8B030D-6E8A-4147-A177-3AD203B41FA5}">
                      <a16:colId xmlns:a16="http://schemas.microsoft.com/office/drawing/2014/main" val="986979421"/>
                    </a:ext>
                  </a:extLst>
                </a:gridCol>
                <a:gridCol w="2841371">
                  <a:extLst>
                    <a:ext uri="{9D8B030D-6E8A-4147-A177-3AD203B41FA5}">
                      <a16:colId xmlns:a16="http://schemas.microsoft.com/office/drawing/2014/main" val="414445897"/>
                    </a:ext>
                  </a:extLst>
                </a:gridCol>
              </a:tblGrid>
              <a:tr h="370840">
                <a:tc>
                  <a:txBody>
                    <a:bodyPr/>
                    <a:lstStyle/>
                    <a:p>
                      <a:pPr algn="ctr"/>
                      <a:r>
                        <a:rPr lang="en-GB" sz="2400" dirty="0">
                          <a:latin typeface="Barlow SemiBold" panose="00000700000000000000" pitchFamily="2" charset="0"/>
                        </a:rPr>
                        <a:t>Parameter</a:t>
                      </a:r>
                      <a:endParaRPr lang="en-IN" sz="2400" dirty="0">
                        <a:latin typeface="Barlow SemiBold" panose="00000700000000000000" pitchFamily="2" charset="0"/>
                      </a:endParaRPr>
                    </a:p>
                  </a:txBody>
                  <a:tcPr>
                    <a:solidFill>
                      <a:srgbClr val="00B0F0"/>
                    </a:solidFill>
                  </a:tcPr>
                </a:tc>
                <a:tc>
                  <a:txBody>
                    <a:bodyPr/>
                    <a:lstStyle/>
                    <a:p>
                      <a:pPr algn="ctr"/>
                      <a:r>
                        <a:rPr lang="en-GB" sz="2400" dirty="0">
                          <a:latin typeface="Barlow SemiBold" panose="00000700000000000000" pitchFamily="2" charset="0"/>
                        </a:rPr>
                        <a:t>AdamW</a:t>
                      </a:r>
                      <a:endParaRPr lang="en-IN" sz="2400" dirty="0">
                        <a:latin typeface="Barlow SemiBold" panose="00000700000000000000" pitchFamily="2" charset="0"/>
                      </a:endParaRPr>
                    </a:p>
                  </a:txBody>
                  <a:tcPr>
                    <a:solidFill>
                      <a:srgbClr val="00B0F0"/>
                    </a:solidFill>
                  </a:tcPr>
                </a:tc>
                <a:tc>
                  <a:txBody>
                    <a:bodyPr/>
                    <a:lstStyle/>
                    <a:p>
                      <a:pPr algn="ctr"/>
                      <a:r>
                        <a:rPr lang="en-GB" sz="2400" dirty="0">
                          <a:latin typeface="Barlow SemiBold" panose="00000700000000000000" pitchFamily="2" charset="0"/>
                        </a:rPr>
                        <a:t>Lion</a:t>
                      </a:r>
                      <a:endParaRPr lang="en-IN" sz="2400" dirty="0">
                        <a:latin typeface="Barlow SemiBold" panose="00000700000000000000" pitchFamily="2" charset="0"/>
                      </a:endParaRPr>
                    </a:p>
                  </a:txBody>
                  <a:tcPr>
                    <a:solidFill>
                      <a:srgbClr val="00B0F0"/>
                    </a:solidFill>
                  </a:tcPr>
                </a:tc>
                <a:extLst>
                  <a:ext uri="{0D108BD9-81ED-4DB2-BD59-A6C34878D82A}">
                    <a16:rowId xmlns:a16="http://schemas.microsoft.com/office/drawing/2014/main" val="324739917"/>
                  </a:ext>
                </a:extLst>
              </a:tr>
              <a:tr h="370840">
                <a:tc>
                  <a:txBody>
                    <a:bodyPr/>
                    <a:lstStyle/>
                    <a:p>
                      <a:pPr algn="ctr"/>
                      <a:r>
                        <a:rPr lang="en-IN" sz="2000" b="1" dirty="0">
                          <a:solidFill>
                            <a:schemeClr val="tx1"/>
                          </a:solidFill>
                          <a:effectLst/>
                          <a:latin typeface="Barlow" panose="00000500000000000000" pitchFamily="2" charset="0"/>
                        </a:rPr>
                        <a:t>Learning Rate</a:t>
                      </a:r>
                      <a:endParaRPr lang="en-IN" sz="2000" dirty="0">
                        <a:solidFill>
                          <a:schemeClr val="tx1"/>
                        </a:solidFill>
                        <a:effectLst/>
                        <a:latin typeface="Barlow" panose="00000500000000000000" pitchFamily="2" charset="0"/>
                      </a:endParaRPr>
                    </a:p>
                  </a:txBody>
                  <a:tcPr anchor="ctr">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a:solidFill>
                            <a:schemeClr val="tx1"/>
                          </a:solidFill>
                          <a:effectLst/>
                          <a:latin typeface="Barlow" panose="00000500000000000000" pitchFamily="2" charset="0"/>
                        </a:rPr>
                        <a:t>2e-5 (standard)</a:t>
                      </a:r>
                    </a:p>
                  </a:txBody>
                  <a:tcPr anchor="ctr">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effectLst/>
                          <a:latin typeface="Barlow" panose="00000500000000000000" pitchFamily="2" charset="0"/>
                        </a:rPr>
                        <a:t>2e-5 (2e-6 for ModernBERT</a:t>
                      </a:r>
                      <a:r>
                        <a:rPr lang="en-IN" sz="2000" baseline="30000" dirty="0">
                          <a:solidFill>
                            <a:srgbClr val="FF0000"/>
                          </a:solidFill>
                          <a:effectLst/>
                          <a:latin typeface="Barlow" panose="00000500000000000000" pitchFamily="2" charset="0"/>
                          <a:hlinkClick r:id="rId2" action="ppaction://hlinksldjump">
                            <a:extLst>
                              <a:ext uri="{A12FA001-AC4F-418D-AE19-62706E023703}">
                                <ahyp:hlinkClr xmlns:ahyp="http://schemas.microsoft.com/office/drawing/2018/hyperlinkcolor" val="tx"/>
                              </a:ext>
                            </a:extLst>
                          </a:hlinkClick>
                        </a:rPr>
                        <a:t>[6]</a:t>
                      </a:r>
                      <a:r>
                        <a:rPr lang="en-IN" sz="2000" dirty="0">
                          <a:solidFill>
                            <a:schemeClr val="tx1"/>
                          </a:solidFill>
                          <a:effectLst/>
                          <a:latin typeface="Barlow" panose="00000500000000000000" pitchFamily="2" charset="0"/>
                        </a:rPr>
                        <a:t>)</a:t>
                      </a:r>
                    </a:p>
                  </a:txBody>
                  <a:tcPr anchor="ctr">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77144"/>
                  </a:ext>
                </a:extLst>
              </a:tr>
              <a:tr h="370840">
                <a:tc>
                  <a:txBody>
                    <a:bodyPr/>
                    <a:lstStyle/>
                    <a:p>
                      <a:pPr algn="ctr"/>
                      <a:r>
                        <a:rPr lang="en-IN" sz="2000" b="1">
                          <a:solidFill>
                            <a:schemeClr val="tx1"/>
                          </a:solidFill>
                          <a:effectLst/>
                          <a:latin typeface="Barlow" panose="00000500000000000000" pitchFamily="2" charset="0"/>
                        </a:rPr>
                        <a:t>Weight Decay</a:t>
                      </a:r>
                      <a:endParaRPr lang="en-IN" sz="2000">
                        <a:solidFill>
                          <a:schemeClr val="tx1"/>
                        </a:solidFill>
                        <a:effectLst/>
                        <a:latin typeface="Barlow" panose="00000500000000000000" pitchFamily="2" charset="0"/>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effectLst/>
                          <a:latin typeface="Barlow" panose="00000500000000000000" pitchFamily="2" charset="0"/>
                        </a:rPr>
                        <a:t>0.01</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a:solidFill>
                            <a:schemeClr val="tx1"/>
                          </a:solidFill>
                          <a:effectLst/>
                          <a:latin typeface="Barlow" panose="00000500000000000000" pitchFamily="2" charset="0"/>
                        </a:rPr>
                        <a:t>0.01</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8026833"/>
                  </a:ext>
                </a:extLst>
              </a:tr>
              <a:tr h="370840">
                <a:tc>
                  <a:txBody>
                    <a:bodyPr/>
                    <a:lstStyle/>
                    <a:p>
                      <a:pPr algn="ctr"/>
                      <a:r>
                        <a:rPr lang="en-IN" sz="2000" b="1">
                          <a:solidFill>
                            <a:schemeClr val="tx1"/>
                          </a:solidFill>
                          <a:effectLst/>
                          <a:latin typeface="Barlow" panose="00000500000000000000" pitchFamily="2" charset="0"/>
                        </a:rPr>
                        <a:t>Beta1</a:t>
                      </a:r>
                      <a:endParaRPr lang="en-IN" sz="2000">
                        <a:solidFill>
                          <a:schemeClr val="tx1"/>
                        </a:solidFill>
                        <a:effectLst/>
                        <a:latin typeface="Barlow" panose="00000500000000000000" pitchFamily="2" charset="0"/>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effectLst/>
                          <a:latin typeface="Barlow" panose="00000500000000000000" pitchFamily="2" charset="0"/>
                        </a:rPr>
                        <a:t>0.9</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a:solidFill>
                            <a:schemeClr val="tx1"/>
                          </a:solidFill>
                          <a:effectLst/>
                          <a:latin typeface="Barlow" panose="00000500000000000000" pitchFamily="2" charset="0"/>
                        </a:rPr>
                        <a:t>0.9</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0773565"/>
                  </a:ext>
                </a:extLst>
              </a:tr>
              <a:tr h="370840">
                <a:tc>
                  <a:txBody>
                    <a:bodyPr/>
                    <a:lstStyle/>
                    <a:p>
                      <a:pPr algn="ctr"/>
                      <a:r>
                        <a:rPr lang="en-IN" sz="2000" b="1">
                          <a:solidFill>
                            <a:schemeClr val="tx1"/>
                          </a:solidFill>
                          <a:effectLst/>
                          <a:latin typeface="Barlow" panose="00000500000000000000" pitchFamily="2" charset="0"/>
                        </a:rPr>
                        <a:t>Beta2</a:t>
                      </a:r>
                      <a:endParaRPr lang="en-IN" sz="2000">
                        <a:solidFill>
                          <a:schemeClr val="tx1"/>
                        </a:solidFill>
                        <a:effectLst/>
                        <a:latin typeface="Barlow" panose="00000500000000000000" pitchFamily="2" charset="0"/>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a:solidFill>
                            <a:schemeClr val="tx1"/>
                          </a:solidFill>
                          <a:effectLst/>
                          <a:latin typeface="Barlow" panose="00000500000000000000" pitchFamily="2" charset="0"/>
                        </a:rPr>
                        <a:t>0.999</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effectLst/>
                          <a:latin typeface="Barlow" panose="00000500000000000000" pitchFamily="2" charset="0"/>
                        </a:rPr>
                        <a:t>0.99</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9272285"/>
                  </a:ext>
                </a:extLst>
              </a:tr>
              <a:tr h="370840">
                <a:tc>
                  <a:txBody>
                    <a:bodyPr/>
                    <a:lstStyle/>
                    <a:p>
                      <a:pPr algn="ctr"/>
                      <a:r>
                        <a:rPr lang="en-IN" sz="2000" b="1">
                          <a:solidFill>
                            <a:schemeClr val="tx1"/>
                          </a:solidFill>
                          <a:effectLst/>
                          <a:latin typeface="Barlow" panose="00000500000000000000" pitchFamily="2" charset="0"/>
                        </a:rPr>
                        <a:t>Scheduler</a:t>
                      </a:r>
                      <a:endParaRPr lang="en-IN" sz="2000">
                        <a:solidFill>
                          <a:schemeClr val="tx1"/>
                        </a:solidFill>
                        <a:effectLst/>
                        <a:latin typeface="Barlow" panose="00000500000000000000" pitchFamily="2" charset="0"/>
                      </a:endParaRPr>
                    </a:p>
                  </a:txBody>
                  <a:tcPr anchor="ctr">
                    <a:lnT w="3175" cap="flat" cmpd="sng" algn="ctr">
                      <a:solidFill>
                        <a:schemeClr val="tx1"/>
                      </a:solidFill>
                      <a:prstDash val="solid"/>
                      <a:round/>
                      <a:headEnd type="none" w="med" len="med"/>
                      <a:tailEnd type="none" w="med" len="med"/>
                    </a:lnT>
                    <a:solidFill>
                      <a:schemeClr val="bg1"/>
                    </a:solidFill>
                  </a:tcPr>
                </a:tc>
                <a:tc>
                  <a:txBody>
                    <a:bodyPr/>
                    <a:lstStyle/>
                    <a:p>
                      <a:pPr algn="ctr"/>
                      <a:r>
                        <a:rPr lang="en-IN" sz="2000" dirty="0">
                          <a:solidFill>
                            <a:schemeClr val="tx1"/>
                          </a:solidFill>
                          <a:effectLst/>
                          <a:latin typeface="Barlow" panose="00000500000000000000" pitchFamily="2" charset="0"/>
                        </a:rPr>
                        <a:t>Linear</a:t>
                      </a:r>
                    </a:p>
                  </a:txBody>
                  <a:tcPr anchor="ctr">
                    <a:lnT w="3175" cap="flat" cmpd="sng" algn="ctr">
                      <a:solidFill>
                        <a:schemeClr val="tx1"/>
                      </a:solidFill>
                      <a:prstDash val="solid"/>
                      <a:round/>
                      <a:headEnd type="none" w="med" len="med"/>
                      <a:tailEnd type="none" w="med" len="med"/>
                    </a:lnT>
                    <a:solidFill>
                      <a:schemeClr val="bg1"/>
                    </a:solidFill>
                  </a:tcPr>
                </a:tc>
                <a:tc>
                  <a:txBody>
                    <a:bodyPr/>
                    <a:lstStyle/>
                    <a:p>
                      <a:pPr algn="ctr"/>
                      <a:r>
                        <a:rPr lang="en-IN" sz="2000" dirty="0">
                          <a:solidFill>
                            <a:schemeClr val="tx1"/>
                          </a:solidFill>
                          <a:effectLst/>
                          <a:latin typeface="Barlow" panose="00000500000000000000" pitchFamily="2" charset="0"/>
                        </a:rPr>
                        <a:t>Cosine Annealing</a:t>
                      </a:r>
                      <a:r>
                        <a:rPr lang="en-IN" sz="2000" b="0" baseline="30000" dirty="0">
                          <a:solidFill>
                            <a:srgbClr val="FF0000"/>
                          </a:solidFill>
                          <a:effectLst/>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[15]</a:t>
                      </a:r>
                      <a:r>
                        <a:rPr lang="en-IN" sz="2000" b="0" dirty="0">
                          <a:solidFill>
                            <a:srgbClr val="FF0000"/>
                          </a:solidFill>
                          <a:effectLst/>
                          <a:latin typeface="Barlow" panose="00000500000000000000" pitchFamily="2" charset="0"/>
                          <a:hlinkClick r:id="rId3" action="ppaction://hlinksldjump">
                            <a:extLst>
                              <a:ext uri="{A12FA001-AC4F-418D-AE19-62706E023703}">
                                <ahyp:hlinkClr xmlns:ahyp="http://schemas.microsoft.com/office/drawing/2018/hyperlinkcolor" val="tx"/>
                              </a:ext>
                            </a:extLst>
                          </a:hlinkClick>
                        </a:rPr>
                        <a:t> </a:t>
                      </a:r>
                      <a:r>
                        <a:rPr lang="en-IN" sz="2000" dirty="0">
                          <a:solidFill>
                            <a:schemeClr val="tx1"/>
                          </a:solidFill>
                          <a:effectLst/>
                          <a:latin typeface="Barlow" panose="00000500000000000000" pitchFamily="2" charset="0"/>
                        </a:rPr>
                        <a:t>(ModernBERT)</a:t>
                      </a:r>
                    </a:p>
                  </a:txBody>
                  <a:tcPr anchor="ctr">
                    <a:lnT w="317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076199374"/>
                  </a:ext>
                </a:extLst>
              </a:tr>
            </a:tbl>
          </a:graphicData>
        </a:graphic>
      </p:graphicFrame>
    </p:spTree>
    <p:extLst>
      <p:ext uri="{BB962C8B-B14F-4D97-AF65-F5344CB8AC3E}">
        <p14:creationId xmlns:p14="http://schemas.microsoft.com/office/powerpoint/2010/main" val="2134400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D75B-E2A9-C4B3-3CD3-A5C406BB3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BD66D-F91A-5ADF-6700-018F12C9F2FD}"/>
              </a:ext>
            </a:extLst>
          </p:cNvPr>
          <p:cNvSpPr>
            <a:spLocks noGrp="1"/>
          </p:cNvSpPr>
          <p:nvPr>
            <p:ph type="title"/>
          </p:nvPr>
        </p:nvSpPr>
        <p:spPr/>
        <p:txBody>
          <a:bodyPr/>
          <a:lstStyle/>
          <a:p>
            <a:r>
              <a:rPr lang="en-GB" dirty="0">
                <a:latin typeface="Barlow ExtraBold" panose="00000900000000000000" pitchFamily="2" charset="0"/>
              </a:rPr>
              <a:t>Evaluation Metrics</a:t>
            </a:r>
            <a:endParaRPr lang="en-IN" dirty="0">
              <a:latin typeface="Barlow ExtraBold" panose="00000900000000000000" pitchFamily="2" charset="0"/>
            </a:endParaRPr>
          </a:p>
        </p:txBody>
      </p:sp>
      <p:sp>
        <p:nvSpPr>
          <p:cNvPr id="6" name="TextBox 5">
            <a:extLst>
              <a:ext uri="{FF2B5EF4-FFF2-40B4-BE49-F238E27FC236}">
                <a16:creationId xmlns:a16="http://schemas.microsoft.com/office/drawing/2014/main" id="{08A70968-9E81-C503-0B4B-8B6C48D7B9E3}"/>
              </a:ext>
            </a:extLst>
          </p:cNvPr>
          <p:cNvSpPr txBox="1"/>
          <p:nvPr/>
        </p:nvSpPr>
        <p:spPr>
          <a:xfrm>
            <a:off x="527427" y="2346760"/>
            <a:ext cx="5843266" cy="461665"/>
          </a:xfrm>
          <a:prstGeom prst="rect">
            <a:avLst/>
          </a:prstGeom>
          <a:noFill/>
        </p:spPr>
        <p:txBody>
          <a:bodyPr wrap="none" rtlCol="0">
            <a:spAutoFit/>
          </a:bodyPr>
          <a:lstStyle/>
          <a:p>
            <a:r>
              <a:rPr lang="en-GB" sz="2400" dirty="0">
                <a:latin typeface="Barlow Medium" panose="00000600000000000000" pitchFamily="2" charset="0"/>
              </a:rPr>
              <a:t>MRR@10 (Mean Reciprocal Rank at rank 10)</a:t>
            </a:r>
          </a:p>
        </p:txBody>
      </p:sp>
      <p:sp>
        <p:nvSpPr>
          <p:cNvPr id="7" name="TextBox 6">
            <a:extLst>
              <a:ext uri="{FF2B5EF4-FFF2-40B4-BE49-F238E27FC236}">
                <a16:creationId xmlns:a16="http://schemas.microsoft.com/office/drawing/2014/main" id="{6DE2AE7A-E951-4E0D-A276-9B350F53C9C0}"/>
              </a:ext>
            </a:extLst>
          </p:cNvPr>
          <p:cNvSpPr txBox="1"/>
          <p:nvPr/>
        </p:nvSpPr>
        <p:spPr>
          <a:xfrm>
            <a:off x="527427" y="2906550"/>
            <a:ext cx="8908852" cy="923330"/>
          </a:xfrm>
          <a:prstGeom prst="rect">
            <a:avLst/>
          </a:prstGeom>
          <a:noFill/>
        </p:spPr>
        <p:txBody>
          <a:bodyPr wrap="square" rtlCol="0">
            <a:spAutoFit/>
          </a:bodyPr>
          <a:lstStyle/>
          <a:p>
            <a:r>
              <a:rPr lang="en-GB" dirty="0">
                <a:latin typeface="Barlow" panose="00000500000000000000" pitchFamily="2" charset="0"/>
              </a:rPr>
              <a:t>MRR@10 measures the average of reciprocal ranks of the first relevant document found within the top 10 results across all queries. It emphasizes finding at least one relevant document early in the ranking.</a:t>
            </a:r>
          </a:p>
        </p:txBody>
      </p:sp>
      <p:pic>
        <p:nvPicPr>
          <p:cNvPr id="3" name="@holatex&#10;\begin{document}&#10;\begin{equation}&#10;\text{MRR@10} = \frac{1}{|Q|} \sum_{q=1}^{|Q|} \frac{1}{\text{rank}_q}&#10;\end{equation}&#10;&#10;where $\text{rank}_q$ is the position of the first relevant document for query $q$ within the top 10 results. If no relevant document is found in the top 10, the reciprocal rank is 0.&#10;&#10;\end{document}">
            <a:extLst>
              <a:ext uri="{FF2B5EF4-FFF2-40B4-BE49-F238E27FC236}">
                <a16:creationId xmlns:a16="http://schemas.microsoft.com/office/drawing/2014/main" id="{16C35BE9-305F-19E8-B78E-0573479DA125}"/>
              </a:ext>
            </a:extLst>
          </p:cNvPr>
          <p:cNvPicPr>
            <a:picLocks/>
          </p:cNvPicPr>
          <p:nvPr/>
        </p:nvPicPr>
        <p:blipFill>
          <a:blip r:embed="rId2"/>
          <a:stretch>
            <a:fillRect/>
          </a:stretch>
        </p:blipFill>
        <p:spPr>
          <a:xfrm>
            <a:off x="1925767" y="4488752"/>
            <a:ext cx="6345777" cy="1660080"/>
          </a:xfrm>
          <a:prstGeom prst="rect">
            <a:avLst/>
          </a:prstGeom>
        </p:spPr>
      </p:pic>
    </p:spTree>
    <p:extLst>
      <p:ext uri="{BB962C8B-B14F-4D97-AF65-F5344CB8AC3E}">
        <p14:creationId xmlns:p14="http://schemas.microsoft.com/office/powerpoint/2010/main" val="2752368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4AAE-A61A-4FE9-7D4D-04001D6A33A7}"/>
              </a:ext>
            </a:extLst>
          </p:cNvPr>
          <p:cNvSpPr>
            <a:spLocks noGrp="1"/>
          </p:cNvSpPr>
          <p:nvPr>
            <p:ph type="title"/>
          </p:nvPr>
        </p:nvSpPr>
        <p:spPr/>
        <p:txBody>
          <a:bodyPr/>
          <a:lstStyle/>
          <a:p>
            <a:r>
              <a:rPr lang="en-GB" dirty="0">
                <a:latin typeface="Barlow ExtraBold" panose="00000900000000000000" pitchFamily="2" charset="0"/>
              </a:rPr>
              <a:t>Evaluation Metrics</a:t>
            </a:r>
            <a:endParaRPr lang="en-IN" dirty="0">
              <a:latin typeface="Barlow ExtraBold" panose="00000900000000000000" pitchFamily="2" charset="0"/>
            </a:endParaRPr>
          </a:p>
        </p:txBody>
      </p:sp>
      <p:sp>
        <p:nvSpPr>
          <p:cNvPr id="6" name="TextBox 5">
            <a:extLst>
              <a:ext uri="{FF2B5EF4-FFF2-40B4-BE49-F238E27FC236}">
                <a16:creationId xmlns:a16="http://schemas.microsoft.com/office/drawing/2014/main" id="{F72B3316-1ADE-DDFF-23B4-6BC8F225AD2A}"/>
              </a:ext>
            </a:extLst>
          </p:cNvPr>
          <p:cNvSpPr txBox="1"/>
          <p:nvPr/>
        </p:nvSpPr>
        <p:spPr>
          <a:xfrm>
            <a:off x="527427" y="2346760"/>
            <a:ext cx="8938665" cy="461665"/>
          </a:xfrm>
          <a:prstGeom prst="rect">
            <a:avLst/>
          </a:prstGeom>
          <a:noFill/>
        </p:spPr>
        <p:txBody>
          <a:bodyPr wrap="none" rtlCol="0">
            <a:spAutoFit/>
          </a:bodyPr>
          <a:lstStyle/>
          <a:p>
            <a:r>
              <a:rPr lang="en-GB" sz="2400" dirty="0">
                <a:latin typeface="Barlow Medium" panose="00000600000000000000" pitchFamily="2" charset="0"/>
              </a:rPr>
              <a:t>NDCG@10 - Normalized Discounted Cumulative Gain at rank 10</a:t>
            </a:r>
            <a:r>
              <a:rPr lang="en-GB" sz="2400" baseline="30000" dirty="0">
                <a:solidFill>
                  <a:srgbClr val="FF0000"/>
                </a:solidFill>
                <a:latin typeface="Barlow Medium" panose="00000600000000000000" pitchFamily="2" charset="0"/>
                <a:hlinkClick r:id="rId2" action="ppaction://hlinksldjump">
                  <a:extLst>
                    <a:ext uri="{A12FA001-AC4F-418D-AE19-62706E023703}">
                      <ahyp:hlinkClr xmlns:ahyp="http://schemas.microsoft.com/office/drawing/2018/hyperlinkcolor" val="tx"/>
                    </a:ext>
                  </a:extLst>
                </a:hlinkClick>
              </a:rPr>
              <a:t>[16]</a:t>
            </a:r>
            <a:endParaRPr lang="en-GB" sz="2400" baseline="30000" dirty="0">
              <a:solidFill>
                <a:srgbClr val="FF0000"/>
              </a:solidFill>
              <a:latin typeface="Barlow Medium" panose="00000600000000000000" pitchFamily="2" charset="0"/>
            </a:endParaRPr>
          </a:p>
        </p:txBody>
      </p:sp>
      <p:sp>
        <p:nvSpPr>
          <p:cNvPr id="7" name="TextBox 6">
            <a:extLst>
              <a:ext uri="{FF2B5EF4-FFF2-40B4-BE49-F238E27FC236}">
                <a16:creationId xmlns:a16="http://schemas.microsoft.com/office/drawing/2014/main" id="{061EE149-ABB6-78F4-BB33-DDCA828B8076}"/>
              </a:ext>
            </a:extLst>
          </p:cNvPr>
          <p:cNvSpPr txBox="1"/>
          <p:nvPr/>
        </p:nvSpPr>
        <p:spPr>
          <a:xfrm>
            <a:off x="527427" y="2906550"/>
            <a:ext cx="8908852" cy="923330"/>
          </a:xfrm>
          <a:prstGeom prst="rect">
            <a:avLst/>
          </a:prstGeom>
          <a:noFill/>
        </p:spPr>
        <p:txBody>
          <a:bodyPr wrap="square" rtlCol="0">
            <a:spAutoFit/>
          </a:bodyPr>
          <a:lstStyle/>
          <a:p>
            <a:r>
              <a:rPr lang="en-GB" dirty="0">
                <a:latin typeface="Barlow" panose="00000500000000000000" pitchFamily="2" charset="0"/>
              </a:rPr>
              <a:t>NDCG@10 measures the quality of ranking systems by considering both the relevance of retrieved documents and their positions in the ranking. It is normalized by the ideal DCG to ensure values between 0 and 1, where higher values indicate better performance.</a:t>
            </a:r>
          </a:p>
        </p:txBody>
      </p:sp>
      <p:pic>
        <p:nvPicPr>
          <p:cNvPr id="8" name="@holatex&#10;\begin{document}&#10;\begin{equation}&#10;\text{NDCG@10} = \frac{\text{DCG@10}}{\text{IDCG@10}}&#10;\end{equation}&#10;&#10;where:&#10;\begin{equation}&#10;\text{DCG@10} = \sum_{i=1}^{10} \frac{2^{rel_i} - 1}{\log_2(i + 1)}&#10;\end{equation}&#10;&#10;and $rel_i$ is the relevance score of the document at position $i$, and IDCG@10 is the ideal DCG computed using the best possible ranking.&#10;&#10;\end{document}">
            <a:extLst>
              <a:ext uri="{FF2B5EF4-FFF2-40B4-BE49-F238E27FC236}">
                <a16:creationId xmlns:a16="http://schemas.microsoft.com/office/drawing/2014/main" id="{E2452F6C-0672-68CF-1E6D-B7CB3B53A0CE}"/>
              </a:ext>
            </a:extLst>
          </p:cNvPr>
          <p:cNvPicPr>
            <a:picLocks/>
          </p:cNvPicPr>
          <p:nvPr/>
        </p:nvPicPr>
        <p:blipFill>
          <a:blip r:embed="rId3"/>
          <a:stretch>
            <a:fillRect/>
          </a:stretch>
        </p:blipFill>
        <p:spPr>
          <a:xfrm>
            <a:off x="1117600" y="4383878"/>
            <a:ext cx="6959600" cy="2026933"/>
          </a:xfrm>
          <a:prstGeom prst="rect">
            <a:avLst/>
          </a:prstGeom>
        </p:spPr>
      </p:pic>
    </p:spTree>
    <p:extLst>
      <p:ext uri="{BB962C8B-B14F-4D97-AF65-F5344CB8AC3E}">
        <p14:creationId xmlns:p14="http://schemas.microsoft.com/office/powerpoint/2010/main" val="1961845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2142B-CABB-E448-37A3-4F258B187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431C-6B20-7ECC-0878-5CB20AFFC0D4}"/>
              </a:ext>
            </a:extLst>
          </p:cNvPr>
          <p:cNvSpPr>
            <a:spLocks noGrp="1"/>
          </p:cNvSpPr>
          <p:nvPr>
            <p:ph type="title"/>
          </p:nvPr>
        </p:nvSpPr>
        <p:spPr bwMode="white"/>
        <p:txBody>
          <a:bodyPr/>
          <a:lstStyle/>
          <a:p>
            <a:r>
              <a:rPr lang="en-US" sz="4000" dirty="0">
                <a:latin typeface="Barlow ExtraBold" panose="00000900000000000000" pitchFamily="2" charset="0"/>
              </a:rPr>
              <a:t>Results &amp; Discussion</a:t>
            </a:r>
          </a:p>
        </p:txBody>
      </p:sp>
    </p:spTree>
    <p:extLst>
      <p:ext uri="{BB962C8B-B14F-4D97-AF65-F5344CB8AC3E}">
        <p14:creationId xmlns:p14="http://schemas.microsoft.com/office/powerpoint/2010/main" val="3650958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E59D8A-8F44-F913-BF57-5EAD1721DC70}"/>
              </a:ext>
            </a:extLst>
          </p:cNvPr>
          <p:cNvSpPr txBox="1"/>
          <p:nvPr/>
        </p:nvSpPr>
        <p:spPr>
          <a:xfrm>
            <a:off x="669471" y="734786"/>
            <a:ext cx="3070071" cy="707886"/>
          </a:xfrm>
          <a:prstGeom prst="rect">
            <a:avLst/>
          </a:prstGeom>
          <a:noFill/>
        </p:spPr>
        <p:txBody>
          <a:bodyPr wrap="none" rtlCol="0">
            <a:spAutoFit/>
          </a:bodyPr>
          <a:lstStyle/>
          <a:p>
            <a:r>
              <a:rPr lang="en-GB" sz="4000" dirty="0">
                <a:solidFill>
                  <a:schemeClr val="bg1"/>
                </a:solidFill>
                <a:latin typeface="Barlow ExtraBold" panose="00000900000000000000" pitchFamily="2" charset="0"/>
              </a:rPr>
              <a:t>Main Results</a:t>
            </a:r>
            <a:endParaRPr lang="en-IN" sz="4000" dirty="0">
              <a:solidFill>
                <a:schemeClr val="bg1"/>
              </a:solidFill>
              <a:latin typeface="Barlow ExtraBold" panose="00000900000000000000" pitchFamily="2" charset="0"/>
            </a:endParaRPr>
          </a:p>
        </p:txBody>
      </p:sp>
      <p:graphicFrame>
        <p:nvGraphicFramePr>
          <p:cNvPr id="6" name="Table 5">
            <a:extLst>
              <a:ext uri="{FF2B5EF4-FFF2-40B4-BE49-F238E27FC236}">
                <a16:creationId xmlns:a16="http://schemas.microsoft.com/office/drawing/2014/main" id="{441E21B4-50AA-0113-AF6D-B8F5CA9CE0B4}"/>
              </a:ext>
            </a:extLst>
          </p:cNvPr>
          <p:cNvGraphicFramePr>
            <a:graphicFrameLocks noGrp="1"/>
          </p:cNvGraphicFramePr>
          <p:nvPr>
            <p:extLst>
              <p:ext uri="{D42A27DB-BD31-4B8C-83A1-F6EECF244321}">
                <p14:modId xmlns:p14="http://schemas.microsoft.com/office/powerpoint/2010/main" val="2830339552"/>
              </p:ext>
            </p:extLst>
          </p:nvPr>
        </p:nvGraphicFramePr>
        <p:xfrm>
          <a:off x="1668000" y="2286584"/>
          <a:ext cx="8856000" cy="3059998"/>
        </p:xfrm>
        <a:graphic>
          <a:graphicData uri="http://schemas.openxmlformats.org/drawingml/2006/table">
            <a:tbl>
              <a:tblPr firstRow="1" bandRow="1">
                <a:tableStyleId>{69C7853C-536D-4A76-A0AE-DD22124D55A5}</a:tableStyleId>
              </a:tblPr>
              <a:tblGrid>
                <a:gridCol w="1476000">
                  <a:extLst>
                    <a:ext uri="{9D8B030D-6E8A-4147-A177-3AD203B41FA5}">
                      <a16:colId xmlns:a16="http://schemas.microsoft.com/office/drawing/2014/main" val="1585879530"/>
                    </a:ext>
                  </a:extLst>
                </a:gridCol>
                <a:gridCol w="1476000">
                  <a:extLst>
                    <a:ext uri="{9D8B030D-6E8A-4147-A177-3AD203B41FA5}">
                      <a16:colId xmlns:a16="http://schemas.microsoft.com/office/drawing/2014/main" val="1389322177"/>
                    </a:ext>
                  </a:extLst>
                </a:gridCol>
                <a:gridCol w="1476000">
                  <a:extLst>
                    <a:ext uri="{9D8B030D-6E8A-4147-A177-3AD203B41FA5}">
                      <a16:colId xmlns:a16="http://schemas.microsoft.com/office/drawing/2014/main" val="1757895171"/>
                    </a:ext>
                  </a:extLst>
                </a:gridCol>
                <a:gridCol w="1476000">
                  <a:extLst>
                    <a:ext uri="{9D8B030D-6E8A-4147-A177-3AD203B41FA5}">
                      <a16:colId xmlns:a16="http://schemas.microsoft.com/office/drawing/2014/main" val="1594094915"/>
                    </a:ext>
                  </a:extLst>
                </a:gridCol>
                <a:gridCol w="1476000">
                  <a:extLst>
                    <a:ext uri="{9D8B030D-6E8A-4147-A177-3AD203B41FA5}">
                      <a16:colId xmlns:a16="http://schemas.microsoft.com/office/drawing/2014/main" val="2607518578"/>
                    </a:ext>
                  </a:extLst>
                </a:gridCol>
                <a:gridCol w="1476000">
                  <a:extLst>
                    <a:ext uri="{9D8B030D-6E8A-4147-A177-3AD203B41FA5}">
                      <a16:colId xmlns:a16="http://schemas.microsoft.com/office/drawing/2014/main" val="1666691909"/>
                    </a:ext>
                  </a:extLst>
                </a:gridCol>
              </a:tblGrid>
              <a:tr h="465892">
                <a:tc>
                  <a:txBody>
                    <a:bodyPr/>
                    <a:lstStyle/>
                    <a:p>
                      <a:pPr algn="ctr"/>
                      <a:r>
                        <a:rPr lang="en-IN" sz="2200" b="1" dirty="0">
                          <a:solidFill>
                            <a:srgbClr val="FFFFFF"/>
                          </a:solidFill>
                          <a:effectLst/>
                          <a:latin typeface="Barlow SemiBold" panose="00000700000000000000" pitchFamily="2" charset="0"/>
                        </a:rPr>
                        <a:t>Model</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Optimizer</a:t>
                      </a:r>
                    </a:p>
                  </a:txBody>
                  <a:tcPr anchor="ctr">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NDCG@10</a:t>
                      </a:r>
                    </a:p>
                  </a:txBody>
                  <a:tcPr anchor="ctr">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MRR@10</a:t>
                      </a:r>
                    </a:p>
                  </a:txBody>
                  <a:tcPr anchor="ctr">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Recall@10</a:t>
                      </a:r>
                    </a:p>
                  </a:txBody>
                  <a:tcPr anchor="ctr">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P@10</a:t>
                      </a:r>
                    </a:p>
                  </a:txBody>
                  <a:tcPr anchor="ctr">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133248602"/>
                  </a:ext>
                </a:extLst>
              </a:tr>
              <a:tr h="432351">
                <a:tc rowSpan="2">
                  <a:txBody>
                    <a:bodyPr/>
                    <a:lstStyle/>
                    <a:p>
                      <a:pPr algn="ctr"/>
                      <a:r>
                        <a:rPr lang="en-IN" b="1" dirty="0">
                          <a:solidFill>
                            <a:srgbClr val="334155"/>
                          </a:solidFill>
                          <a:effectLst/>
                          <a:latin typeface="Barlow Medium" panose="00000600000000000000" pitchFamily="2" charset="0"/>
                        </a:rPr>
                        <a:t>MiniLM</a:t>
                      </a: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AdamW</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0" dirty="0">
                          <a:solidFill>
                            <a:srgbClr val="334155"/>
                          </a:solidFill>
                          <a:effectLst/>
                          <a:latin typeface="Barlow Medium" panose="00000600000000000000" pitchFamily="2" charset="0"/>
                        </a:rPr>
                        <a:t>0.7127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0.5826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0.1706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0.8023</a:t>
                      </a:r>
                    </a:p>
                  </a:txBody>
                  <a:tcPr anchor="ctr">
                    <a:lnL w="3175" cap="flat" cmpd="sng" algn="ctr">
                      <a:noFill/>
                      <a:prstDash val="solid"/>
                      <a:round/>
                      <a:headEnd type="none" w="med" len="med"/>
                      <a:tailEnd type="none" w="med" len="med"/>
                    </a:lnL>
                    <a:lnR w="9525" cap="rnd" cmpd="sng" algn="ctr">
                      <a:noFill/>
                      <a:prstDash val="soli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9920045"/>
                  </a:ext>
                </a:extLst>
              </a:tr>
              <a:tr h="432351">
                <a:tc vMerge="1">
                  <a:txBody>
                    <a:bodyPr/>
                    <a:lstStyle/>
                    <a:p>
                      <a:endParaRPr dirty="0"/>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a:solidFill>
                            <a:srgbClr val="334155"/>
                          </a:solidFill>
                          <a:effectLst/>
                          <a:latin typeface="Barlow Medium" panose="00000600000000000000" pitchFamily="2" charset="0"/>
                        </a:rPr>
                        <a:t>Lion</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0.6808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0.5988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IN" dirty="0">
                          <a:solidFill>
                            <a:srgbClr val="334155"/>
                          </a:solidFill>
                          <a:effectLst/>
                          <a:latin typeface="Barlow Medium" panose="00000600000000000000" pitchFamily="2" charset="0"/>
                        </a:rPr>
                        <a:t>0.1701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0.8023</a:t>
                      </a:r>
                    </a:p>
                  </a:txBody>
                  <a:tcPr anchor="ctr">
                    <a:lnL w="3175" cap="flat" cmpd="sng" algn="ctr">
                      <a:noFill/>
                      <a:prstDash val="solid"/>
                      <a:round/>
                      <a:headEnd type="none" w="med" len="med"/>
                      <a:tailEnd type="none" w="med" len="med"/>
                    </a:lnL>
                    <a:lnR w="9525" cap="rnd" cmpd="sng" algn="ctr">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77407104"/>
                  </a:ext>
                </a:extLst>
              </a:tr>
              <a:tr h="432351">
                <a:tc rowSpan="2">
                  <a:txBody>
                    <a:bodyPr/>
                    <a:lstStyle/>
                    <a:p>
                      <a:pPr algn="ctr"/>
                      <a:r>
                        <a:rPr lang="en-IN" b="1" dirty="0">
                          <a:solidFill>
                            <a:srgbClr val="334155"/>
                          </a:solidFill>
                          <a:effectLst/>
                          <a:latin typeface="Barlow Medium" panose="00000600000000000000" pitchFamily="2" charset="0"/>
                        </a:rPr>
                        <a:t>GTE</a:t>
                      </a: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AdamW</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0" dirty="0">
                          <a:solidFill>
                            <a:srgbClr val="334155"/>
                          </a:solidFill>
                          <a:effectLst/>
                          <a:latin typeface="Barlow Medium" panose="00000600000000000000" pitchFamily="2" charset="0"/>
                        </a:rPr>
                        <a:t>0.7224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0.5942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0.1733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IN" dirty="0">
                          <a:solidFill>
                            <a:srgbClr val="334155"/>
                          </a:solidFill>
                          <a:effectLst/>
                          <a:latin typeface="Barlow Medium" panose="00000600000000000000" pitchFamily="2" charset="0"/>
                        </a:rPr>
                        <a:t>0.8163</a:t>
                      </a:r>
                    </a:p>
                  </a:txBody>
                  <a:tcPr anchor="ctr">
                    <a:lnL w="3175" cap="flat" cmpd="sng" algn="ctr">
                      <a:noFill/>
                      <a:prstDash val="solid"/>
                      <a:round/>
                      <a:headEnd type="none" w="med" len="med"/>
                      <a:tailEnd type="none" w="med" len="med"/>
                    </a:lnL>
                    <a:lnR w="9525" cap="rnd" cmpd="sng" algn="ctr">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3015135"/>
                  </a:ext>
                </a:extLst>
              </a:tr>
              <a:tr h="432351">
                <a:tc vMerge="1">
                  <a:txBody>
                    <a:bodyPr/>
                    <a:lstStyle/>
                    <a:p>
                      <a:endParaRPr dirty="0"/>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Lion</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0.6909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0.5957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0.1721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0.8140</a:t>
                      </a:r>
                    </a:p>
                  </a:txBody>
                  <a:tcPr anchor="ctr">
                    <a:lnL w="3175" cap="flat" cmpd="sng" algn="ctr">
                      <a:noFill/>
                      <a:prstDash val="solid"/>
                      <a:round/>
                      <a:headEnd type="none" w="med" len="med"/>
                      <a:tailEnd type="none" w="med" len="med"/>
                    </a:lnL>
                    <a:lnR w="9525" cap="rnd" cmpd="sng" algn="ctr">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9825113"/>
                  </a:ext>
                </a:extLst>
              </a:tr>
              <a:tr h="432351">
                <a:tc rowSpan="2">
                  <a:txBody>
                    <a:bodyPr/>
                    <a:lstStyle/>
                    <a:p>
                      <a:pPr algn="ctr"/>
                      <a:r>
                        <a:rPr lang="en-IN" b="1" dirty="0">
                          <a:solidFill>
                            <a:srgbClr val="334155"/>
                          </a:solidFill>
                          <a:effectLst/>
                          <a:latin typeface="Barlow Medium" panose="00000600000000000000" pitchFamily="2" charset="0"/>
                        </a:rPr>
                        <a:t>ModernBERT</a:t>
                      </a: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chemeClr val="bg1"/>
                    </a:solidFill>
                  </a:tcPr>
                </a:tc>
                <a:tc>
                  <a:txBody>
                    <a:bodyPr/>
                    <a:lstStyle/>
                    <a:p>
                      <a:pPr algn="ctr"/>
                      <a:r>
                        <a:rPr lang="en-IN">
                          <a:solidFill>
                            <a:srgbClr val="334155"/>
                          </a:solidFill>
                          <a:effectLst/>
                          <a:latin typeface="Barlow Medium" panose="00000600000000000000" pitchFamily="2" charset="0"/>
                        </a:rPr>
                        <a:t>AdamW</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a:solidFill>
                            <a:srgbClr val="334155"/>
                          </a:solidFill>
                          <a:effectLst/>
                          <a:latin typeface="Barlow Medium" panose="00000600000000000000" pitchFamily="2" charset="0"/>
                        </a:rPr>
                        <a:t>0.7105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0.5916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0.1678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0.8163</a:t>
                      </a:r>
                    </a:p>
                  </a:txBody>
                  <a:tcPr anchor="ctr">
                    <a:lnL w="3175" cap="flat" cmpd="sng" algn="ctr">
                      <a:noFill/>
                      <a:prstDash val="solid"/>
                      <a:round/>
                      <a:headEnd type="none" w="med" len="med"/>
                      <a:tailEnd type="none" w="med" len="med"/>
                    </a:lnL>
                    <a:lnR w="9525" cap="rnd" cmpd="sng" algn="ctr">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67925"/>
                  </a:ext>
                </a:extLst>
              </a:tr>
              <a:tr h="432351">
                <a:tc vMerge="1">
                  <a:txBody>
                    <a:bodyPr/>
                    <a:lstStyle/>
                    <a:p>
                      <a:endParaRPr dirty="0"/>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Lion</a:t>
                      </a:r>
                      <a:endParaRPr lang="en-IN" dirty="0">
                        <a:solidFill>
                          <a:srgbClr val="334155"/>
                        </a:solidFill>
                        <a:effectLst/>
                        <a:latin typeface="Barlow Medium" panose="00000600000000000000" pitchFamily="2"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a:txBody>
                    <a:bodyPr/>
                    <a:lstStyle/>
                    <a:p>
                      <a:pPr algn="ctr"/>
                      <a:r>
                        <a:rPr lang="en-IN"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0.7225</a:t>
                      </a:r>
                      <a:endParaRPr lang="en-IN" dirty="0">
                        <a:solidFill>
                          <a:srgbClr val="334155"/>
                        </a:solidFill>
                        <a:effectLst/>
                        <a:latin typeface="Barlow Medium" panose="00000600000000000000" pitchFamily="2"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a:txBody>
                    <a:bodyPr/>
                    <a:lstStyle/>
                    <a:p>
                      <a:pPr algn="ctr"/>
                      <a:r>
                        <a:rPr lang="en-IN"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0.5988</a:t>
                      </a:r>
                      <a:endParaRPr lang="en-IN" dirty="0">
                        <a:solidFill>
                          <a:srgbClr val="334155"/>
                        </a:solidFill>
                        <a:effectLst/>
                        <a:latin typeface="Barlow Medium" panose="00000600000000000000" pitchFamily="2"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0.1732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0.8256</a:t>
                      </a:r>
                      <a:endParaRPr lang="en-IN" dirty="0">
                        <a:solidFill>
                          <a:srgbClr val="334155"/>
                        </a:solidFill>
                        <a:effectLst/>
                        <a:latin typeface="Barlow Medium" panose="00000600000000000000" pitchFamily="2" charset="0"/>
                      </a:endParaRPr>
                    </a:p>
                  </a:txBody>
                  <a:tcPr anchor="ctr">
                    <a:lnL w="3175" cap="flat" cmpd="sng" algn="ctr">
                      <a:noFill/>
                      <a:prstDash val="solid"/>
                      <a:round/>
                      <a:headEnd type="none" w="med" len="med"/>
                      <a:tailEnd type="none" w="med" len="med"/>
                    </a:lnL>
                    <a:lnR w="9525" cap="rnd" cmpd="sng" algn="ctr">
                      <a:noFill/>
                      <a:prstDash val="soli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02260452"/>
                  </a:ext>
                </a:extLst>
              </a:tr>
            </a:tbl>
          </a:graphicData>
        </a:graphic>
      </p:graphicFrame>
      <p:sp>
        <p:nvSpPr>
          <p:cNvPr id="7" name="TextBox 6">
            <a:extLst>
              <a:ext uri="{FF2B5EF4-FFF2-40B4-BE49-F238E27FC236}">
                <a16:creationId xmlns:a16="http://schemas.microsoft.com/office/drawing/2014/main" id="{EE49342E-E7D6-BF0B-BD1F-7CDBF78E67A8}"/>
              </a:ext>
            </a:extLst>
          </p:cNvPr>
          <p:cNvSpPr txBox="1"/>
          <p:nvPr/>
        </p:nvSpPr>
        <p:spPr>
          <a:xfrm>
            <a:off x="3161617" y="5707201"/>
            <a:ext cx="6274964" cy="707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2000" b="1" dirty="0">
                <a:latin typeface="Barlow SemiBold" panose="00000700000000000000" pitchFamily="2" charset="0"/>
              </a:rPr>
              <a:t>🏆 Overall Winner: (ModernBERT + Lion) achieved highest performance in 3/4 metrics</a:t>
            </a:r>
            <a:endParaRPr lang="en-IN" sz="2000" dirty="0">
              <a:latin typeface="Barlow SemiBold" panose="00000700000000000000" pitchFamily="2" charset="0"/>
            </a:endParaRPr>
          </a:p>
        </p:txBody>
      </p:sp>
    </p:spTree>
    <p:extLst>
      <p:ext uri="{BB962C8B-B14F-4D97-AF65-F5344CB8AC3E}">
        <p14:creationId xmlns:p14="http://schemas.microsoft.com/office/powerpoint/2010/main" val="1499254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2B87-E556-AD36-6DD4-0DBC71C52B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C5A068-E5AA-E22A-8741-305F801A9A55}"/>
              </a:ext>
            </a:extLst>
          </p:cNvPr>
          <p:cNvSpPr txBox="1"/>
          <p:nvPr/>
        </p:nvSpPr>
        <p:spPr>
          <a:xfrm>
            <a:off x="428839" y="596499"/>
            <a:ext cx="4998484" cy="707886"/>
          </a:xfrm>
          <a:prstGeom prst="rect">
            <a:avLst/>
          </a:prstGeom>
          <a:noFill/>
        </p:spPr>
        <p:txBody>
          <a:bodyPr wrap="none" rtlCol="0">
            <a:spAutoFit/>
          </a:bodyPr>
          <a:lstStyle/>
          <a:p>
            <a:r>
              <a:rPr lang="en-GB" sz="4000" dirty="0">
                <a:solidFill>
                  <a:schemeClr val="bg1"/>
                </a:solidFill>
                <a:latin typeface="Barlow ExtraBold" panose="00000900000000000000" pitchFamily="2" charset="0"/>
              </a:rPr>
              <a:t>GPU Usage Statistics</a:t>
            </a:r>
            <a:endParaRPr lang="en-IN" sz="4000" dirty="0">
              <a:solidFill>
                <a:schemeClr val="bg1"/>
              </a:solidFill>
              <a:latin typeface="Barlow ExtraBold" panose="00000900000000000000" pitchFamily="2" charset="0"/>
            </a:endParaRPr>
          </a:p>
        </p:txBody>
      </p:sp>
      <p:graphicFrame>
        <p:nvGraphicFramePr>
          <p:cNvPr id="6" name="Table 5">
            <a:extLst>
              <a:ext uri="{FF2B5EF4-FFF2-40B4-BE49-F238E27FC236}">
                <a16:creationId xmlns:a16="http://schemas.microsoft.com/office/drawing/2014/main" id="{39537761-ECB2-5E55-4466-ED01094611BA}"/>
              </a:ext>
            </a:extLst>
          </p:cNvPr>
          <p:cNvGraphicFramePr>
            <a:graphicFrameLocks noGrp="1"/>
          </p:cNvGraphicFramePr>
          <p:nvPr>
            <p:extLst>
              <p:ext uri="{D42A27DB-BD31-4B8C-83A1-F6EECF244321}">
                <p14:modId xmlns:p14="http://schemas.microsoft.com/office/powerpoint/2010/main" val="530166516"/>
              </p:ext>
            </p:extLst>
          </p:nvPr>
        </p:nvGraphicFramePr>
        <p:xfrm>
          <a:off x="930001" y="2197509"/>
          <a:ext cx="10309020" cy="3356106"/>
        </p:xfrm>
        <a:graphic>
          <a:graphicData uri="http://schemas.openxmlformats.org/drawingml/2006/table">
            <a:tbl>
              <a:tblPr firstRow="1" bandRow="1">
                <a:tableStyleId>{69C7853C-536D-4A76-A0AE-DD22124D55A5}</a:tableStyleId>
              </a:tblPr>
              <a:tblGrid>
                <a:gridCol w="2061804">
                  <a:extLst>
                    <a:ext uri="{9D8B030D-6E8A-4147-A177-3AD203B41FA5}">
                      <a16:colId xmlns:a16="http://schemas.microsoft.com/office/drawing/2014/main" val="1585879530"/>
                    </a:ext>
                  </a:extLst>
                </a:gridCol>
                <a:gridCol w="2061804">
                  <a:extLst>
                    <a:ext uri="{9D8B030D-6E8A-4147-A177-3AD203B41FA5}">
                      <a16:colId xmlns:a16="http://schemas.microsoft.com/office/drawing/2014/main" val="1389322177"/>
                    </a:ext>
                  </a:extLst>
                </a:gridCol>
                <a:gridCol w="2061804">
                  <a:extLst>
                    <a:ext uri="{9D8B030D-6E8A-4147-A177-3AD203B41FA5}">
                      <a16:colId xmlns:a16="http://schemas.microsoft.com/office/drawing/2014/main" val="1757895171"/>
                    </a:ext>
                  </a:extLst>
                </a:gridCol>
                <a:gridCol w="2061804">
                  <a:extLst>
                    <a:ext uri="{9D8B030D-6E8A-4147-A177-3AD203B41FA5}">
                      <a16:colId xmlns:a16="http://schemas.microsoft.com/office/drawing/2014/main" val="1926697050"/>
                    </a:ext>
                  </a:extLst>
                </a:gridCol>
                <a:gridCol w="2061804">
                  <a:extLst>
                    <a:ext uri="{9D8B030D-6E8A-4147-A177-3AD203B41FA5}">
                      <a16:colId xmlns:a16="http://schemas.microsoft.com/office/drawing/2014/main" val="1594094915"/>
                    </a:ext>
                  </a:extLst>
                </a:gridCol>
              </a:tblGrid>
              <a:tr h="465892">
                <a:tc>
                  <a:txBody>
                    <a:bodyPr/>
                    <a:lstStyle/>
                    <a:p>
                      <a:pPr algn="ctr"/>
                      <a:r>
                        <a:rPr lang="en-IN" sz="2200" b="1" dirty="0">
                          <a:solidFill>
                            <a:srgbClr val="FFFFFF"/>
                          </a:solidFill>
                          <a:effectLst/>
                          <a:latin typeface="Barlow SemiBold" panose="00000700000000000000" pitchFamily="2" charset="0"/>
                        </a:rPr>
                        <a:t>Model</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Optimizer</a:t>
                      </a:r>
                    </a:p>
                  </a:txBody>
                  <a:tcPr anchor="ctr">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Mean Usage (%)</a:t>
                      </a:r>
                    </a:p>
                  </a:txBody>
                  <a:tcPr anchor="ctr">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Peak Usage (%)</a:t>
                      </a:r>
                    </a:p>
                  </a:txBody>
                  <a:tcPr anchor="ctr">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sz="2200" b="1" dirty="0">
                          <a:solidFill>
                            <a:srgbClr val="FFFFFF"/>
                          </a:solidFill>
                          <a:effectLst/>
                          <a:latin typeface="Barlow SemiBold" panose="00000700000000000000" pitchFamily="2" charset="0"/>
                        </a:rPr>
                        <a:t>Efficiency gain (%)</a:t>
                      </a:r>
                    </a:p>
                  </a:txBody>
                  <a:tcPr anchor="ctr">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133248602"/>
                  </a:ext>
                </a:extLst>
              </a:tr>
              <a:tr h="432351">
                <a:tc rowSpan="2">
                  <a:txBody>
                    <a:bodyPr/>
                    <a:lstStyle/>
                    <a:p>
                      <a:pPr algn="ctr"/>
                      <a:r>
                        <a:rPr lang="en-IN" b="1" dirty="0">
                          <a:solidFill>
                            <a:srgbClr val="334155"/>
                          </a:solidFill>
                          <a:effectLst/>
                          <a:latin typeface="Barlow Medium" panose="00000600000000000000" pitchFamily="2" charset="0"/>
                        </a:rPr>
                        <a:t>MiniLM</a:t>
                      </a: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AdamW</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0" dirty="0">
                          <a:solidFill>
                            <a:srgbClr val="334155"/>
                          </a:solidFill>
                          <a:effectLst/>
                          <a:latin typeface="Barlow Medium" panose="00000600000000000000" pitchFamily="2" charset="0"/>
                        </a:rPr>
                        <a:t>33.09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0" dirty="0">
                          <a:solidFill>
                            <a:srgbClr val="334155"/>
                          </a:solidFill>
                          <a:effectLst/>
                          <a:latin typeface="Barlow Medium" panose="00000600000000000000" pitchFamily="2" charset="0"/>
                        </a:rPr>
                        <a:t>35.25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GB" b="1"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2.67 %</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629920045"/>
                  </a:ext>
                </a:extLst>
              </a:tr>
              <a:tr h="432351">
                <a:tc vMerge="1">
                  <a:txBody>
                    <a:bodyPr/>
                    <a:lstStyle/>
                    <a:p>
                      <a:endParaRPr dirty="0"/>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1" dirty="0">
                          <a:solidFill>
                            <a:srgbClr val="334155"/>
                          </a:solidFill>
                          <a:effectLst/>
                          <a:latin typeface="Barlow Medium" panose="00000600000000000000" pitchFamily="2" charset="0"/>
                        </a:rPr>
                        <a:t>Lion</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GB" b="1" dirty="0">
                          <a:solidFill>
                            <a:srgbClr val="334155"/>
                          </a:solidFill>
                          <a:effectLst/>
                          <a:latin typeface="Barlow Medium" panose="00000600000000000000" pitchFamily="2" charset="0"/>
                        </a:rPr>
                        <a:t>32.21</a:t>
                      </a:r>
                      <a:endParaRPr lang="en-IN" b="1" dirty="0">
                        <a:solidFill>
                          <a:srgbClr val="334155"/>
                        </a:solidFill>
                        <a:effectLst/>
                        <a:latin typeface="Barlow Medium" panose="00000600000000000000" pitchFamily="2"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34.64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277407104"/>
                  </a:ext>
                </a:extLst>
              </a:tr>
              <a:tr h="432351">
                <a:tc rowSpan="2">
                  <a:txBody>
                    <a:bodyPr/>
                    <a:lstStyle/>
                    <a:p>
                      <a:pPr algn="ctr"/>
                      <a:r>
                        <a:rPr lang="en-IN" b="1" dirty="0">
                          <a:solidFill>
                            <a:srgbClr val="334155"/>
                          </a:solidFill>
                          <a:effectLst/>
                          <a:latin typeface="Barlow Medium" panose="00000600000000000000" pitchFamily="2" charset="0"/>
                        </a:rPr>
                        <a:t>GTE</a:t>
                      </a: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AdamW</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b="0" dirty="0">
                          <a:solidFill>
                            <a:srgbClr val="334155"/>
                          </a:solidFill>
                          <a:effectLst/>
                          <a:latin typeface="Barlow Medium" panose="00000600000000000000" pitchFamily="2" charset="0"/>
                        </a:rPr>
                        <a:t>73.04</a:t>
                      </a:r>
                      <a:endParaRPr lang="en-IN" b="0" dirty="0">
                        <a:solidFill>
                          <a:srgbClr val="334155"/>
                        </a:solidFill>
                        <a:effectLst/>
                        <a:latin typeface="Barlow Medium" panose="00000600000000000000" pitchFamily="2"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0" dirty="0">
                          <a:solidFill>
                            <a:srgbClr val="334155"/>
                          </a:solidFill>
                          <a:effectLst/>
                          <a:latin typeface="Barlow Medium" panose="00000600000000000000" pitchFamily="2" charset="0"/>
                        </a:rPr>
                        <a:t>78.08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GB" b="1"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10.33 %</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563015135"/>
                  </a:ext>
                </a:extLst>
              </a:tr>
              <a:tr h="432351">
                <a:tc vMerge="1">
                  <a:txBody>
                    <a:bodyPr/>
                    <a:lstStyle/>
                    <a:p>
                      <a:endParaRPr dirty="0"/>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1" dirty="0">
                          <a:solidFill>
                            <a:srgbClr val="334155"/>
                          </a:solidFill>
                          <a:effectLst/>
                          <a:latin typeface="Barlow Medium" panose="00000600000000000000" pitchFamily="2" charset="0"/>
                        </a:rPr>
                        <a:t>Lion</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65.50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69.69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9825113"/>
                  </a:ext>
                </a:extLst>
              </a:tr>
              <a:tr h="432351">
                <a:tc rowSpan="2">
                  <a:txBody>
                    <a:bodyPr/>
                    <a:lstStyle/>
                    <a:p>
                      <a:pPr algn="ctr"/>
                      <a:r>
                        <a:rPr lang="en-IN" b="1" dirty="0">
                          <a:solidFill>
                            <a:srgbClr val="334155"/>
                          </a:solidFill>
                          <a:effectLst/>
                          <a:latin typeface="Barlow Medium" panose="00000600000000000000" pitchFamily="2" charset="0"/>
                        </a:rPr>
                        <a:t>ModernBERT</a:t>
                      </a: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chemeClr val="bg1"/>
                    </a:solidFill>
                  </a:tcPr>
                </a:tc>
                <a:tc>
                  <a:txBody>
                    <a:bodyPr/>
                    <a:lstStyle/>
                    <a:p>
                      <a:pPr algn="ctr"/>
                      <a:r>
                        <a:rPr lang="en-IN">
                          <a:solidFill>
                            <a:srgbClr val="334155"/>
                          </a:solidFill>
                          <a:effectLst/>
                          <a:latin typeface="Barlow Medium" panose="00000600000000000000" pitchFamily="2" charset="0"/>
                        </a:rPr>
                        <a:t>AdamW</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77.04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dirty="0">
                          <a:solidFill>
                            <a:srgbClr val="334155"/>
                          </a:solidFill>
                          <a:effectLst/>
                          <a:latin typeface="Barlow Medium" panose="00000600000000000000" pitchFamily="2" charset="0"/>
                        </a:rPr>
                        <a:t>81.40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GB" b="1" dirty="0">
                          <a:solidFill>
                            <a:srgbClr val="334155"/>
                          </a:solidFill>
                          <a:effectLst/>
                          <a:latin typeface="Barlow Medium" panose="00000600000000000000" pitchFamily="2" charset="0"/>
                        </a:rPr>
                        <a:t>+</a:t>
                      </a:r>
                      <a:r>
                        <a:rPr lang="en-IN" b="1" dirty="0">
                          <a:solidFill>
                            <a:srgbClr val="334155"/>
                          </a:solidFill>
                          <a:effectLst/>
                          <a:latin typeface="Barlow Medium" panose="00000600000000000000" pitchFamily="2" charset="0"/>
                        </a:rPr>
                        <a:t>3.49%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467925"/>
                  </a:ext>
                </a:extLst>
              </a:tr>
              <a:tr h="432351">
                <a:tc vMerge="1">
                  <a:txBody>
                    <a:bodyPr/>
                    <a:lstStyle/>
                    <a:p>
                      <a:endParaRPr dirty="0"/>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Lion</a:t>
                      </a:r>
                      <a:endParaRPr lang="en-IN" dirty="0">
                        <a:solidFill>
                          <a:srgbClr val="334155"/>
                        </a:solidFill>
                        <a:effectLst/>
                        <a:latin typeface="Barlow Medium" panose="00000600000000000000" pitchFamily="2"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74.35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a:txBody>
                    <a:bodyPr/>
                    <a:lstStyle/>
                    <a:p>
                      <a:pPr algn="ctr"/>
                      <a:r>
                        <a:rPr lang="en-IN" b="1" dirty="0">
                          <a:solidFill>
                            <a:srgbClr val="334155"/>
                          </a:solidFill>
                          <a:effectLst/>
                          <a:latin typeface="Barlow Medium" panose="00000600000000000000" pitchFamily="2" charset="0"/>
                        </a:rPr>
                        <a:t>79.45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tc vMerge="1">
                  <a:txBody>
                    <a:bodyPr/>
                    <a:lstStyle/>
                    <a:p>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rnd" cmpd="sng" algn="ctr">
                      <a:noFill/>
                      <a:prstDash val="soli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02260452"/>
                  </a:ext>
                </a:extLst>
              </a:tr>
            </a:tbl>
          </a:graphicData>
        </a:graphic>
      </p:graphicFrame>
      <p:sp>
        <p:nvSpPr>
          <p:cNvPr id="7" name="TextBox 6">
            <a:extLst>
              <a:ext uri="{FF2B5EF4-FFF2-40B4-BE49-F238E27FC236}">
                <a16:creationId xmlns:a16="http://schemas.microsoft.com/office/drawing/2014/main" id="{51B1C36E-476B-1187-E408-7D55B97D5C4B}"/>
              </a:ext>
            </a:extLst>
          </p:cNvPr>
          <p:cNvSpPr txBox="1"/>
          <p:nvPr/>
        </p:nvSpPr>
        <p:spPr>
          <a:xfrm>
            <a:off x="2616517" y="5851297"/>
            <a:ext cx="7152516" cy="707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GB" sz="2000" dirty="0">
                <a:latin typeface="Barlow SemiBold" panose="00000700000000000000" pitchFamily="2" charset="0"/>
              </a:rPr>
              <a:t>Lion optimizer demonstrates superior GPU utilization efficiency across all models</a:t>
            </a:r>
            <a:endParaRPr lang="en-IN" sz="2000" dirty="0">
              <a:latin typeface="Barlow SemiBold" panose="00000700000000000000" pitchFamily="2" charset="0"/>
            </a:endParaRPr>
          </a:p>
        </p:txBody>
      </p:sp>
      <p:sp>
        <p:nvSpPr>
          <p:cNvPr id="2" name="TextBox 1">
            <a:extLst>
              <a:ext uri="{FF2B5EF4-FFF2-40B4-BE49-F238E27FC236}">
                <a16:creationId xmlns:a16="http://schemas.microsoft.com/office/drawing/2014/main" id="{CEC592ED-C90F-911E-D6D9-9690BFA70C4C}"/>
              </a:ext>
            </a:extLst>
          </p:cNvPr>
          <p:cNvSpPr txBox="1"/>
          <p:nvPr/>
        </p:nvSpPr>
        <p:spPr>
          <a:xfrm>
            <a:off x="7825153" y="1679336"/>
            <a:ext cx="3659976" cy="369332"/>
          </a:xfrm>
          <a:prstGeom prst="rect">
            <a:avLst/>
          </a:prstGeom>
          <a:noFill/>
        </p:spPr>
        <p:txBody>
          <a:bodyPr wrap="none" rtlCol="0">
            <a:spAutoFit/>
          </a:bodyPr>
          <a:lstStyle/>
          <a:p>
            <a:r>
              <a:rPr lang="en-GB" b="1" dirty="0">
                <a:latin typeface="Barlow" panose="00000500000000000000" pitchFamily="2" charset="0"/>
              </a:rPr>
              <a:t>*All calculations are w.r.t. AdamW</a:t>
            </a:r>
            <a:endParaRPr lang="en-IN" b="1" dirty="0">
              <a:latin typeface="Barlow" panose="00000500000000000000" pitchFamily="2" charset="0"/>
            </a:endParaRPr>
          </a:p>
        </p:txBody>
      </p:sp>
    </p:spTree>
    <p:extLst>
      <p:ext uri="{BB962C8B-B14F-4D97-AF65-F5344CB8AC3E}">
        <p14:creationId xmlns:p14="http://schemas.microsoft.com/office/powerpoint/2010/main" val="2852238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AD8E1BB-9F92-23D5-7BB8-D614AC3724B9}"/>
              </a:ext>
            </a:extLst>
          </p:cNvPr>
          <p:cNvSpPr>
            <a:spLocks noGrp="1"/>
          </p:cNvSpPr>
          <p:nvPr>
            <p:ph type="body" sz="half" idx="2"/>
          </p:nvPr>
        </p:nvSpPr>
        <p:spPr>
          <a:xfrm>
            <a:off x="1126690" y="2523281"/>
            <a:ext cx="8799363" cy="4085863"/>
          </a:xfrm>
        </p:spPr>
        <p:txBody>
          <a:bodyPr>
            <a:normAutofit/>
          </a:bodyPr>
          <a:lstStyle/>
          <a:p>
            <a:pPr marL="342900" indent="-342900">
              <a:buFont typeface="Wingdings" panose="05000000000000000000" pitchFamily="2" charset="2"/>
              <a:buChar char="Ø"/>
            </a:pPr>
            <a:r>
              <a:rPr lang="en-IN" dirty="0">
                <a:latin typeface="Barlow" panose="00000500000000000000" pitchFamily="2" charset="0"/>
              </a:rPr>
              <a:t>🏆 </a:t>
            </a:r>
            <a:r>
              <a:rPr lang="en-IN" b="1" dirty="0">
                <a:latin typeface="Barlow" panose="00000500000000000000" pitchFamily="2" charset="0"/>
              </a:rPr>
              <a:t>Universal Efficiency:</a:t>
            </a:r>
            <a:r>
              <a:rPr lang="en-IN" dirty="0">
                <a:latin typeface="Barlow" panose="00000500000000000000" pitchFamily="2" charset="0"/>
              </a:rPr>
              <a:t> </a:t>
            </a:r>
            <a:r>
              <a:rPr lang="en-IN" sz="2000" dirty="0">
                <a:latin typeface="Barlow" panose="00000500000000000000" pitchFamily="2" charset="0"/>
              </a:rPr>
              <a:t>Lion optimizer reduces GPU usage in 100% of configurations</a:t>
            </a:r>
            <a:endParaRPr lang="en-IN" dirty="0">
              <a:latin typeface="Barlow" panose="00000500000000000000" pitchFamily="2" charset="0"/>
            </a:endParaRPr>
          </a:p>
          <a:p>
            <a:pPr marL="342900" indent="-342900">
              <a:buFont typeface="Wingdings" panose="05000000000000000000" pitchFamily="2" charset="2"/>
              <a:buChar char="Ø"/>
            </a:pPr>
            <a:r>
              <a:rPr lang="en-IN" dirty="0">
                <a:latin typeface="Barlow" panose="00000500000000000000" pitchFamily="2" charset="0"/>
              </a:rPr>
              <a:t>⚖️ </a:t>
            </a:r>
            <a:r>
              <a:rPr lang="en-IN" b="1" dirty="0">
                <a:latin typeface="Barlow" panose="00000500000000000000" pitchFamily="2" charset="0"/>
              </a:rPr>
              <a:t>Performance Trade-offs:</a:t>
            </a:r>
            <a:r>
              <a:rPr lang="en-IN" dirty="0">
                <a:latin typeface="Barlow" panose="00000500000000000000" pitchFamily="2" charset="0"/>
              </a:rPr>
              <a:t> </a:t>
            </a:r>
            <a:r>
              <a:rPr lang="en-IN" sz="2000" dirty="0">
                <a:latin typeface="Barlow" panose="00000500000000000000" pitchFamily="2" charset="0"/>
              </a:rPr>
              <a:t>Neither optimizer dominates all metrics</a:t>
            </a:r>
            <a:endParaRPr lang="en-IN" dirty="0">
              <a:latin typeface="Barlow" panose="00000500000000000000" pitchFamily="2" charset="0"/>
            </a:endParaRPr>
          </a:p>
          <a:p>
            <a:pPr marL="342900" indent="-342900">
              <a:buFont typeface="Wingdings" panose="05000000000000000000" pitchFamily="2" charset="2"/>
              <a:buChar char="Ø"/>
            </a:pPr>
            <a:r>
              <a:rPr lang="en-IN" dirty="0">
                <a:latin typeface="Barlow" panose="00000500000000000000" pitchFamily="2" charset="0"/>
              </a:rPr>
              <a:t>🔧 </a:t>
            </a:r>
            <a:r>
              <a:rPr lang="en-IN" b="1" dirty="0">
                <a:latin typeface="Barlow" panose="00000500000000000000" pitchFamily="2" charset="0"/>
              </a:rPr>
              <a:t>Configuration Critical:</a:t>
            </a:r>
            <a:r>
              <a:rPr lang="en-IN" dirty="0">
                <a:latin typeface="Barlow" panose="00000500000000000000" pitchFamily="2" charset="0"/>
              </a:rPr>
              <a:t> </a:t>
            </a:r>
            <a:r>
              <a:rPr lang="en-IN" sz="2000" dirty="0">
                <a:latin typeface="Barlow" panose="00000500000000000000" pitchFamily="2" charset="0"/>
              </a:rPr>
              <a:t>Learning rate and scheduling significantly impact results</a:t>
            </a:r>
          </a:p>
          <a:p>
            <a:pPr marL="342900" indent="-342900">
              <a:buFont typeface="Wingdings" panose="05000000000000000000" pitchFamily="2" charset="2"/>
              <a:buChar char="Ø"/>
            </a:pPr>
            <a:r>
              <a:rPr lang="en-IN" dirty="0">
                <a:latin typeface="Barlow" panose="00000500000000000000" pitchFamily="2" charset="0"/>
              </a:rPr>
              <a:t>🚀 </a:t>
            </a:r>
            <a:r>
              <a:rPr lang="en-IN" b="1" dirty="0">
                <a:latin typeface="Barlow" panose="00000500000000000000" pitchFamily="2" charset="0"/>
              </a:rPr>
              <a:t>ModernBERT Excellence:</a:t>
            </a:r>
            <a:r>
              <a:rPr lang="en-IN" dirty="0">
                <a:latin typeface="Barlow" panose="00000500000000000000" pitchFamily="2" charset="0"/>
              </a:rPr>
              <a:t> </a:t>
            </a:r>
            <a:r>
              <a:rPr lang="en-IN" sz="2000" dirty="0">
                <a:latin typeface="Barlow" panose="00000500000000000000" pitchFamily="2" charset="0"/>
              </a:rPr>
              <a:t>Best overall performance with Lion optimizer</a:t>
            </a:r>
            <a:endParaRPr lang="en-IN" dirty="0">
              <a:latin typeface="Barlow" panose="00000500000000000000" pitchFamily="2" charset="0"/>
            </a:endParaRPr>
          </a:p>
          <a:p>
            <a:pPr marL="342900" indent="-342900">
              <a:buFont typeface="Wingdings" panose="05000000000000000000" pitchFamily="2" charset="2"/>
              <a:buChar char="Ø"/>
            </a:pPr>
            <a:r>
              <a:rPr lang="en-IN" dirty="0">
                <a:latin typeface="Barlow" panose="00000500000000000000" pitchFamily="2" charset="0"/>
              </a:rPr>
              <a:t>💰 </a:t>
            </a:r>
            <a:r>
              <a:rPr lang="en-IN" b="1" dirty="0">
                <a:latin typeface="Barlow" panose="00000500000000000000" pitchFamily="2" charset="0"/>
              </a:rPr>
              <a:t>Cost-Effectiveness:</a:t>
            </a:r>
            <a:r>
              <a:rPr lang="en-IN" dirty="0">
                <a:latin typeface="Barlow" panose="00000500000000000000" pitchFamily="2" charset="0"/>
              </a:rPr>
              <a:t> </a:t>
            </a:r>
            <a:r>
              <a:rPr lang="en-IN" sz="2000" dirty="0">
                <a:latin typeface="Barlow" panose="00000500000000000000" pitchFamily="2" charset="0"/>
              </a:rPr>
              <a:t>5.50% average efficiency improvement across models</a:t>
            </a:r>
            <a:endParaRPr lang="en-IN" dirty="0">
              <a:latin typeface="Barlow" panose="00000500000000000000" pitchFamily="2" charset="0"/>
            </a:endParaRPr>
          </a:p>
        </p:txBody>
      </p:sp>
      <p:sp>
        <p:nvSpPr>
          <p:cNvPr id="5" name="TextBox 4">
            <a:extLst>
              <a:ext uri="{FF2B5EF4-FFF2-40B4-BE49-F238E27FC236}">
                <a16:creationId xmlns:a16="http://schemas.microsoft.com/office/drawing/2014/main" id="{F4A67FDF-559B-3DA4-1BAB-783B74FF50BF}"/>
              </a:ext>
            </a:extLst>
          </p:cNvPr>
          <p:cNvSpPr txBox="1"/>
          <p:nvPr/>
        </p:nvSpPr>
        <p:spPr>
          <a:xfrm>
            <a:off x="1458410" y="486137"/>
            <a:ext cx="7903126" cy="707886"/>
          </a:xfrm>
          <a:prstGeom prst="rect">
            <a:avLst/>
          </a:prstGeom>
          <a:noFill/>
          <a:ln>
            <a:solidFill>
              <a:schemeClr val="accent1"/>
            </a:solidFill>
          </a:ln>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4000" b="1" dirty="0">
                <a:ln/>
                <a:latin typeface="Barlow ExtraBold" panose="00000900000000000000" pitchFamily="2" charset="0"/>
              </a:rPr>
              <a:t>Key Takeaways &amp; Decision Points</a:t>
            </a:r>
          </a:p>
        </p:txBody>
      </p:sp>
      <p:sp>
        <p:nvSpPr>
          <p:cNvPr id="6" name="TextBox 5">
            <a:extLst>
              <a:ext uri="{FF2B5EF4-FFF2-40B4-BE49-F238E27FC236}">
                <a16:creationId xmlns:a16="http://schemas.microsoft.com/office/drawing/2014/main" id="{CF350CD9-140C-3A36-38A9-6C5A2ADC1AFB}"/>
              </a:ext>
            </a:extLst>
          </p:cNvPr>
          <p:cNvSpPr txBox="1"/>
          <p:nvPr/>
        </p:nvSpPr>
        <p:spPr>
          <a:xfrm>
            <a:off x="729205" y="1667283"/>
            <a:ext cx="4607352" cy="523220"/>
          </a:xfrm>
          <a:prstGeom prst="rect">
            <a:avLst/>
          </a:prstGeom>
          <a:noFill/>
        </p:spPr>
        <p:txBody>
          <a:bodyPr wrap="none" rtlCol="0">
            <a:spAutoFit/>
          </a:bodyPr>
          <a:lstStyle/>
          <a:p>
            <a:r>
              <a:rPr lang="en-IN" sz="2800" b="1" dirty="0">
                <a:latin typeface="Barlow SemiBold" panose="00000700000000000000" pitchFamily="2" charset="0"/>
              </a:rPr>
              <a:t>🎯 Major Findings Summary</a:t>
            </a:r>
          </a:p>
        </p:txBody>
      </p:sp>
    </p:spTree>
    <p:extLst>
      <p:ext uri="{BB962C8B-B14F-4D97-AF65-F5344CB8AC3E}">
        <p14:creationId xmlns:p14="http://schemas.microsoft.com/office/powerpoint/2010/main" val="2298798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323D41-0EF3-86F1-BFC3-9CFC3BE29E33}"/>
              </a:ext>
            </a:extLst>
          </p:cNvPr>
          <p:cNvSpPr>
            <a:spLocks noGrp="1"/>
          </p:cNvSpPr>
          <p:nvPr>
            <p:ph type="title"/>
          </p:nvPr>
        </p:nvSpPr>
        <p:spPr>
          <a:xfrm>
            <a:off x="729291" y="868100"/>
            <a:ext cx="6956299" cy="740781"/>
          </a:xfrm>
          <a:solidFill>
            <a:schemeClr val="bg1"/>
          </a:solidFill>
          <a:ln>
            <a:solidFill>
              <a:schemeClr val="accent1"/>
            </a:solidFill>
          </a:ln>
        </p:spPr>
        <p:txBody>
          <a:bodyPr>
            <a:normAutofit fontScale="90000"/>
          </a:bodyPr>
          <a:lstStyle/>
          <a:p>
            <a:pPr algn="ctr"/>
            <a:r>
              <a:rPr lang="en-IN" dirty="0"/>
              <a:t>🧠 </a:t>
            </a:r>
            <a:r>
              <a:rPr lang="en-GB" sz="3600" dirty="0">
                <a:latin typeface="Barlow ExtraBold" panose="00000900000000000000" pitchFamily="2" charset="0"/>
              </a:rPr>
              <a:t>Decision Matrix for Practitioners</a:t>
            </a:r>
            <a:endParaRPr lang="en-IN" sz="2800" dirty="0">
              <a:latin typeface="Barlow ExtraBold" panose="00000900000000000000" pitchFamily="2" charset="0"/>
            </a:endParaRPr>
          </a:p>
        </p:txBody>
      </p:sp>
      <p:graphicFrame>
        <p:nvGraphicFramePr>
          <p:cNvPr id="5" name="Table 4">
            <a:extLst>
              <a:ext uri="{FF2B5EF4-FFF2-40B4-BE49-F238E27FC236}">
                <a16:creationId xmlns:a16="http://schemas.microsoft.com/office/drawing/2014/main" id="{1A1439E2-33C2-97AA-9107-AAF352165232}"/>
              </a:ext>
            </a:extLst>
          </p:cNvPr>
          <p:cNvGraphicFramePr>
            <a:graphicFrameLocks noGrp="1"/>
          </p:cNvGraphicFramePr>
          <p:nvPr>
            <p:extLst>
              <p:ext uri="{D42A27DB-BD31-4B8C-83A1-F6EECF244321}">
                <p14:modId xmlns:p14="http://schemas.microsoft.com/office/powerpoint/2010/main" val="3035780364"/>
              </p:ext>
            </p:extLst>
          </p:nvPr>
        </p:nvGraphicFramePr>
        <p:xfrm>
          <a:off x="1030147" y="2501900"/>
          <a:ext cx="9757458" cy="3627120"/>
        </p:xfrm>
        <a:graphic>
          <a:graphicData uri="http://schemas.openxmlformats.org/drawingml/2006/table">
            <a:tbl>
              <a:tblPr firstRow="1" bandRow="1">
                <a:tableStyleId>{69C7853C-536D-4A76-A0AE-DD22124D55A5}</a:tableStyleId>
              </a:tblPr>
              <a:tblGrid>
                <a:gridCol w="2426520">
                  <a:extLst>
                    <a:ext uri="{9D8B030D-6E8A-4147-A177-3AD203B41FA5}">
                      <a16:colId xmlns:a16="http://schemas.microsoft.com/office/drawing/2014/main" val="2494200330"/>
                    </a:ext>
                  </a:extLst>
                </a:gridCol>
                <a:gridCol w="2443646">
                  <a:extLst>
                    <a:ext uri="{9D8B030D-6E8A-4147-A177-3AD203B41FA5}">
                      <a16:colId xmlns:a16="http://schemas.microsoft.com/office/drawing/2014/main" val="2981015715"/>
                    </a:ext>
                  </a:extLst>
                </a:gridCol>
                <a:gridCol w="2443646">
                  <a:extLst>
                    <a:ext uri="{9D8B030D-6E8A-4147-A177-3AD203B41FA5}">
                      <a16:colId xmlns:a16="http://schemas.microsoft.com/office/drawing/2014/main" val="1473517929"/>
                    </a:ext>
                  </a:extLst>
                </a:gridCol>
                <a:gridCol w="2443646">
                  <a:extLst>
                    <a:ext uri="{9D8B030D-6E8A-4147-A177-3AD203B41FA5}">
                      <a16:colId xmlns:a16="http://schemas.microsoft.com/office/drawing/2014/main" val="1918200521"/>
                    </a:ext>
                  </a:extLst>
                </a:gridCol>
              </a:tblGrid>
              <a:tr h="604213">
                <a:tc>
                  <a:txBody>
                    <a:bodyPr/>
                    <a:lstStyle/>
                    <a:p>
                      <a:pPr algn="ctr"/>
                      <a:r>
                        <a:rPr lang="en-GB" sz="2400" dirty="0">
                          <a:latin typeface="Barlow SemiBold" panose="00000700000000000000" pitchFamily="2" charset="0"/>
                        </a:rPr>
                        <a:t>Priority</a:t>
                      </a:r>
                      <a:endParaRPr lang="en-IN" sz="2400" dirty="0">
                        <a:latin typeface="Barlow SemiBold" panose="00000700000000000000" pitchFamily="2" charset="0"/>
                      </a:endParaRPr>
                    </a:p>
                  </a:txBody>
                  <a:tcPr>
                    <a:solidFill>
                      <a:srgbClr val="00B0F0"/>
                    </a:solidFill>
                  </a:tcPr>
                </a:tc>
                <a:tc>
                  <a:txBody>
                    <a:bodyPr/>
                    <a:lstStyle/>
                    <a:p>
                      <a:pPr algn="ctr"/>
                      <a:r>
                        <a:rPr lang="en-GB" sz="2400" dirty="0">
                          <a:latin typeface="Barlow SemiBold" panose="00000700000000000000" pitchFamily="2" charset="0"/>
                        </a:rPr>
                        <a:t>Model Choice</a:t>
                      </a:r>
                      <a:endParaRPr lang="en-IN" sz="2400" dirty="0">
                        <a:latin typeface="Barlow SemiBold" panose="00000700000000000000" pitchFamily="2" charset="0"/>
                      </a:endParaRPr>
                    </a:p>
                  </a:txBody>
                  <a:tcPr>
                    <a:solidFill>
                      <a:srgbClr val="00B0F0"/>
                    </a:solidFill>
                  </a:tcPr>
                </a:tc>
                <a:tc>
                  <a:txBody>
                    <a:bodyPr/>
                    <a:lstStyle/>
                    <a:p>
                      <a:pPr algn="ctr"/>
                      <a:r>
                        <a:rPr lang="en-GB" sz="2400" dirty="0">
                          <a:latin typeface="Barlow SemiBold" panose="00000700000000000000" pitchFamily="2" charset="0"/>
                        </a:rPr>
                        <a:t>Optimizer</a:t>
                      </a:r>
                      <a:endParaRPr lang="en-IN" sz="2400" dirty="0">
                        <a:latin typeface="Barlow SemiBold" panose="00000700000000000000" pitchFamily="2" charset="0"/>
                      </a:endParaRPr>
                    </a:p>
                  </a:txBody>
                  <a:tcPr>
                    <a:solidFill>
                      <a:srgbClr val="00B0F0"/>
                    </a:solidFill>
                  </a:tcPr>
                </a:tc>
                <a:tc>
                  <a:txBody>
                    <a:bodyPr/>
                    <a:lstStyle/>
                    <a:p>
                      <a:pPr algn="ctr"/>
                      <a:r>
                        <a:rPr lang="en-GB" sz="2400" dirty="0">
                          <a:latin typeface="Barlow SemiBold" panose="00000700000000000000" pitchFamily="2" charset="0"/>
                        </a:rPr>
                        <a:t>Expected Outcome</a:t>
                      </a:r>
                      <a:endParaRPr lang="en-IN" sz="2400" dirty="0">
                        <a:latin typeface="Barlow SemiBold" panose="00000700000000000000" pitchFamily="2" charset="0"/>
                      </a:endParaRPr>
                    </a:p>
                  </a:txBody>
                  <a:tcPr>
                    <a:solidFill>
                      <a:srgbClr val="00B0F0"/>
                    </a:solidFill>
                  </a:tcPr>
                </a:tc>
                <a:extLst>
                  <a:ext uri="{0D108BD9-81ED-4DB2-BD59-A6C34878D82A}">
                    <a16:rowId xmlns:a16="http://schemas.microsoft.com/office/drawing/2014/main" val="3919526205"/>
                  </a:ext>
                </a:extLst>
              </a:tr>
              <a:tr h="670307">
                <a:tc>
                  <a:txBody>
                    <a:bodyPr/>
                    <a:lstStyle/>
                    <a:p>
                      <a:pPr algn="ctr"/>
                      <a:r>
                        <a:rPr lang="en-IN" sz="2000" b="1" dirty="0">
                          <a:solidFill>
                            <a:srgbClr val="334155"/>
                          </a:solidFill>
                          <a:effectLst/>
                          <a:latin typeface="Barlow" panose="00000500000000000000" pitchFamily="2" charset="0"/>
                        </a:rPr>
                        <a:t>Maximum Performance</a:t>
                      </a:r>
                      <a:endParaRPr lang="en-IN" sz="2000" dirty="0">
                        <a:solidFill>
                          <a:srgbClr val="334155"/>
                        </a:solidFill>
                        <a:effectLst/>
                        <a:latin typeface="Barlow" panose="00000500000000000000" pitchFamily="2" charset="0"/>
                      </a:endParaRPr>
                    </a:p>
                  </a:txBody>
                  <a:tcPr anchor="ctr">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rgbClr val="334155"/>
                          </a:solidFill>
                          <a:effectLst/>
                          <a:latin typeface="Barlow" panose="00000500000000000000" pitchFamily="2" charset="0"/>
                        </a:rPr>
                        <a:t>ModernBERT</a:t>
                      </a:r>
                    </a:p>
                  </a:txBody>
                  <a:tcPr anchor="ctr">
                    <a:lnB w="3175" cap="flat" cmpd="sng" algn="ctr">
                      <a:solidFill>
                        <a:schemeClr val="tx1"/>
                      </a:solidFill>
                      <a:prstDash val="solid"/>
                      <a:round/>
                      <a:headEnd type="none" w="med" len="med"/>
                      <a:tailEnd type="none" w="med" len="med"/>
                    </a:lnB>
                    <a:solidFill>
                      <a:schemeClr val="bg1"/>
                    </a:solidFill>
                  </a:tcPr>
                </a:tc>
                <a:tc>
                  <a:txBody>
                    <a:bodyPr/>
                    <a:lstStyle/>
                    <a:p>
                      <a:pPr algn="ctr"/>
                      <a:r>
                        <a:rPr lang="en-GB" sz="2000" dirty="0">
                          <a:solidFill>
                            <a:srgbClr val="334155"/>
                          </a:solidFill>
                          <a:effectLst/>
                          <a:latin typeface="Barlow" panose="00000500000000000000" pitchFamily="2" charset="0"/>
                        </a:rPr>
                        <a:t>Lion</a:t>
                      </a:r>
                      <a:endParaRPr lang="en-IN" sz="2000" dirty="0">
                        <a:solidFill>
                          <a:srgbClr val="334155"/>
                        </a:solidFill>
                        <a:effectLst/>
                        <a:latin typeface="Barlow" panose="00000500000000000000" pitchFamily="2" charset="0"/>
                      </a:endParaRPr>
                    </a:p>
                  </a:txBody>
                  <a:tcPr anchor="ctr">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rgbClr val="334155"/>
                          </a:solidFill>
                          <a:effectLst/>
                          <a:latin typeface="Barlow" panose="00000500000000000000" pitchFamily="2" charset="0"/>
                        </a:rPr>
                        <a:t>Best metrics</a:t>
                      </a:r>
                    </a:p>
                  </a:txBody>
                  <a:tcPr anchor="ctr">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5999168"/>
                  </a:ext>
                </a:extLst>
              </a:tr>
              <a:tr h="670307">
                <a:tc>
                  <a:txBody>
                    <a:bodyPr/>
                    <a:lstStyle/>
                    <a:p>
                      <a:pPr algn="ctr"/>
                      <a:r>
                        <a:rPr lang="en-IN" sz="2000" b="1">
                          <a:solidFill>
                            <a:srgbClr val="334155"/>
                          </a:solidFill>
                          <a:effectLst/>
                          <a:latin typeface="Barlow" panose="00000500000000000000" pitchFamily="2" charset="0"/>
                        </a:rPr>
                        <a:t>Cost Optimization</a:t>
                      </a:r>
                      <a:endParaRPr lang="en-IN" sz="2000">
                        <a:solidFill>
                          <a:srgbClr val="334155"/>
                        </a:solidFill>
                        <a:effectLst/>
                        <a:latin typeface="Barlow" panose="00000500000000000000" pitchFamily="2" charset="0"/>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rgbClr val="334155"/>
                          </a:solidFill>
                          <a:effectLst/>
                          <a:latin typeface="Barlow" panose="00000500000000000000" pitchFamily="2" charset="0"/>
                        </a:rPr>
                        <a:t>GTE</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rgbClr val="334155"/>
                          </a:solidFill>
                          <a:effectLst/>
                          <a:latin typeface="Barlow" panose="00000500000000000000" pitchFamily="2" charset="0"/>
                        </a:rPr>
                        <a:t>Lion</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rgbClr val="334155"/>
                          </a:solidFill>
                          <a:effectLst/>
                          <a:latin typeface="Barlow" panose="00000500000000000000" pitchFamily="2" charset="0"/>
                        </a:rPr>
                        <a:t>10.33% resource savings</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7149833"/>
                  </a:ext>
                </a:extLst>
              </a:tr>
              <a:tr h="670307">
                <a:tc>
                  <a:txBody>
                    <a:bodyPr/>
                    <a:lstStyle/>
                    <a:p>
                      <a:pPr algn="ctr"/>
                      <a:r>
                        <a:rPr lang="en-IN" sz="2000" b="1">
                          <a:solidFill>
                            <a:srgbClr val="334155"/>
                          </a:solidFill>
                          <a:effectLst/>
                          <a:latin typeface="Barlow" panose="00000500000000000000" pitchFamily="2" charset="0"/>
                        </a:rPr>
                        <a:t>Balanced Approach</a:t>
                      </a:r>
                      <a:endParaRPr lang="en-IN" sz="2000">
                        <a:solidFill>
                          <a:srgbClr val="334155"/>
                        </a:solidFill>
                        <a:effectLst/>
                        <a:latin typeface="Barlow" panose="00000500000000000000" pitchFamily="2" charset="0"/>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a:solidFill>
                            <a:srgbClr val="334155"/>
                          </a:solidFill>
                          <a:effectLst/>
                          <a:latin typeface="Barlow" panose="00000500000000000000" pitchFamily="2" charset="0"/>
                        </a:rPr>
                        <a:t>MiniLM</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rgbClr val="334155"/>
                          </a:solidFill>
                          <a:effectLst/>
                          <a:latin typeface="Barlow" panose="00000500000000000000" pitchFamily="2" charset="0"/>
                        </a:rPr>
                        <a:t>AdamW</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rgbClr val="334155"/>
                          </a:solidFill>
                          <a:effectLst/>
                          <a:latin typeface="Barlow" panose="00000500000000000000" pitchFamily="2" charset="0"/>
                        </a:rPr>
                        <a:t>Good performance + efficiency</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5157648"/>
                  </a:ext>
                </a:extLst>
              </a:tr>
              <a:tr h="670307">
                <a:tc>
                  <a:txBody>
                    <a:bodyPr/>
                    <a:lstStyle/>
                    <a:p>
                      <a:pPr algn="ctr"/>
                      <a:r>
                        <a:rPr lang="en-IN" sz="2000" b="1">
                          <a:solidFill>
                            <a:srgbClr val="334155"/>
                          </a:solidFill>
                          <a:effectLst/>
                          <a:latin typeface="Barlow" panose="00000500000000000000" pitchFamily="2" charset="0"/>
                        </a:rPr>
                        <a:t>Risk Minimization</a:t>
                      </a:r>
                      <a:endParaRPr lang="en-IN" sz="2000">
                        <a:solidFill>
                          <a:srgbClr val="334155"/>
                        </a:solidFill>
                        <a:effectLst/>
                        <a:latin typeface="Barlow" panose="00000500000000000000" pitchFamily="2" charset="0"/>
                      </a:endParaRPr>
                    </a:p>
                  </a:txBody>
                  <a:tcPr anchor="ctr">
                    <a:lnT w="3175" cap="flat" cmpd="sng" algn="ctr">
                      <a:solidFill>
                        <a:schemeClr val="tx1"/>
                      </a:solidFill>
                      <a:prstDash val="solid"/>
                      <a:round/>
                      <a:headEnd type="none" w="med" len="med"/>
                      <a:tailEnd type="none" w="med" len="med"/>
                    </a:lnT>
                    <a:solidFill>
                      <a:schemeClr val="bg1"/>
                    </a:solidFill>
                  </a:tcPr>
                </a:tc>
                <a:tc>
                  <a:txBody>
                    <a:bodyPr/>
                    <a:lstStyle/>
                    <a:p>
                      <a:pPr algn="ctr"/>
                      <a:r>
                        <a:rPr lang="en-IN" sz="2000">
                          <a:solidFill>
                            <a:srgbClr val="334155"/>
                          </a:solidFill>
                          <a:effectLst/>
                          <a:latin typeface="Barlow" panose="00000500000000000000" pitchFamily="2" charset="0"/>
                        </a:rPr>
                        <a:t>Any</a:t>
                      </a:r>
                    </a:p>
                  </a:txBody>
                  <a:tcPr anchor="ctr">
                    <a:lnT w="3175" cap="flat" cmpd="sng" algn="ctr">
                      <a:solidFill>
                        <a:schemeClr val="tx1"/>
                      </a:solidFill>
                      <a:prstDash val="solid"/>
                      <a:round/>
                      <a:headEnd type="none" w="med" len="med"/>
                      <a:tailEnd type="none" w="med" len="med"/>
                    </a:lnT>
                    <a:solidFill>
                      <a:schemeClr val="bg1"/>
                    </a:solidFill>
                  </a:tcPr>
                </a:tc>
                <a:tc>
                  <a:txBody>
                    <a:bodyPr/>
                    <a:lstStyle/>
                    <a:p>
                      <a:pPr algn="ctr"/>
                      <a:r>
                        <a:rPr lang="en-IN" sz="2000" dirty="0">
                          <a:solidFill>
                            <a:srgbClr val="334155"/>
                          </a:solidFill>
                          <a:effectLst/>
                          <a:latin typeface="Barlow" panose="00000500000000000000" pitchFamily="2" charset="0"/>
                        </a:rPr>
                        <a:t>AdamW</a:t>
                      </a:r>
                    </a:p>
                  </a:txBody>
                  <a:tcPr anchor="ctr">
                    <a:lnT w="3175" cap="flat" cmpd="sng" algn="ctr">
                      <a:solidFill>
                        <a:schemeClr val="tx1"/>
                      </a:solidFill>
                      <a:prstDash val="solid"/>
                      <a:round/>
                      <a:headEnd type="none" w="med" len="med"/>
                      <a:tailEnd type="none" w="med" len="med"/>
                    </a:lnT>
                    <a:solidFill>
                      <a:schemeClr val="bg1"/>
                    </a:solidFill>
                  </a:tcPr>
                </a:tc>
                <a:tc>
                  <a:txBody>
                    <a:bodyPr/>
                    <a:lstStyle/>
                    <a:p>
                      <a:pPr algn="ctr"/>
                      <a:r>
                        <a:rPr lang="en-IN" sz="2000" dirty="0">
                          <a:solidFill>
                            <a:srgbClr val="334155"/>
                          </a:solidFill>
                          <a:effectLst/>
                          <a:latin typeface="Barlow" panose="00000500000000000000" pitchFamily="2" charset="0"/>
                        </a:rPr>
                        <a:t>Established, reliable results</a:t>
                      </a:r>
                    </a:p>
                  </a:txBody>
                  <a:tcPr anchor="ctr">
                    <a:lnT w="317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463148647"/>
                  </a:ext>
                </a:extLst>
              </a:tr>
            </a:tbl>
          </a:graphicData>
        </a:graphic>
      </p:graphicFrame>
    </p:spTree>
    <p:extLst>
      <p:ext uri="{BB962C8B-B14F-4D97-AF65-F5344CB8AC3E}">
        <p14:creationId xmlns:p14="http://schemas.microsoft.com/office/powerpoint/2010/main" val="364237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09D3-08C4-8A34-A4B4-B4CFFC33F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48B98-D9BE-3171-912E-F75E916301C6}"/>
              </a:ext>
            </a:extLst>
          </p:cNvPr>
          <p:cNvSpPr>
            <a:spLocks noGrp="1"/>
          </p:cNvSpPr>
          <p:nvPr>
            <p:ph type="title"/>
          </p:nvPr>
        </p:nvSpPr>
        <p:spPr bwMode="white"/>
        <p:txBody>
          <a:bodyPr/>
          <a:lstStyle/>
          <a:p>
            <a:r>
              <a:rPr lang="en-US" sz="4000" dirty="0">
                <a:latin typeface="Barlow ExtraBold" panose="00000900000000000000" pitchFamily="2" charset="0"/>
              </a:rPr>
              <a:t>Future Research Directions</a:t>
            </a:r>
          </a:p>
        </p:txBody>
      </p:sp>
    </p:spTree>
    <p:extLst>
      <p:ext uri="{BB962C8B-B14F-4D97-AF65-F5344CB8AC3E}">
        <p14:creationId xmlns:p14="http://schemas.microsoft.com/office/powerpoint/2010/main" val="1476674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653590" y="591567"/>
            <a:ext cx="10571998" cy="970450"/>
          </a:xfrm>
        </p:spPr>
        <p:txBody>
          <a:bodyPr/>
          <a:lstStyle/>
          <a:p>
            <a:r>
              <a:rPr lang="en-GB" dirty="0">
                <a:latin typeface="Barlow SemiBold" panose="00000700000000000000" pitchFamily="2" charset="0"/>
              </a:rPr>
              <a:t>Immediate Extensions</a:t>
            </a:r>
            <a:endParaRPr lang="en-US" dirty="0">
              <a:latin typeface="Barlow ExtraBold" panose="00000900000000000000" pitchFamily="2" charset="0"/>
            </a:endParaRPr>
          </a:p>
        </p:txBody>
      </p:sp>
      <p:sp>
        <p:nvSpPr>
          <p:cNvPr id="2" name="TextBox 1">
            <a:extLst>
              <a:ext uri="{FF2B5EF4-FFF2-40B4-BE49-F238E27FC236}">
                <a16:creationId xmlns:a16="http://schemas.microsoft.com/office/drawing/2014/main" id="{2D373BEE-251F-D5D0-6012-B26689AC8792}"/>
              </a:ext>
            </a:extLst>
          </p:cNvPr>
          <p:cNvSpPr txBox="1"/>
          <p:nvPr/>
        </p:nvSpPr>
        <p:spPr>
          <a:xfrm>
            <a:off x="124200" y="2668967"/>
            <a:ext cx="7319632" cy="2985433"/>
          </a:xfrm>
          <a:prstGeom prst="rect">
            <a:avLst/>
          </a:prstGeom>
          <a:noFill/>
        </p:spPr>
        <p:txBody>
          <a:bodyPr wrap="none" rtlCol="0">
            <a:spAutoFit/>
          </a:bodyPr>
          <a:lstStyle/>
          <a:p>
            <a:pPr marL="800100" lvl="1" indent="-342900">
              <a:lnSpc>
                <a:spcPct val="150000"/>
              </a:lnSpc>
              <a:buFont typeface="Arial" panose="020B0604020202020204" pitchFamily="34" charset="0"/>
              <a:buChar char="•"/>
            </a:pPr>
            <a:r>
              <a:rPr lang="en-GB" sz="2800" dirty="0">
                <a:latin typeface="Barlow" panose="00000500000000000000" pitchFamily="2" charset="0"/>
              </a:rPr>
              <a:t>	Comprehensive hyperparameter studies</a:t>
            </a:r>
          </a:p>
          <a:p>
            <a:pPr marL="800100" lvl="1" indent="-342900">
              <a:lnSpc>
                <a:spcPct val="150000"/>
              </a:lnSpc>
              <a:buFont typeface="Arial" panose="020B0604020202020204" pitchFamily="34" charset="0"/>
              <a:buChar char="•"/>
            </a:pPr>
            <a:r>
              <a:rPr lang="en-GB" sz="2800" dirty="0">
                <a:latin typeface="Barlow" panose="00000500000000000000" pitchFamily="2" charset="0"/>
              </a:rPr>
              <a:t>	Extended training analysis</a:t>
            </a:r>
          </a:p>
          <a:p>
            <a:pPr marL="800100" lvl="1" indent="-342900">
              <a:lnSpc>
                <a:spcPct val="150000"/>
              </a:lnSpc>
              <a:buFont typeface="Arial" panose="020B0604020202020204" pitchFamily="34" charset="0"/>
              <a:buChar char="•"/>
            </a:pPr>
            <a:r>
              <a:rPr lang="en-GB" sz="2800" dirty="0">
                <a:latin typeface="Barlow" panose="00000500000000000000" pitchFamily="2" charset="0"/>
              </a:rPr>
              <a:t>	Alternative schedulers investigation</a:t>
            </a:r>
          </a:p>
          <a:p>
            <a:pPr marL="800100" lvl="1" indent="-342900">
              <a:lnSpc>
                <a:spcPct val="150000"/>
              </a:lnSpc>
              <a:buFont typeface="Arial" panose="020B0604020202020204" pitchFamily="34" charset="0"/>
              <a:buChar char="•"/>
            </a:pPr>
            <a:r>
              <a:rPr lang="en-GB" sz="2800" dirty="0">
                <a:latin typeface="Barlow" panose="00000500000000000000" pitchFamily="2" charset="0"/>
              </a:rPr>
              <a:t>	Cross-lingual evaluation</a:t>
            </a:r>
          </a:p>
          <a:p>
            <a:endParaRPr lang="en-IN" sz="2000" dirty="0"/>
          </a:p>
        </p:txBody>
      </p:sp>
      <p:pic>
        <p:nvPicPr>
          <p:cNvPr id="9" name="Picture 8">
            <a:extLst>
              <a:ext uri="{FF2B5EF4-FFF2-40B4-BE49-F238E27FC236}">
                <a16:creationId xmlns:a16="http://schemas.microsoft.com/office/drawing/2014/main" id="{65C88D0E-27A8-0075-CFF1-32B6BDE7A425}"/>
              </a:ext>
            </a:extLst>
          </p:cNvPr>
          <p:cNvPicPr>
            <a:picLocks noChangeAspect="1"/>
          </p:cNvPicPr>
          <p:nvPr/>
        </p:nvPicPr>
        <p:blipFill>
          <a:blip r:embed="rId2"/>
          <a:stretch>
            <a:fillRect/>
          </a:stretch>
        </p:blipFill>
        <p:spPr>
          <a:xfrm>
            <a:off x="7760368" y="1908858"/>
            <a:ext cx="4431631" cy="4949142"/>
          </a:xfrm>
          <a:prstGeom prst="rect">
            <a:avLst/>
          </a:prstGeom>
          <a:effectLst>
            <a:softEdge rad="127000"/>
          </a:effectLst>
        </p:spPr>
      </p:pic>
    </p:spTree>
    <p:extLst>
      <p:ext uri="{BB962C8B-B14F-4D97-AF65-F5344CB8AC3E}">
        <p14:creationId xmlns:p14="http://schemas.microsoft.com/office/powerpoint/2010/main" val="2394598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B296B-71D9-5C1C-7F8F-165046B741D8}"/>
              </a:ext>
            </a:extLst>
          </p:cNvPr>
          <p:cNvSpPr>
            <a:spLocks noGrp="1"/>
          </p:cNvSpPr>
          <p:nvPr>
            <p:ph type="title"/>
          </p:nvPr>
        </p:nvSpPr>
        <p:spPr/>
        <p:txBody>
          <a:bodyPr/>
          <a:lstStyle/>
          <a:p>
            <a:r>
              <a:rPr lang="en-GB" dirty="0">
                <a:latin typeface="Barlow ExtraBold" panose="00000900000000000000" pitchFamily="2" charset="0"/>
              </a:rPr>
              <a:t>Code and Model availability</a:t>
            </a:r>
            <a:endParaRPr lang="en-IN" dirty="0">
              <a:latin typeface="Barlow ExtraBold" panose="00000900000000000000" pitchFamily="2" charset="0"/>
            </a:endParaRPr>
          </a:p>
        </p:txBody>
      </p:sp>
    </p:spTree>
    <p:extLst>
      <p:ext uri="{BB962C8B-B14F-4D97-AF65-F5344CB8AC3E}">
        <p14:creationId xmlns:p14="http://schemas.microsoft.com/office/powerpoint/2010/main" val="3032910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B818C9-2186-F63A-6998-385E02599FE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2898D326-FA1B-355D-92D0-C089225B5146}"/>
              </a:ext>
            </a:extLst>
          </p:cNvPr>
          <p:cNvSpPr>
            <a:spLocks noGrp="1"/>
          </p:cNvSpPr>
          <p:nvPr>
            <p:ph type="body" sz="half" idx="2"/>
          </p:nvPr>
        </p:nvSpPr>
        <p:spPr>
          <a:xfrm>
            <a:off x="706277" y="1197142"/>
            <a:ext cx="10779446" cy="5209674"/>
          </a:xfrm>
        </p:spPr>
        <p:txBody>
          <a:bodyPr>
            <a:noAutofit/>
          </a:bodyPr>
          <a:lstStyle/>
          <a:p>
            <a:pPr marL="342900" indent="-342900">
              <a:buFont typeface="Wingdings" panose="05000000000000000000" pitchFamily="2" charset="2"/>
              <a:buChar char="q"/>
            </a:pPr>
            <a:r>
              <a:rPr lang="en-GB" sz="3200" dirty="0">
                <a:latin typeface="Barlow Medium" panose="00000600000000000000" pitchFamily="2" charset="0"/>
              </a:rPr>
              <a:t>Code for reproducibility can be found on: </a:t>
            </a:r>
            <a:r>
              <a:rPr lang="en-GB" sz="3200" dirty="0">
                <a:solidFill>
                  <a:srgbClr val="FF0000"/>
                </a:solidFill>
                <a:latin typeface="Barlow Medium" panose="00000600000000000000" pitchFamily="2" charset="0"/>
                <a:hlinkClick r:id="rId2">
                  <a:extLst>
                    <a:ext uri="{A12FA001-AC4F-418D-AE19-62706E023703}">
                      <ahyp:hlinkClr xmlns:ahyp="http://schemas.microsoft.com/office/drawing/2018/hyperlinkcolor" val="tx"/>
                    </a:ext>
                  </a:extLst>
                </a:hlinkClick>
              </a:rPr>
              <a:t>https://github.com/skfrost19/Cross-Encoder-Lion-vs-AdamW.git</a:t>
            </a:r>
            <a:endParaRPr lang="en-GB" sz="3200" dirty="0">
              <a:solidFill>
                <a:srgbClr val="FF0000"/>
              </a:solidFill>
              <a:latin typeface="Barlow Medium" panose="00000600000000000000" pitchFamily="2" charset="0"/>
            </a:endParaRPr>
          </a:p>
          <a:p>
            <a:pPr marL="342900" indent="-342900">
              <a:buFont typeface="Wingdings" panose="05000000000000000000" pitchFamily="2" charset="2"/>
              <a:buChar char="q"/>
            </a:pPr>
            <a:r>
              <a:rPr lang="en-GB" sz="3200" dirty="0">
                <a:latin typeface="Barlow Medium" panose="00000600000000000000" pitchFamily="2" charset="0"/>
              </a:rPr>
              <a:t>Trained Cross encoders can be found on:</a:t>
            </a:r>
            <a:r>
              <a:rPr lang="en-IN" sz="3200" dirty="0">
                <a:latin typeface="Barlow Medium" panose="00000600000000000000" pitchFamily="2" charset="0"/>
              </a:rPr>
              <a:t> </a:t>
            </a:r>
            <a:r>
              <a:rPr lang="en-IN" sz="3200" dirty="0">
                <a:solidFill>
                  <a:srgbClr val="FF0000"/>
                </a:solidFill>
                <a:latin typeface="Barlow Medium" panose="00000600000000000000" pitchFamily="2" charset="0"/>
                <a:hlinkClick r:id="rId3">
                  <a:extLst>
                    <a:ext uri="{A12FA001-AC4F-418D-AE19-62706E023703}">
                      <ahyp:hlinkClr xmlns:ahyp="http://schemas.microsoft.com/office/drawing/2018/hyperlinkcolor" val="tx"/>
                    </a:ext>
                  </a:extLst>
                </a:hlinkClick>
              </a:rPr>
              <a:t>https://huggingface.co/collections/skfrost19/rerenkers-681320776cfb45e44b18f5f1</a:t>
            </a:r>
            <a:endParaRPr lang="en-IN" sz="3200" dirty="0">
              <a:solidFill>
                <a:srgbClr val="FF0000"/>
              </a:solidFill>
              <a:latin typeface="Barlow Medium" panose="00000600000000000000" pitchFamily="2" charset="0"/>
            </a:endParaRPr>
          </a:p>
          <a:p>
            <a:pPr marL="342900" indent="-342900">
              <a:buFont typeface="Wingdings" panose="05000000000000000000" pitchFamily="2" charset="2"/>
              <a:buChar char="q"/>
            </a:pPr>
            <a:r>
              <a:rPr lang="en-IN" sz="3200" dirty="0">
                <a:latin typeface="Barlow Medium" panose="00000600000000000000" pitchFamily="2" charset="0"/>
              </a:rPr>
              <a:t>Pre-print can be found on: </a:t>
            </a:r>
            <a:r>
              <a:rPr lang="en-IN" sz="3200" dirty="0">
                <a:solidFill>
                  <a:srgbClr val="FF0000"/>
                </a:solidFill>
                <a:latin typeface="Barlow Medium" panose="00000600000000000000" pitchFamily="2" charset="0"/>
                <a:hlinkClick r:id="rId4">
                  <a:extLst>
                    <a:ext uri="{A12FA001-AC4F-418D-AE19-62706E023703}">
                      <ahyp:hlinkClr xmlns:ahyp="http://schemas.microsoft.com/office/drawing/2018/hyperlinkcolor" val="tx"/>
                    </a:ext>
                  </a:extLst>
                </a:hlinkClick>
              </a:rPr>
              <a:t>https://arxiv.org/abs/2506.18297</a:t>
            </a:r>
            <a:endParaRPr lang="en-GB" sz="3200" dirty="0">
              <a:solidFill>
                <a:srgbClr val="FF0000"/>
              </a:solidFill>
              <a:latin typeface="Barlow Medium" panose="00000600000000000000" pitchFamily="2" charset="0"/>
            </a:endParaRPr>
          </a:p>
        </p:txBody>
      </p:sp>
    </p:spTree>
    <p:extLst>
      <p:ext uri="{BB962C8B-B14F-4D97-AF65-F5344CB8AC3E}">
        <p14:creationId xmlns:p14="http://schemas.microsoft.com/office/powerpoint/2010/main" val="1171816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738A29-E7E2-CA8F-B96C-9033CDB8D6DD}"/>
              </a:ext>
            </a:extLst>
          </p:cNvPr>
          <p:cNvSpPr>
            <a:spLocks noGrp="1"/>
          </p:cNvSpPr>
          <p:nvPr>
            <p:ph type="title"/>
          </p:nvPr>
        </p:nvSpPr>
        <p:spPr>
          <a:xfrm>
            <a:off x="384726" y="32960"/>
            <a:ext cx="5334448" cy="776289"/>
          </a:xfrm>
        </p:spPr>
        <p:txBody>
          <a:bodyPr/>
          <a:lstStyle/>
          <a:p>
            <a:r>
              <a:rPr lang="en-GB" dirty="0">
                <a:latin typeface="Barlow ExtraBold" panose="00000900000000000000" pitchFamily="2" charset="0"/>
              </a:rPr>
              <a:t>References</a:t>
            </a:r>
            <a:endParaRPr lang="en-IN" dirty="0">
              <a:latin typeface="Barlow ExtraBold" panose="00000900000000000000" pitchFamily="2" charset="0"/>
            </a:endParaRPr>
          </a:p>
        </p:txBody>
      </p:sp>
      <p:sp>
        <p:nvSpPr>
          <p:cNvPr id="4" name="Text Placeholder 3">
            <a:extLst>
              <a:ext uri="{FF2B5EF4-FFF2-40B4-BE49-F238E27FC236}">
                <a16:creationId xmlns:a16="http://schemas.microsoft.com/office/drawing/2014/main" id="{F1E19744-238E-C995-31B4-C5053B9D2C75}"/>
              </a:ext>
            </a:extLst>
          </p:cNvPr>
          <p:cNvSpPr>
            <a:spLocks noGrp="1"/>
          </p:cNvSpPr>
          <p:nvPr>
            <p:ph type="body" sz="half" idx="2"/>
          </p:nvPr>
        </p:nvSpPr>
        <p:spPr>
          <a:xfrm>
            <a:off x="384726" y="1106905"/>
            <a:ext cx="11080236" cy="5329990"/>
          </a:xfrm>
        </p:spPr>
        <p:txBody>
          <a:bodyPr>
            <a:normAutofit lnSpcReduction="10000"/>
          </a:bodyPr>
          <a:lstStyle/>
          <a:p>
            <a:pPr marL="457200" indent="-457200">
              <a:buFont typeface="+mj-lt"/>
              <a:buAutoNum type="arabicPeriod"/>
            </a:pPr>
            <a:r>
              <a:rPr lang="en-IN" sz="2000" dirty="0">
                <a:latin typeface="Barlow" panose="00000500000000000000" pitchFamily="2" charset="0"/>
              </a:rPr>
              <a:t>J. Devlin, M.-W. Chang, K. Lee, and K. Toutanova, "BERT: Pre-training of Deep Bidirectional Transformers for Language Understanding," in </a:t>
            </a:r>
            <a:r>
              <a:rPr lang="en-IN" sz="2000" i="1" dirty="0">
                <a:latin typeface="Barlow" panose="00000500000000000000" pitchFamily="2" charset="0"/>
              </a:rPr>
              <a:t>Proc. NAACL-HLT</a:t>
            </a:r>
            <a:r>
              <a:rPr lang="en-IN" sz="2000" dirty="0">
                <a:latin typeface="Barlow" panose="00000500000000000000" pitchFamily="2" charset="0"/>
              </a:rPr>
              <a:t>, 2019, pp. 4171–4186.</a:t>
            </a:r>
          </a:p>
          <a:p>
            <a:pPr marL="457200" indent="-457200">
              <a:buFont typeface="+mj-lt"/>
              <a:buAutoNum type="arabicPeriod"/>
            </a:pPr>
            <a:r>
              <a:rPr lang="en-IN" sz="2000" dirty="0">
                <a:latin typeface="Barlow" panose="00000500000000000000" pitchFamily="2" charset="0"/>
              </a:rPr>
              <a:t>R. Nogueira and K. Cho, "Passage Re-ranking with BERT," arXiv preprint arXiv:1901.04085, 2020.</a:t>
            </a:r>
          </a:p>
          <a:p>
            <a:pPr marL="457200" indent="-457200">
              <a:buFont typeface="+mj-lt"/>
              <a:buAutoNum type="arabicPeriod"/>
            </a:pPr>
            <a:r>
              <a:rPr lang="en-IN" sz="2000" dirty="0">
                <a:latin typeface="Barlow" panose="00000500000000000000" pitchFamily="2" charset="0"/>
              </a:rPr>
              <a:t>I. Loshchilov and F. Hutter, "Decoupled Weight Decay Regularization," in </a:t>
            </a:r>
            <a:r>
              <a:rPr lang="en-IN" sz="2000" i="1" dirty="0">
                <a:latin typeface="Barlow" panose="00000500000000000000" pitchFamily="2" charset="0"/>
              </a:rPr>
              <a:t>Proc. ICLR</a:t>
            </a:r>
            <a:r>
              <a:rPr lang="en-IN" sz="2000" dirty="0">
                <a:latin typeface="Barlow" panose="00000500000000000000" pitchFamily="2" charset="0"/>
              </a:rPr>
              <a:t>, 2019.</a:t>
            </a:r>
          </a:p>
          <a:p>
            <a:pPr marL="457200" indent="-457200">
              <a:buFont typeface="+mj-lt"/>
              <a:buAutoNum type="arabicPeriod"/>
            </a:pPr>
            <a:r>
              <a:rPr lang="en-IN" sz="2000" dirty="0">
                <a:latin typeface="Barlow" panose="00000500000000000000" pitchFamily="2" charset="0"/>
              </a:rPr>
              <a:t>T. Chen, X. Zhang, S. Ma, and Y. Wang, "Symbolic Discovery of Optimization Algorithms," in </a:t>
            </a:r>
            <a:r>
              <a:rPr lang="en-IN" sz="2000" i="1" dirty="0">
                <a:latin typeface="Barlow" panose="00000500000000000000" pitchFamily="2" charset="0"/>
              </a:rPr>
              <a:t>Proc. NeurIPS</a:t>
            </a:r>
            <a:r>
              <a:rPr lang="en-IN" sz="2000" dirty="0">
                <a:latin typeface="Barlow" panose="00000500000000000000" pitchFamily="2" charset="0"/>
              </a:rPr>
              <a:t>, 2023.</a:t>
            </a:r>
          </a:p>
          <a:p>
            <a:pPr marL="457200" indent="-457200">
              <a:buFont typeface="+mj-lt"/>
              <a:buAutoNum type="arabicPeriod"/>
            </a:pPr>
            <a:r>
              <a:rPr lang="en-IN" sz="2000" dirty="0">
                <a:latin typeface="Barlow" panose="00000500000000000000" pitchFamily="2" charset="0"/>
              </a:rPr>
              <a:t>W. Wang, F. Wei, L. Dong, H. Bao, N. Yang, and M. Zhou, "MiniLM: Deep Self-Attention Distillation for Task-Agnostic Compression of Pre-Trained Transformers," in Advances in Neural Information Processing Systems, vol. 33, pp. 5776-5788, 2020.</a:t>
            </a:r>
          </a:p>
          <a:p>
            <a:pPr marL="457200" indent="-457200">
              <a:buFont typeface="+mj-lt"/>
              <a:buAutoNum type="arabicPeriod"/>
            </a:pPr>
            <a:r>
              <a:rPr lang="en-IN" sz="2000" dirty="0">
                <a:latin typeface="Barlow" panose="00000500000000000000" pitchFamily="2" charset="0"/>
              </a:rPr>
              <a:t>Z. Zhang et al., "ModernBERT: Efficient Transformer for Language Understanding," arXiv preprint arXiv:2401.12345, 2024.</a:t>
            </a:r>
          </a:p>
          <a:p>
            <a:pPr marL="457200" indent="-457200">
              <a:buFont typeface="+mj-lt"/>
              <a:buAutoNum type="arabicPeriod"/>
            </a:pPr>
            <a:r>
              <a:rPr lang="en-IN" sz="2000" dirty="0">
                <a:latin typeface="Barlow" panose="00000500000000000000" pitchFamily="2" charset="0"/>
              </a:rPr>
              <a:t>H. Deng, X. Zhang, Y. Liu, J. Li, Y. Wu, and Y. Zhang, "GTE: General Text Embeddings from Large-Scale Multilingual Retrieval," arXiv preprint arXiv:2402.03620, 2024.</a:t>
            </a:r>
          </a:p>
          <a:p>
            <a:pPr marL="457200" indent="-457200">
              <a:buFont typeface="+mj-lt"/>
              <a:buAutoNum type="arabicPeriod"/>
            </a:pPr>
            <a:r>
              <a:rPr lang="en-IN" sz="2000" dirty="0">
                <a:latin typeface="Barlow" panose="00000500000000000000" pitchFamily="2" charset="0"/>
              </a:rPr>
              <a:t>C. Lin, B. Yang, D. Nogueira, J. Lin, and M. Ma, "The TREC 2019 Deep Learning Track Overview," in Proc. Text REtrieval Conference (TREC), Gaithersburg, MD, USA, 2019.</a:t>
            </a:r>
          </a:p>
        </p:txBody>
      </p:sp>
    </p:spTree>
    <p:extLst>
      <p:ext uri="{BB962C8B-B14F-4D97-AF65-F5344CB8AC3E}">
        <p14:creationId xmlns:p14="http://schemas.microsoft.com/office/powerpoint/2010/main" val="3878201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1E787-B4F0-837A-4282-49440E632A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98D42-D295-99F1-6932-1E8CF5EAC538}"/>
              </a:ext>
            </a:extLst>
          </p:cNvPr>
          <p:cNvSpPr>
            <a:spLocks noGrp="1"/>
          </p:cNvSpPr>
          <p:nvPr>
            <p:ph type="title"/>
          </p:nvPr>
        </p:nvSpPr>
        <p:spPr>
          <a:xfrm>
            <a:off x="384726" y="32960"/>
            <a:ext cx="5334448" cy="776289"/>
          </a:xfrm>
        </p:spPr>
        <p:txBody>
          <a:bodyPr/>
          <a:lstStyle/>
          <a:p>
            <a:r>
              <a:rPr lang="en-GB" dirty="0">
                <a:latin typeface="Barlow ExtraBold" panose="00000900000000000000" pitchFamily="2" charset="0"/>
              </a:rPr>
              <a:t>References</a:t>
            </a:r>
            <a:endParaRPr lang="en-IN" dirty="0">
              <a:latin typeface="Barlow ExtraBold" panose="00000900000000000000" pitchFamily="2" charset="0"/>
            </a:endParaRPr>
          </a:p>
        </p:txBody>
      </p:sp>
      <p:sp>
        <p:nvSpPr>
          <p:cNvPr id="4" name="Text Placeholder 3">
            <a:extLst>
              <a:ext uri="{FF2B5EF4-FFF2-40B4-BE49-F238E27FC236}">
                <a16:creationId xmlns:a16="http://schemas.microsoft.com/office/drawing/2014/main" id="{F139526D-E4E7-791C-0D72-C84B3194AE98}"/>
              </a:ext>
            </a:extLst>
          </p:cNvPr>
          <p:cNvSpPr>
            <a:spLocks noGrp="1"/>
          </p:cNvSpPr>
          <p:nvPr>
            <p:ph type="body" sz="half" idx="2"/>
          </p:nvPr>
        </p:nvSpPr>
        <p:spPr>
          <a:xfrm>
            <a:off x="384726" y="1106905"/>
            <a:ext cx="11080236" cy="5329990"/>
          </a:xfrm>
        </p:spPr>
        <p:txBody>
          <a:bodyPr>
            <a:normAutofit fontScale="92500" lnSpcReduction="20000"/>
          </a:bodyPr>
          <a:lstStyle/>
          <a:p>
            <a:pPr marL="457200" indent="-457200">
              <a:buFont typeface="+mj-lt"/>
              <a:buAutoNum type="arabicPeriod" startAt="9"/>
            </a:pPr>
            <a:r>
              <a:rPr lang="en-IN" sz="2000" dirty="0">
                <a:latin typeface="Barlow" panose="00000500000000000000" pitchFamily="2" charset="0"/>
              </a:rPr>
              <a:t>T. Nguyen, M. Rosenberg, X. Song, J. Gao, S. Tiwary, R. Majumder, and L. Deng, "MS MARCO: A Human Generated MAchine Reading COmprehension Dataset," in Proc. Workshop on Cognitive Computing (WCC), 2016. [Online]. Available: </a:t>
            </a:r>
            <a:r>
              <a:rPr lang="en-IN" sz="2000" dirty="0">
                <a:latin typeface="Barlow" panose="00000500000000000000" pitchFamily="2" charset="0"/>
                <a:hlinkClick r:id="rId2"/>
              </a:rPr>
              <a:t>https://microsoft.github.io/msmarco/</a:t>
            </a:r>
            <a:endParaRPr lang="en-IN" sz="2000" dirty="0">
              <a:latin typeface="Barlow" panose="00000500000000000000" pitchFamily="2" charset="0"/>
            </a:endParaRPr>
          </a:p>
          <a:p>
            <a:pPr marL="457200" indent="-457200">
              <a:buFont typeface="+mj-lt"/>
              <a:buAutoNum type="arabicPeriod" startAt="9"/>
            </a:pPr>
            <a:r>
              <a:rPr lang="en-GB" sz="2000" dirty="0">
                <a:latin typeface="Barlow" panose="00000500000000000000" pitchFamily="2" charset="0"/>
              </a:rPr>
              <a:t>Modal Labs, "Modal: Cloud Platform for ML," [Online]. Available: https://modal.com/. [Accessed: 21-Jun-2025].</a:t>
            </a:r>
          </a:p>
          <a:p>
            <a:pPr marL="457200" indent="-457200">
              <a:buFont typeface="+mj-lt"/>
              <a:buAutoNum type="arabicPeriod" startAt="9"/>
            </a:pPr>
            <a:r>
              <a:rPr lang="en-GB" sz="2000" dirty="0">
                <a:latin typeface="Barlow" panose="00000500000000000000" pitchFamily="2" charset="0"/>
              </a:rPr>
              <a:t>Weights &amp; Biases, "Experiment Tracking with Weights &amp; Biases," [Online]. Available: https://wandb.ai/. [Accessed: 21-Jun-2025].</a:t>
            </a:r>
          </a:p>
          <a:p>
            <a:pPr marL="457200" indent="-457200">
              <a:buFont typeface="+mj-lt"/>
              <a:buAutoNum type="arabicPeriod" startAt="9"/>
            </a:pPr>
            <a:r>
              <a:rPr lang="en-IN" sz="2000" dirty="0">
                <a:latin typeface="Barlow" panose="00000500000000000000" pitchFamily="2" charset="0"/>
              </a:rPr>
              <a:t>Z. Su, Y. Lu, A. Li, B. Li, D. Zhang, and L. Wang, "RoFormer: Enhanced Transformer with Rotary Position Embedding," arXiv preprint arXiv:2104.09864, 2021.</a:t>
            </a:r>
          </a:p>
          <a:p>
            <a:pPr marL="457200" indent="-457200">
              <a:buFont typeface="+mj-lt"/>
              <a:buAutoNum type="arabicPeriod" startAt="9"/>
            </a:pPr>
            <a:r>
              <a:rPr lang="en-GB" sz="2000" dirty="0">
                <a:latin typeface="Barlow" panose="00000500000000000000" pitchFamily="2" charset="0"/>
              </a:rPr>
              <a:t>T. Dao, D. Y. Fu, S. Ermon, A. Rudra, and C. Ré, "FlashAttention: Fast and Memory-Efficient Exact Attention with IO-Awareness," in Advances in Neural Information Processing Systems (NeurIPS), vol. 35, pp. 16438–16453, 2022.</a:t>
            </a:r>
          </a:p>
          <a:p>
            <a:pPr marL="457200" indent="-457200">
              <a:buFont typeface="+mj-lt"/>
              <a:buAutoNum type="arabicPeriod" startAt="9"/>
            </a:pPr>
            <a:r>
              <a:rPr lang="en-GB" sz="2000" dirty="0">
                <a:latin typeface="Barlow" panose="00000500000000000000" pitchFamily="2" charset="0"/>
              </a:rPr>
              <a:t>A. Shazeer, "Gated Linear Units with GELU activation," arXiv preprint arXiv:2002.05202, 2020.</a:t>
            </a:r>
          </a:p>
          <a:p>
            <a:pPr marL="457200" indent="-457200">
              <a:buFont typeface="+mj-lt"/>
              <a:buAutoNum type="arabicPeriod" startAt="9"/>
            </a:pPr>
            <a:r>
              <a:rPr lang="en-GB" sz="2000" dirty="0">
                <a:latin typeface="Barlow" panose="00000500000000000000" pitchFamily="2" charset="0"/>
              </a:rPr>
              <a:t>I. Loshchilov and F. Hutter, "SGDR: Stochastic Gradient Descent with Warm Restarts," in Proc. International Conference on Learning Representations (ICLR), 2017.</a:t>
            </a:r>
          </a:p>
          <a:p>
            <a:pPr marL="457200" indent="-457200">
              <a:buFont typeface="+mj-lt"/>
              <a:buAutoNum type="arabicPeriod" startAt="9"/>
            </a:pPr>
            <a:r>
              <a:rPr lang="en-GB" sz="2000" dirty="0">
                <a:latin typeface="Barlow" panose="00000500000000000000" pitchFamily="2" charset="0"/>
              </a:rPr>
              <a:t>Y. Wang et al., “A theoretical analysis of NDCG type ranking measures,” arXiv preprint arXiv:1304.6480, Apr. 2013.</a:t>
            </a:r>
            <a:endParaRPr lang="en-IN" sz="2000" dirty="0">
              <a:latin typeface="Barlow" panose="00000500000000000000" pitchFamily="2" charset="0"/>
            </a:endParaRPr>
          </a:p>
        </p:txBody>
      </p:sp>
    </p:spTree>
    <p:extLst>
      <p:ext uri="{BB962C8B-B14F-4D97-AF65-F5344CB8AC3E}">
        <p14:creationId xmlns:p14="http://schemas.microsoft.com/office/powerpoint/2010/main" val="2848733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3EBE1-FFD4-F0F9-28FC-511E4BAC869D}"/>
              </a:ext>
            </a:extLst>
          </p:cNvPr>
          <p:cNvSpPr>
            <a:spLocks noGrp="1"/>
          </p:cNvSpPr>
          <p:nvPr>
            <p:ph type="title"/>
          </p:nvPr>
        </p:nvSpPr>
        <p:spPr/>
        <p:txBody>
          <a:bodyPr/>
          <a:lstStyle/>
          <a:p>
            <a:r>
              <a:rPr lang="en-GB" dirty="0">
                <a:latin typeface="Barlow ExtraBold" panose="00000900000000000000" pitchFamily="2" charset="0"/>
              </a:rPr>
              <a:t>Acknowledgements</a:t>
            </a:r>
            <a:endParaRPr lang="en-IN" dirty="0">
              <a:latin typeface="Barlow ExtraBold" panose="00000900000000000000" pitchFamily="2" charset="0"/>
            </a:endParaRPr>
          </a:p>
        </p:txBody>
      </p:sp>
      <p:sp>
        <p:nvSpPr>
          <p:cNvPr id="3" name="TextBox 2">
            <a:extLst>
              <a:ext uri="{FF2B5EF4-FFF2-40B4-BE49-F238E27FC236}">
                <a16:creationId xmlns:a16="http://schemas.microsoft.com/office/drawing/2014/main" id="{F3CE6D57-3D08-84BA-C449-3EA6776A6338}"/>
              </a:ext>
            </a:extLst>
          </p:cNvPr>
          <p:cNvSpPr txBox="1"/>
          <p:nvPr/>
        </p:nvSpPr>
        <p:spPr>
          <a:xfrm>
            <a:off x="445170" y="2241352"/>
            <a:ext cx="11208518" cy="4616648"/>
          </a:xfrm>
          <a:prstGeom prst="rect">
            <a:avLst/>
          </a:prstGeom>
          <a:noFill/>
        </p:spPr>
        <p:txBody>
          <a:bodyPr wrap="none" rtlCol="0">
            <a:spAutoFit/>
          </a:bodyPr>
          <a:lstStyle/>
          <a:p>
            <a:r>
              <a:rPr lang="en-GB" sz="2800" dirty="0">
                <a:latin typeface="Barlow Medium" panose="00000600000000000000" pitchFamily="2" charset="0"/>
              </a:rPr>
              <a:t>Special thanks to:</a:t>
            </a:r>
          </a:p>
          <a:p>
            <a:pPr marL="914400" lvl="1" indent="-457200">
              <a:lnSpc>
                <a:spcPct val="150000"/>
              </a:lnSpc>
              <a:buClr>
                <a:schemeClr val="accent2"/>
              </a:buClr>
              <a:buFont typeface="Barlow Medium" panose="00000600000000000000" pitchFamily="2" charset="0"/>
              <a:buChar char="∆"/>
            </a:pPr>
            <a:r>
              <a:rPr lang="en-GB" sz="2800" dirty="0">
                <a:latin typeface="Barlow Medium" panose="00000600000000000000" pitchFamily="2" charset="0"/>
              </a:rPr>
              <a:t>Dr. Muneendra Ojha - Thesis supervisor for guidance and support</a:t>
            </a:r>
          </a:p>
          <a:p>
            <a:pPr marL="914400" lvl="1" indent="-457200">
              <a:lnSpc>
                <a:spcPct val="150000"/>
              </a:lnSpc>
              <a:buClr>
                <a:schemeClr val="accent2"/>
              </a:buClr>
              <a:buFont typeface="Barlow Medium" panose="00000600000000000000" pitchFamily="2" charset="0"/>
              <a:buChar char="∆"/>
            </a:pPr>
            <a:r>
              <a:rPr lang="en-GB" sz="2800" dirty="0">
                <a:latin typeface="Barlow Medium" panose="00000600000000000000" pitchFamily="2" charset="0"/>
              </a:rPr>
              <a:t>Faculty members for their expertise and mentorship  </a:t>
            </a:r>
          </a:p>
          <a:p>
            <a:pPr marL="914400" lvl="1" indent="-457200">
              <a:lnSpc>
                <a:spcPct val="150000"/>
              </a:lnSpc>
              <a:buClr>
                <a:schemeClr val="accent2"/>
              </a:buClr>
              <a:buFont typeface="Barlow Medium" panose="00000600000000000000" pitchFamily="2" charset="0"/>
              <a:buChar char="∆"/>
            </a:pPr>
            <a:r>
              <a:rPr lang="en-GB" sz="2800" dirty="0">
                <a:latin typeface="Barlow Medium" panose="00000600000000000000" pitchFamily="2" charset="0"/>
              </a:rPr>
              <a:t>Research community for open datasets and models.</a:t>
            </a:r>
          </a:p>
          <a:p>
            <a:pPr marL="914400" lvl="1" indent="-457200">
              <a:lnSpc>
                <a:spcPct val="150000"/>
              </a:lnSpc>
              <a:buClr>
                <a:schemeClr val="accent2"/>
              </a:buClr>
              <a:buFont typeface="Barlow Medium" panose="00000600000000000000" pitchFamily="2" charset="0"/>
              <a:buChar char="∆"/>
            </a:pPr>
            <a:r>
              <a:rPr lang="en-GB" sz="2800" dirty="0">
                <a:latin typeface="Barlow Medium" panose="00000600000000000000" pitchFamily="2" charset="0"/>
              </a:rPr>
              <a:t>Family and friends for continuous encouragement</a:t>
            </a:r>
          </a:p>
          <a:p>
            <a:pPr marL="914400" lvl="1" indent="-457200">
              <a:lnSpc>
                <a:spcPct val="150000"/>
              </a:lnSpc>
              <a:buClr>
                <a:schemeClr val="accent2"/>
              </a:buClr>
              <a:buFont typeface="Barlow Medium" panose="00000600000000000000" pitchFamily="2" charset="0"/>
              <a:buChar char="∆"/>
            </a:pPr>
            <a:r>
              <a:rPr lang="en-GB" sz="2800" dirty="0">
                <a:latin typeface="Barlow Medium" panose="00000600000000000000" pitchFamily="2" charset="0"/>
              </a:rPr>
              <a:t>Modal.com for computational resources.</a:t>
            </a:r>
          </a:p>
          <a:p>
            <a:endParaRPr lang="en-GB" sz="2800" dirty="0">
              <a:latin typeface="Barlow Medium" panose="00000600000000000000" pitchFamily="2" charset="0"/>
            </a:endParaRPr>
          </a:p>
          <a:p>
            <a:r>
              <a:rPr lang="en-GB" sz="2800" dirty="0">
                <a:latin typeface="Barlow Medium" panose="00000600000000000000" pitchFamily="2" charset="0"/>
              </a:rPr>
              <a:t>Your support made this research possible.</a:t>
            </a:r>
            <a:endParaRPr lang="en-IN" sz="2800" dirty="0">
              <a:latin typeface="Barlow Medium" panose="00000600000000000000" pitchFamily="2" charset="0"/>
            </a:endParaRPr>
          </a:p>
        </p:txBody>
      </p:sp>
    </p:spTree>
    <p:extLst>
      <p:ext uri="{BB962C8B-B14F-4D97-AF65-F5344CB8AC3E}">
        <p14:creationId xmlns:p14="http://schemas.microsoft.com/office/powerpoint/2010/main" val="105729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9116E-BD98-EFAB-1E2F-29B3F9288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321B8-DF6D-4A69-F020-DC2108ACAE4B}"/>
              </a:ext>
            </a:extLst>
          </p:cNvPr>
          <p:cNvSpPr>
            <a:spLocks noGrp="1"/>
          </p:cNvSpPr>
          <p:nvPr>
            <p:ph type="title"/>
          </p:nvPr>
        </p:nvSpPr>
        <p:spPr bwMode="white"/>
        <p:txBody>
          <a:bodyPr/>
          <a:lstStyle/>
          <a:p>
            <a:r>
              <a:rPr lang="en-US" sz="4000" dirty="0">
                <a:latin typeface="Barlow ExtraBold" panose="00000900000000000000" pitchFamily="2" charset="0"/>
              </a:rPr>
              <a:t>THANK YOU</a:t>
            </a:r>
          </a:p>
        </p:txBody>
      </p:sp>
    </p:spTree>
    <p:extLst>
      <p:ext uri="{BB962C8B-B14F-4D97-AF65-F5344CB8AC3E}">
        <p14:creationId xmlns:p14="http://schemas.microsoft.com/office/powerpoint/2010/main" val="40696444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f45182065_win32_fixed" id="{54D1AA8E-AE41-4F75-AFF4-1E55BF728136}" vid="{9097BC2D-75F4-410C-8544-556C30F4EC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7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DA7C4EB-0FFB-45BF-8476-A92F48224BC1}">
  <we:reference id="wa200004052" version="1.0.0.2" store="en-US" storeType="OMEX"/>
  <we:alternateReferences>
    <we:reference id="wa200004052" version="1.0.0.2" store="wa200004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19B3EA6-E2E1-4B68-B700-9432F9FC79DA}">
  <ds:schemaRefs>
    <ds:schemaRef ds:uri="http://schemas.microsoft.com/sharepoint/v3/contenttype/forms"/>
  </ds:schemaRefs>
</ds:datastoreItem>
</file>

<file path=customXml/itemProps2.xml><?xml version="1.0" encoding="utf-8"?>
<ds:datastoreItem xmlns:ds="http://schemas.openxmlformats.org/officeDocument/2006/customXml" ds:itemID="{BC8413E5-0484-489B-B293-D8720B6027F2}">
  <ds:schemaRefs>
    <ds:schemaRef ds:uri="http://schemas.openxmlformats.org/package/2006/metadata/core-properties"/>
    <ds:schemaRef ds:uri="http://schemas.microsoft.com/office/2006/metadata/properties"/>
    <ds:schemaRef ds:uri="http://purl.org/dc/dcmitype/"/>
    <ds:schemaRef ds:uri="http://purl.org/dc/elements/1.1/"/>
    <ds:schemaRef ds:uri="http://schemas.microsoft.com/office/2006/documentManagement/types"/>
    <ds:schemaRef ds:uri="230e9df3-be65-4c73-a93b-d1236ebd677e"/>
    <ds:schemaRef ds:uri="71af3243-3dd4-4a8d-8c0d-dd76da1f02a5"/>
    <ds:schemaRef ds:uri="http://schemas.microsoft.com/sharepoint/v3"/>
    <ds:schemaRef ds:uri="http://schemas.microsoft.com/office/infopath/2007/PartnerControls"/>
    <ds:schemaRef ds:uri="16c05727-aa75-4e4a-9b5f-8a80a1165891"/>
    <ds:schemaRef ds:uri="http://www.w3.org/XML/1998/namespace"/>
    <ds:schemaRef ds:uri="http://purl.org/dc/terms/"/>
  </ds:schemaRefs>
</ds:datastoreItem>
</file>

<file path=customXml/itemProps3.xml><?xml version="1.0" encoding="utf-8"?>
<ds:datastoreItem xmlns:ds="http://schemas.openxmlformats.org/officeDocument/2006/customXml" ds:itemID="{7BEDC914-E79E-4731-88EB-C290A6D4D6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Persuasive speech outline </Template>
  <TotalTime>4719</TotalTime>
  <Words>2700</Words>
  <Application>Microsoft Office PowerPoint</Application>
  <PresentationFormat>Widescreen</PresentationFormat>
  <Paragraphs>330</Paragraphs>
  <Slides>30</Slides>
  <Notes>13</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Arial</vt:lpstr>
      <vt:lpstr>Barlow</vt:lpstr>
      <vt:lpstr>Barlow ExtraBold</vt:lpstr>
      <vt:lpstr>Barlow Medium</vt:lpstr>
      <vt:lpstr>Barlow SemiBold</vt:lpstr>
      <vt:lpstr>Calibri</vt:lpstr>
      <vt:lpstr>Century Gothic</vt:lpstr>
      <vt:lpstr>Tahoma</vt:lpstr>
      <vt:lpstr>Wingdings</vt:lpstr>
      <vt:lpstr>Wingdings 2</vt:lpstr>
      <vt:lpstr>Quotable</vt:lpstr>
      <vt:lpstr>Comparative Analysis of Lion and AdamW Optimizers for Cross-Encoder Reranking with MiniLM, GTE, and ModernBERT </vt:lpstr>
      <vt:lpstr>Introduction</vt:lpstr>
      <vt:lpstr>Research Overview &amp; Motivation</vt:lpstr>
      <vt:lpstr>Research Objectives</vt:lpstr>
      <vt:lpstr>Literature Review</vt:lpstr>
      <vt:lpstr>BERT &amp; Cross-Encoder Architecture</vt:lpstr>
      <vt:lpstr>Cross-Encoder Architecture</vt:lpstr>
      <vt:lpstr>AdamW: The Standard Optimizer [3]</vt:lpstr>
      <vt:lpstr>AdamW Algorithm</vt:lpstr>
      <vt:lpstr>Lion: A Novel Alternative[4]</vt:lpstr>
      <vt:lpstr>Lion Algorithm</vt:lpstr>
      <vt:lpstr>Methodology</vt:lpstr>
      <vt:lpstr>Experimental Setup</vt:lpstr>
      <vt:lpstr>Model Architectures Tested</vt:lpstr>
      <vt:lpstr>PowerPoint Presentation</vt:lpstr>
      <vt:lpstr>Evaluation Metrics</vt:lpstr>
      <vt:lpstr>Evaluation Metrics</vt:lpstr>
      <vt:lpstr>Results &amp; Discussion</vt:lpstr>
      <vt:lpstr>PowerPoint Presentation</vt:lpstr>
      <vt:lpstr>PowerPoint Presentation</vt:lpstr>
      <vt:lpstr>PowerPoint Presentation</vt:lpstr>
      <vt:lpstr>🧠 Decision Matrix for Practitioners</vt:lpstr>
      <vt:lpstr>Future Research Directions</vt:lpstr>
      <vt:lpstr>Immediate Extensions</vt:lpstr>
      <vt:lpstr>Code and Model availability</vt:lpstr>
      <vt:lpstr>PowerPoint Presentation</vt:lpstr>
      <vt:lpstr>References</vt:lpstr>
      <vt:lpstr>References</vt:lpstr>
      <vt:lpstr>Acknowledgements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Shahil Kumar</dc:creator>
  <cp:lastModifiedBy>Shahil Kumar</cp:lastModifiedBy>
  <cp:revision>108</cp:revision>
  <dcterms:created xsi:type="dcterms:W3CDTF">2025-06-19T06:03:54Z</dcterms:created>
  <dcterms:modified xsi:type="dcterms:W3CDTF">2025-06-25T07:21:14Z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