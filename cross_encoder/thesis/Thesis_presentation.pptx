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22"/>
  </p:notesMasterIdLst>
  <p:handoutMasterIdLst>
    <p:handoutMasterId r:id="rId23"/>
  </p:handoutMasterIdLst>
  <p:sldIdLst>
    <p:sldId id="256" r:id="rId5"/>
    <p:sldId id="257" r:id="rId6"/>
    <p:sldId id="261" r:id="rId7"/>
    <p:sldId id="263" r:id="rId8"/>
    <p:sldId id="264" r:id="rId9"/>
    <p:sldId id="267" r:id="rId10"/>
    <p:sldId id="270" r:id="rId11"/>
    <p:sldId id="271" r:id="rId12"/>
    <p:sldId id="273" r:id="rId13"/>
    <p:sldId id="272" r:id="rId14"/>
    <p:sldId id="275" r:id="rId15"/>
    <p:sldId id="276" r:id="rId16"/>
    <p:sldId id="277" r:id="rId17"/>
    <p:sldId id="278" r:id="rId18"/>
    <p:sldId id="269" r:id="rId19"/>
    <p:sldId id="259" r:id="rId20"/>
    <p:sldId id="268"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5529" autoAdjust="0"/>
  </p:normalViewPr>
  <p:slideViewPr>
    <p:cSldViewPr snapToGrid="0">
      <p:cViewPr>
        <p:scale>
          <a:sx n="66" d="100"/>
          <a:sy n="66" d="100"/>
        </p:scale>
        <p:origin x="1282" y="619"/>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6/19/2025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6/19/2025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6</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16</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Tahoma" panose="020B0604030504040204" pitchFamily="34" charset="0"/>
                <a:ea typeface="Tahoma" panose="020B0604030504040204" pitchFamily="34" charset="0"/>
                <a:cs typeface="Tahoma" panose="020B0604030504040204" pitchFamily="34" charset="0"/>
              </a:rPr>
              <a:t>The action step is what the audience is supposed to do or think about the topic.  It should be one sentence that is written clearly and with much thought. It may also be the thesis statement restated as an action.  The goal of this slide is to leave the audience with a clear message as to what they are to do or think at the end of the speech.  It may be a good idea to end with a powerful quote or image.  </a:t>
            </a:r>
          </a:p>
        </p:txBody>
      </p:sp>
      <p:sp>
        <p:nvSpPr>
          <p:cNvPr id="4" name="Slide Number Placeholder 3"/>
          <p:cNvSpPr>
            <a:spLocks noGrp="1"/>
          </p:cNvSpPr>
          <p:nvPr>
            <p:ph type="sldNum" sz="quarter" idx="10"/>
          </p:nvPr>
        </p:nvSpPr>
        <p:spPr/>
        <p:txBody>
          <a:bodyPr/>
          <a:lstStyle/>
          <a:p>
            <a:fld id="{E6AEB063-7F11-4E3B-BA52-07405B1C2D95}" type="slidenum">
              <a:rPr lang="en-US" smtClean="0"/>
              <a:t>17</a:t>
            </a:fld>
            <a:endParaRPr lang="en-US" dirty="0"/>
          </a:p>
        </p:txBody>
      </p:sp>
    </p:spTree>
    <p:extLst>
      <p:ext uri="{BB962C8B-B14F-4D97-AF65-F5344CB8AC3E}">
        <p14:creationId xmlns:p14="http://schemas.microsoft.com/office/powerpoint/2010/main" val="29062576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6/19/2025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6/19/2025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6/19/2025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6/19/2025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6/19/2025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1" y="5280847"/>
            <a:ext cx="10572000" cy="1217090"/>
          </a:xfrm>
        </p:spPr>
        <p:txBody>
          <a:bodyPr>
            <a:normAutofit fontScale="62500" lnSpcReduction="20000"/>
          </a:bodyPr>
          <a:lstStyle/>
          <a:p>
            <a:r>
              <a:rPr lang="en-IN" b="1" dirty="0"/>
              <a:t>Presented by: Shahil Kumar (MML2023008)</a:t>
            </a:r>
          </a:p>
          <a:p>
            <a:r>
              <a:rPr lang="en-IN" b="1" dirty="0"/>
              <a:t>    MTech. IT (MLIS)</a:t>
            </a:r>
          </a:p>
          <a:p>
            <a:r>
              <a:rPr lang="en-IN" b="1" dirty="0"/>
              <a:t>June 25, 2025</a:t>
            </a:r>
          </a:p>
          <a:p>
            <a:r>
              <a:rPr lang="en-IN" dirty="0"/>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253374"/>
            <a:ext cx="10571998" cy="2880506"/>
          </a:xfrm>
        </p:spPr>
        <p:txBody>
          <a:bodyPr>
            <a:normAutofit/>
          </a:bodyPr>
          <a:lstStyle/>
          <a:p>
            <a:pPr algn="just"/>
            <a:r>
              <a:rPr lang="en-IN" b="1" dirty="0"/>
              <a:t>Information Retrieval Challenge:</a:t>
            </a:r>
            <a:r>
              <a:rPr lang="en-IN" dirty="0"/>
              <a:t> Modern IR systems require precise document ranking from vast collections</a:t>
            </a:r>
          </a:p>
          <a:p>
            <a:pPr algn="just"/>
            <a:r>
              <a:rPr lang="en-IN" b="1" dirty="0"/>
              <a:t>Cross-Encoder Advantage:</a:t>
            </a:r>
            <a:r>
              <a:rPr lang="en-IN" dirty="0"/>
              <a:t> State-of-the-art reranking through deep query-document interactions</a:t>
            </a:r>
          </a:p>
          <a:p>
            <a:pPr algn="just"/>
            <a:r>
              <a:rPr lang="en-IN" b="1" dirty="0"/>
              <a:t>Optimization Gap:</a:t>
            </a:r>
            <a:r>
              <a:rPr lang="en-IN" dirty="0"/>
              <a:t> Limited research on Lion optimizer for IR tasks despite success in other domains</a:t>
            </a:r>
          </a:p>
          <a:p>
            <a:pPr algn="just"/>
            <a:r>
              <a:rPr lang="en-IN" b="1" dirty="0"/>
              <a:t>Practical Impact:</a:t>
            </a:r>
            <a:r>
              <a:rPr lang="en-IN" dirty="0"/>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 and AdamW 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t>Research </a:t>
            </a:r>
            <a:r>
              <a:rPr lang="en-IN" b="1" dirty="0">
                <a:latin typeface="Barlow ExtraBold" panose="00000900000000000000" pitchFamily="2" charset="0"/>
              </a:rPr>
              <a:t>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2022538"/>
            <a:ext cx="10151233" cy="2948179"/>
          </a:xfrm>
          <a:prstGeom prst="rect">
            <a:avLst/>
          </a:prstGeom>
          <a:noFill/>
        </p:spPr>
        <p:txBody>
          <a:bodyPr wrap="square" rtlCol="0">
            <a:spAutoFit/>
          </a:bodyPr>
          <a:lstStyle/>
          <a:p>
            <a:pPr marL="342900" indent="-342900" algn="just">
              <a:lnSpc>
                <a:spcPct val="150000"/>
              </a:lnSpc>
              <a:buFont typeface="+mj-lt"/>
              <a:buAutoNum type="arabicPeriod"/>
            </a:pPr>
            <a:r>
              <a:rPr lang="en-IN" b="1" dirty="0"/>
              <a:t>Systematic Evaluation:</a:t>
            </a:r>
            <a:r>
              <a:rPr lang="en-IN" dirty="0"/>
              <a:t> Compare Lion and AdamW across three transformer architectures.</a:t>
            </a:r>
          </a:p>
          <a:p>
            <a:pPr marL="342900" indent="-342900" algn="just">
              <a:lnSpc>
                <a:spcPct val="150000"/>
              </a:lnSpc>
              <a:buFont typeface="+mj-lt"/>
              <a:buAutoNum type="arabicPeriod"/>
            </a:pPr>
            <a:r>
              <a:rPr lang="en-IN" b="1" dirty="0"/>
              <a:t>Comprehensive Benchmarking:</a:t>
            </a:r>
            <a:r>
              <a:rPr lang="en-IN" dirty="0"/>
              <a:t> Evaluate performance using standard IR metrics on TREC DL 2019 and MS MARCO.</a:t>
            </a:r>
          </a:p>
          <a:p>
            <a:pPr marL="342900" indent="-342900" algn="just">
              <a:lnSpc>
                <a:spcPct val="150000"/>
              </a:lnSpc>
              <a:buFont typeface="+mj-lt"/>
              <a:buAutoNum type="arabicPeriod"/>
            </a:pPr>
            <a:r>
              <a:rPr lang="en-IN" b="1" dirty="0"/>
              <a:t>Training Dynamics Analysis:</a:t>
            </a:r>
            <a:r>
              <a:rPr lang="en-IN" dirty="0"/>
              <a:t> Investigate convergence patterns and stability.</a:t>
            </a:r>
          </a:p>
          <a:p>
            <a:pPr marL="342900" indent="-342900" algn="just">
              <a:lnSpc>
                <a:spcPct val="150000"/>
              </a:lnSpc>
              <a:buFont typeface="+mj-lt"/>
              <a:buAutoNum type="arabicPeriod"/>
            </a:pPr>
            <a:r>
              <a:rPr lang="en-IN" b="1" dirty="0"/>
              <a:t>Practical Guidelines:</a:t>
            </a:r>
            <a:r>
              <a:rPr lang="en-IN" dirty="0"/>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28506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714037" y="473988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tretch>
            <a:fillRect/>
          </a:stretch>
        </p:blipFill>
        <p:spPr>
          <a:xfrm>
            <a:off x="190791" y="359552"/>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Tree>
    <p:extLst>
      <p:ext uri="{BB962C8B-B14F-4D97-AF65-F5344CB8AC3E}">
        <p14:creationId xmlns:p14="http://schemas.microsoft.com/office/powerpoint/2010/main" val="3378919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3009779045"/>
              </p:ext>
            </p:extLst>
          </p:nvPr>
        </p:nvGraphicFramePr>
        <p:xfrm>
          <a:off x="782704" y="1812991"/>
          <a:ext cx="10215263" cy="2473960"/>
        </p:xfrm>
        <a:graphic>
          <a:graphicData uri="http://schemas.openxmlformats.org/drawingml/2006/table">
            <a:tbl>
              <a:tblPr firstRow="1" bandRow="1">
                <a:tableStyleId>{69C7853C-536D-4A76-A0AE-DD22124D55A5}</a:tableStyleId>
              </a:tblPr>
              <a:tblGrid>
                <a:gridCol w="2196235">
                  <a:extLst>
                    <a:ext uri="{9D8B030D-6E8A-4147-A177-3AD203B41FA5}">
                      <a16:colId xmlns:a16="http://schemas.microsoft.com/office/drawing/2014/main" val="902513758"/>
                    </a:ext>
                  </a:extLst>
                </a:gridCol>
                <a:gridCol w="2196235">
                  <a:extLst>
                    <a:ext uri="{9D8B030D-6E8A-4147-A177-3AD203B41FA5}">
                      <a16:colId xmlns:a16="http://schemas.microsoft.com/office/drawing/2014/main" val="2836376390"/>
                    </a:ext>
                  </a:extLst>
                </a:gridCol>
                <a:gridCol w="2123248">
                  <a:extLst>
                    <a:ext uri="{9D8B030D-6E8A-4147-A177-3AD203B41FA5}">
                      <a16:colId xmlns:a16="http://schemas.microsoft.com/office/drawing/2014/main" val="4239693166"/>
                    </a:ext>
                  </a:extLst>
                </a:gridCol>
                <a:gridCol w="3699545">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rPr>
                        <a:t>Model</a:t>
                      </a:r>
                      <a:endParaRPr lang="en-IN" sz="2400" dirty="0">
                        <a:effectLst>
                          <a:outerShdw blurRad="50800" dist="38100" dir="18900000" algn="bl" rotWithShape="0">
                            <a:prstClr val="black">
                              <a:alpha val="40000"/>
                            </a:prstClr>
                          </a:outerShdw>
                        </a:effectLst>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rPr>
                        <a:t>Parameters</a:t>
                      </a:r>
                      <a:endParaRPr lang="en-IN" sz="2400" dirty="0">
                        <a:effectLst>
                          <a:outerShdw blurRad="50800" dist="38100" dir="18900000" algn="bl" rotWithShape="0">
                            <a:prstClr val="black">
                              <a:alpha val="40000"/>
                            </a:prstClr>
                          </a:outerShdw>
                        </a:effectLst>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rPr>
                        <a:t>Context Length</a:t>
                      </a:r>
                      <a:endParaRPr lang="en-IN" sz="2400" dirty="0">
                        <a:effectLst>
                          <a:outerShdw blurRad="50800" dist="38100" dir="18900000" algn="bl" rotWithShape="0">
                            <a:prstClr val="black">
                              <a:alpha val="40000"/>
                            </a:prstClr>
                          </a:outerShdw>
                        </a:effectLst>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rPr>
                        <a:t>Key Features</a:t>
                      </a:r>
                      <a:endParaRPr lang="en-IN" sz="2400" dirty="0">
                        <a:effectLst>
                          <a:outerShdw blurRad="50800" dist="38100" dir="18900000" algn="bl" rotWithShape="0">
                            <a:prstClr val="black">
                              <a:alpha val="40000"/>
                            </a:prstClr>
                          </a:outerShdw>
                        </a:effectLst>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b="1" dirty="0">
                          <a:effectLst/>
                        </a:rPr>
                        <a:t>MiniLM-L12-H384</a:t>
                      </a:r>
                      <a:endParaRPr lang="en-IN" dirty="0">
                        <a:effectLst/>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b="1">
                          <a:effectLst/>
                        </a:rPr>
                        <a:t>GTE-multilingual-base</a:t>
                      </a:r>
                      <a:endParaRPr lang="en-IN">
                        <a:effectLst/>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b="1">
                          <a:effectLst/>
                        </a:rPr>
                        <a:t>ModernBERT-base</a:t>
                      </a:r>
                      <a:endParaRPr lang="en-IN">
                        <a:effectLst/>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a:effectLst/>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dirty="0">
                          <a:effectLst/>
                        </a:rPr>
                        <a:t>RoPE, Flash Attention, GeGLU</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537861"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dirty="0">
                <a:latin typeface="Barlow ExtraBold" panose="00000900000000000000" pitchFamily="2" charset="0"/>
              </a:rPr>
              <a:t>Optimizers Comparison (AdamW)</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extLst>
              <a:ext uri="{FF2B5EF4-FFF2-40B4-BE49-F238E27FC236}">
                <a16:creationId xmlns:a16="http://schemas.microsoft.com/office/drawing/2014/main" id="{9ADE2C19-748C-BEF1-E01F-6CA5DA982809}"/>
              </a:ext>
            </a:extLst>
          </p:cNvPr>
          <p:cNvPicPr>
            <a:picLocks/>
          </p:cNvPicPr>
          <p:nvPr/>
        </p:nvPicPr>
        <p:blipFill>
          <a:blip r:embed="rId3"/>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4"/>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dirty="0">
                <a:latin typeface="Barlow ExtraBold" panose="00000900000000000000" pitchFamily="2" charset="0"/>
              </a:rPr>
              <a:t>Optimizers Comparison (Lion)</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291364"/>
            <a:ext cx="4599964" cy="2211814"/>
          </a:xfrm>
          <a:prstGeom prst="rect">
            <a:avLst/>
          </a:prstGeom>
        </p:spPr>
      </p:pic>
      <p:pic>
        <p:nvPicPr>
          <p:cNvPr id="3" name="@holatex&#10;\begin{document}&#10;\center&#10;where:&#10;\begin{itemize}&#10;    \item $c_t$: interpolated momentum for update direction&#10;    \item $\text{sign}(\cdot)$: element-wise sign function&#10;    \item Other parameters follow similar definitions as AdamW&#10;\end{itemize}&#10;\end{document}">
            <a:extLst>
              <a:ext uri="{FF2B5EF4-FFF2-40B4-BE49-F238E27FC236}">
                <a16:creationId xmlns:a16="http://schemas.microsoft.com/office/drawing/2014/main" id="{996BC0B4-312F-574A-8729-9E94B96A1AB9}"/>
              </a:ext>
            </a:extLst>
          </p:cNvPr>
          <p:cNvPicPr>
            <a:picLocks/>
          </p:cNvPicPr>
          <p:nvPr/>
        </p:nvPicPr>
        <p:blipFill>
          <a:blip r:embed="rId4"/>
          <a:stretch>
            <a:fillRect/>
          </a:stretch>
        </p:blipFill>
        <p:spPr>
          <a:xfrm>
            <a:off x="6329956" y="3687882"/>
            <a:ext cx="4599964" cy="1667013"/>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SemiBold" panose="00000700000000000000" pitchFamily="2" charset="0"/>
              </a:rPr>
              <a:t>Evaluation Metrices</a:t>
            </a:r>
            <a:endParaRPr lang="en-IN" dirty="0">
              <a:latin typeface="Barlow SemiBold" panose="00000700000000000000" pitchFamily="2" charset="0"/>
            </a:endParaRPr>
          </a:p>
        </p:txBody>
      </p:sp>
      <p:sp>
        <p:nvSpPr>
          <p:cNvPr id="6" name="TextBox 5">
            <a:extLst>
              <a:ext uri="{FF2B5EF4-FFF2-40B4-BE49-F238E27FC236}">
                <a16:creationId xmlns:a16="http://schemas.microsoft.com/office/drawing/2014/main" id="{F72B3316-1ADE-DDFF-23B4-6BC8F225AD2A}"/>
              </a:ext>
            </a:extLst>
          </p:cNvPr>
          <p:cNvSpPr txBox="1"/>
          <p:nvPr/>
        </p:nvSpPr>
        <p:spPr>
          <a:xfrm>
            <a:off x="527427" y="2346760"/>
            <a:ext cx="8428911" cy="461665"/>
          </a:xfrm>
          <a:prstGeom prst="rect">
            <a:avLst/>
          </a:prstGeom>
          <a:noFill/>
        </p:spPr>
        <p:txBody>
          <a:bodyPr wrap="none" rtlCol="0">
            <a:spAutoFit/>
          </a:bodyPr>
          <a:lstStyle/>
          <a:p>
            <a:r>
              <a:rPr lang="en-GB" sz="2400" dirty="0">
                <a:latin typeface="Barlow Medium" panose="00000600000000000000" pitchFamily="2" charset="0"/>
              </a:rPr>
              <a:t>NDCG@10 - Normalized Discounted Cumulative Gain at rank 10</a:t>
            </a:r>
          </a:p>
        </p:txBody>
      </p:sp>
      <p:sp>
        <p:nvSpPr>
          <p:cNvPr id="7" name="TextBox 6">
            <a:extLst>
              <a:ext uri="{FF2B5EF4-FFF2-40B4-BE49-F238E27FC236}">
                <a16:creationId xmlns:a16="http://schemas.microsoft.com/office/drawing/2014/main" id="{061EE149-ABB6-78F4-BB33-DDCA828B8076}"/>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NDCG@10 measures the quality of ranking systems by considering both the relevance of retrieved documents and their positions in the ranking. It is normalized by the ideal DCG to ensure values between 0 and 1, where higher values indicate better performance.</a:t>
            </a:r>
          </a:p>
        </p:txBody>
      </p:sp>
      <p:pic>
        <p:nvPicPr>
          <p:cNvPr id="8" name="@holatex&#10;\begin{document}&#10;\begin{equation}&#10;\text{NDCG@10} = \frac{\text{DCG@10}}{\text{IDCG@10}}&#10;\end{equation}&#10;&#10;where:&#10;\begin{equation}&#10;\text{DCG@10} = \sum_{i=1}^{10} \frac{2^{rel_i} - 1}{\log_2(i + 1)}&#10;\end{equation}&#10;&#10;and $rel_i$ is the relevance score of the document at position $i$, and IDCG@10 is the ideal DCG computed using the best possible ranking.&#10;&#10;\end{document}">
            <a:extLst>
              <a:ext uri="{FF2B5EF4-FFF2-40B4-BE49-F238E27FC236}">
                <a16:creationId xmlns:a16="http://schemas.microsoft.com/office/drawing/2014/main" id="{E2452F6C-0672-68CF-1E6D-B7CB3B53A0CE}"/>
              </a:ext>
            </a:extLst>
          </p:cNvPr>
          <p:cNvPicPr>
            <a:picLocks/>
          </p:cNvPicPr>
          <p:nvPr/>
        </p:nvPicPr>
        <p:blipFill>
          <a:blip r:embed="rId2"/>
          <a:stretch>
            <a:fillRect/>
          </a:stretch>
        </p:blipFill>
        <p:spPr>
          <a:xfrm>
            <a:off x="1117600" y="4383878"/>
            <a:ext cx="6959600" cy="2026933"/>
          </a:xfrm>
          <a:prstGeom prst="rect">
            <a:avLst/>
          </a:prstGeom>
        </p:spPr>
      </p:pic>
    </p:spTree>
    <p:extLst>
      <p:ext uri="{BB962C8B-B14F-4D97-AF65-F5344CB8AC3E}">
        <p14:creationId xmlns:p14="http://schemas.microsoft.com/office/powerpoint/2010/main" val="19618454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7D75B-E2A9-C4B3-3CD3-A5C406BB34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BD66D-F91A-5ADF-6700-018F12C9F2FD}"/>
              </a:ext>
            </a:extLst>
          </p:cNvPr>
          <p:cNvSpPr>
            <a:spLocks noGrp="1"/>
          </p:cNvSpPr>
          <p:nvPr>
            <p:ph type="title"/>
          </p:nvPr>
        </p:nvSpPr>
        <p:spPr/>
        <p:txBody>
          <a:bodyPr/>
          <a:lstStyle/>
          <a:p>
            <a:r>
              <a:rPr lang="en-GB" dirty="0">
                <a:latin typeface="Barlow SemiBold" panose="00000700000000000000" pitchFamily="2" charset="0"/>
              </a:rPr>
              <a:t>Evaluation Metrices</a:t>
            </a:r>
            <a:endParaRPr lang="en-IN" dirty="0">
              <a:latin typeface="Barlow SemiBold" panose="00000700000000000000" pitchFamily="2" charset="0"/>
            </a:endParaRPr>
          </a:p>
        </p:txBody>
      </p:sp>
      <p:sp>
        <p:nvSpPr>
          <p:cNvPr id="6" name="TextBox 5">
            <a:extLst>
              <a:ext uri="{FF2B5EF4-FFF2-40B4-BE49-F238E27FC236}">
                <a16:creationId xmlns:a16="http://schemas.microsoft.com/office/drawing/2014/main" id="{08A70968-9E81-C503-0B4B-8B6C48D7B9E3}"/>
              </a:ext>
            </a:extLst>
          </p:cNvPr>
          <p:cNvSpPr txBox="1"/>
          <p:nvPr/>
        </p:nvSpPr>
        <p:spPr>
          <a:xfrm>
            <a:off x="527427" y="2346760"/>
            <a:ext cx="5843266" cy="461665"/>
          </a:xfrm>
          <a:prstGeom prst="rect">
            <a:avLst/>
          </a:prstGeom>
          <a:noFill/>
        </p:spPr>
        <p:txBody>
          <a:bodyPr wrap="none" rtlCol="0">
            <a:spAutoFit/>
          </a:bodyPr>
          <a:lstStyle/>
          <a:p>
            <a:r>
              <a:rPr lang="en-GB" sz="2400" dirty="0">
                <a:latin typeface="Barlow Medium" panose="00000600000000000000" pitchFamily="2" charset="0"/>
              </a:rPr>
              <a:t>MRR@10 (Mean Reciprocal Rank at rank 10)</a:t>
            </a:r>
          </a:p>
        </p:txBody>
      </p:sp>
      <p:sp>
        <p:nvSpPr>
          <p:cNvPr id="7" name="TextBox 6">
            <a:extLst>
              <a:ext uri="{FF2B5EF4-FFF2-40B4-BE49-F238E27FC236}">
                <a16:creationId xmlns:a16="http://schemas.microsoft.com/office/drawing/2014/main" id="{6DE2AE7A-E951-4E0D-A276-9B350F53C9C0}"/>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MRR@10 measures the average of reciprocal ranks of the first relevant document found within the top 10 results across all queries. It emphasizes finding at least one relevant document early in the ranking.</a:t>
            </a:r>
          </a:p>
        </p:txBody>
      </p:sp>
      <p:pic>
        <p:nvPicPr>
          <p:cNvPr id="3" name="@holatex&#10;\begin{document}&#10;\begin{equation}&#10;\text{MRR@10} = \frac{1}{|Q|} \sum_{q=1}^{|Q|} \frac{1}{\text{rank}_q}&#10;\end{equation}&#10;&#10;where $\text{rank}_q$ is the position of the first relevant document for query $q$ within the top 10 results. If no relevant document is found in the top 10, the reciprocal rank is 0.&#10;&#10;\end{document}">
            <a:extLst>
              <a:ext uri="{FF2B5EF4-FFF2-40B4-BE49-F238E27FC236}">
                <a16:creationId xmlns:a16="http://schemas.microsoft.com/office/drawing/2014/main" id="{16C35BE9-305F-19E8-B78E-0573479DA125}"/>
              </a:ext>
            </a:extLst>
          </p:cNvPr>
          <p:cNvPicPr>
            <a:picLocks/>
          </p:cNvPicPr>
          <p:nvPr/>
        </p:nvPicPr>
        <p:blipFill>
          <a:blip r:embed="rId2"/>
          <a:stretch>
            <a:fillRect/>
          </a:stretch>
        </p:blipFill>
        <p:spPr>
          <a:xfrm>
            <a:off x="1925767" y="4488752"/>
            <a:ext cx="6345777" cy="1660080"/>
          </a:xfrm>
          <a:prstGeom prst="rect">
            <a:avLst/>
          </a:prstGeom>
        </p:spPr>
      </p:pic>
    </p:spTree>
    <p:extLst>
      <p:ext uri="{BB962C8B-B14F-4D97-AF65-F5344CB8AC3E}">
        <p14:creationId xmlns:p14="http://schemas.microsoft.com/office/powerpoint/2010/main" val="27523684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82006" y="479592"/>
            <a:ext cx="5399343" cy="720033"/>
          </a:xfrm>
          <a:solidFill>
            <a:schemeClr val="bg2"/>
          </a:solidFill>
          <a:ln>
            <a:noFill/>
          </a:ln>
          <a:effectLst>
            <a:outerShdw blurRad="50800" dist="38100" dir="16200000" rotWithShape="0">
              <a:prstClr val="black">
                <a:alpha val="40000"/>
              </a:prstClr>
            </a:outerShdw>
          </a:effectLst>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41512" y="1635853"/>
            <a:ext cx="10708975" cy="5044557"/>
          </a:xfrm>
        </p:spPr>
        <p:txBody>
          <a:bodyPr>
            <a:normAutofit fontScale="92500" lnSpcReduction="20000"/>
          </a:bodyPr>
          <a:lstStyle/>
          <a:p>
            <a:r>
              <a:rPr lang="en-IN" sz="3000" b="1" dirty="0">
                <a:latin typeface="Barlow Medium" panose="00000600000000000000" pitchFamily="2" charset="0"/>
              </a:rPr>
              <a:t>Dataset Configuration</a:t>
            </a:r>
          </a:p>
          <a:p>
            <a:pPr lvl="1"/>
            <a:r>
              <a:rPr lang="en-IN" sz="1800" b="1" dirty="0">
                <a:latin typeface="Barlow Medium" panose="00000600000000000000" pitchFamily="2" charset="0"/>
              </a:rPr>
              <a:t>T</a:t>
            </a:r>
            <a:r>
              <a:rPr lang="en-IN" sz="1800" b="1" dirty="0">
                <a:latin typeface="Barlow" panose="00000500000000000000" pitchFamily="2" charset="0"/>
              </a:rPr>
              <a:t>raining:</a:t>
            </a:r>
            <a:r>
              <a:rPr lang="en-IN" sz="1800" dirty="0">
                <a:latin typeface="Barlow" panose="00000500000000000000" pitchFamily="2" charset="0"/>
              </a:rPr>
              <a:t> MS MARCO Passage Ranking (~500K query-passage pairs)</a:t>
            </a:r>
          </a:p>
          <a:p>
            <a:pPr lvl="1"/>
            <a:r>
              <a:rPr lang="en-IN" sz="1800" b="1" dirty="0">
                <a:latin typeface="Barlow" panose="00000500000000000000" pitchFamily="2" charset="0"/>
              </a:rPr>
              <a:t>Evaluation:</a:t>
            </a:r>
            <a:r>
              <a:rPr lang="en-IN" sz="1800" dirty="0">
                <a:latin typeface="Barlow" panose="00000500000000000000" pitchFamily="2" charset="0"/>
              </a:rPr>
              <a:t> TREC DL 2019 (43 queries with comprehensive relevance judgments)</a:t>
            </a:r>
          </a:p>
          <a:p>
            <a:pPr lvl="1"/>
            <a:r>
              <a:rPr lang="en-IN" sz="1800" b="1" dirty="0">
                <a:latin typeface="Barlow" panose="00000500000000000000" pitchFamily="2" charset="0"/>
              </a:rPr>
              <a:t>Metrics:</a:t>
            </a:r>
            <a:r>
              <a:rPr lang="en-IN" sz="1800" dirty="0">
                <a:latin typeface="Barlow" panose="00000500000000000000" pitchFamily="2" charset="0"/>
              </a:rPr>
              <a:t> NDCG@10, MAP, MRR@10, Recall@10, R-Precision, P@10</a:t>
            </a:r>
          </a:p>
          <a:p>
            <a:r>
              <a:rPr lang="en-IN" sz="3000" b="1" dirty="0">
                <a:latin typeface="Barlow Medium" panose="00000600000000000000" pitchFamily="2" charset="0"/>
              </a:rPr>
              <a:t>Infrastructure</a:t>
            </a:r>
          </a:p>
          <a:p>
            <a:pPr lvl="1"/>
            <a:r>
              <a:rPr lang="en-IN" sz="1800" b="1" dirty="0">
                <a:latin typeface="Barlow" panose="00000500000000000000" pitchFamily="2" charset="0"/>
              </a:rPr>
              <a:t>Platform:</a:t>
            </a:r>
            <a:r>
              <a:rPr lang="en-IN" sz="1800" dirty="0">
                <a:latin typeface="Barlow" panose="00000500000000000000" pitchFamily="2" charset="0"/>
              </a:rPr>
              <a:t> Modal cloud computing</a:t>
            </a:r>
          </a:p>
          <a:p>
            <a:pPr lvl="1"/>
            <a:r>
              <a:rPr lang="en-IN" sz="1800" b="1" dirty="0">
                <a:latin typeface="Barlow" panose="00000500000000000000" pitchFamily="2" charset="0"/>
              </a:rPr>
              <a:t>Hardware:</a:t>
            </a:r>
            <a:r>
              <a:rPr lang="en-IN" sz="1800" dirty="0">
                <a:latin typeface="Barlow" panose="00000500000000000000" pitchFamily="2" charset="0"/>
              </a:rPr>
              <a:t> 3 × NVIDIA L40S GPUs</a:t>
            </a:r>
          </a:p>
          <a:p>
            <a:pPr lvl="1"/>
            <a:r>
              <a:rPr lang="en-IN" sz="1800" b="1" dirty="0">
                <a:latin typeface="Barlow" panose="00000500000000000000" pitchFamily="2" charset="0"/>
              </a:rPr>
              <a:t>Monitoring:</a:t>
            </a:r>
            <a:r>
              <a:rPr lang="en-IN" sz="1800" dirty="0">
                <a:latin typeface="Barlow" panose="00000500000000000000" pitchFamily="2" charset="0"/>
              </a:rPr>
              <a:t> Weights &amp; Biases</a:t>
            </a:r>
          </a:p>
          <a:p>
            <a:pPr lvl="1"/>
            <a:r>
              <a:rPr lang="en-IN" sz="1800" b="1" dirty="0">
                <a:latin typeface="Barlow" panose="00000500000000000000" pitchFamily="2" charset="0"/>
              </a:rPr>
              <a:t>Training:</a:t>
            </a:r>
            <a:r>
              <a:rPr lang="en-IN" sz="1800" dirty="0">
                <a:latin typeface="Barlow" panose="00000500000000000000" pitchFamily="2" charset="0"/>
              </a:rPr>
              <a:t> 3 epochs per configuration</a:t>
            </a:r>
          </a:p>
          <a:p>
            <a:r>
              <a:rPr lang="en-IN" sz="3000" b="1" dirty="0">
                <a:latin typeface="Barlow Medium" panose="00000600000000000000" pitchFamily="2" charset="0"/>
              </a:rPr>
              <a:t>Experimental Design</a:t>
            </a:r>
          </a:p>
          <a:p>
            <a:pPr lvl="1"/>
            <a:r>
              <a:rPr lang="en-IN" sz="1800" b="1" dirty="0">
                <a:latin typeface="Barlow" panose="00000500000000000000" pitchFamily="2" charset="0"/>
              </a:rPr>
              <a:t>Total Configurations:</a:t>
            </a:r>
            <a:r>
              <a:rPr lang="en-IN" sz="1800" dirty="0">
                <a:latin typeface="Barlow" panose="00000500000000000000" pitchFamily="2" charset="0"/>
              </a:rPr>
              <a:t> 6 (3 models × 2 optimizers)</a:t>
            </a:r>
          </a:p>
          <a:p>
            <a:pPr lvl="1"/>
            <a:r>
              <a:rPr lang="en-IN" sz="1800" b="1" dirty="0">
                <a:latin typeface="Barlow" panose="00000500000000000000" pitchFamily="2" charset="0"/>
              </a:rPr>
              <a:t>Controlled Variables:</a:t>
            </a:r>
            <a:r>
              <a:rPr lang="en-IN" sz="1800" dirty="0">
                <a:latin typeface="Barlow" panose="00000500000000000000" pitchFamily="2" charset="0"/>
              </a:rPr>
              <a:t> Batch size, training steps, evaluation frequency</a:t>
            </a:r>
          </a:p>
          <a:p>
            <a:pPr lvl="1"/>
            <a:r>
              <a:rPr lang="en-IN" sz="1800" b="1" dirty="0">
                <a:latin typeface="Barlow" panose="00000500000000000000" pitchFamily="2" charset="0"/>
              </a:rPr>
              <a:t>Variable Parameters:</a:t>
            </a:r>
            <a:r>
              <a:rPr lang="en-IN" sz="1800" dirty="0">
                <a:latin typeface="Barlow" panose="00000500000000000000" pitchFamily="2" charset="0"/>
              </a:rPr>
              <a:t> Learning rates (2e-5 standard, 2e-6 for ModernBERT+Lion)</a:t>
            </a:r>
          </a:p>
        </p:txBody>
      </p:sp>
    </p:spTree>
    <p:extLst>
      <p:ext uri="{BB962C8B-B14F-4D97-AF65-F5344CB8AC3E}">
        <p14:creationId xmlns:p14="http://schemas.microsoft.com/office/powerpoint/2010/main" val="5033503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E59D8A-8F44-F913-BF57-5EAD1721DC70}"/>
              </a:ext>
            </a:extLst>
          </p:cNvPr>
          <p:cNvSpPr txBox="1"/>
          <p:nvPr/>
        </p:nvSpPr>
        <p:spPr>
          <a:xfrm>
            <a:off x="669471" y="734786"/>
            <a:ext cx="3002745" cy="707886"/>
          </a:xfrm>
          <a:prstGeom prst="rect">
            <a:avLst/>
          </a:prstGeom>
          <a:noFill/>
        </p:spPr>
        <p:txBody>
          <a:bodyPr wrap="none" rtlCol="0">
            <a:spAutoFit/>
          </a:bodyPr>
          <a:lstStyle/>
          <a:p>
            <a:r>
              <a:rPr lang="en-GB" sz="4000" dirty="0">
                <a:solidFill>
                  <a:schemeClr val="bg1"/>
                </a:solidFill>
                <a:latin typeface="Barlow Medium" panose="00000600000000000000" pitchFamily="2" charset="0"/>
              </a:rPr>
              <a:t>Main Results</a:t>
            </a:r>
            <a:endParaRPr lang="en-IN" sz="4000" dirty="0">
              <a:solidFill>
                <a:schemeClr val="bg1"/>
              </a:solidFill>
              <a:latin typeface="Barlow Medium" panose="00000600000000000000" pitchFamily="2" charset="0"/>
            </a:endParaRPr>
          </a:p>
        </p:txBody>
      </p:sp>
      <p:graphicFrame>
        <p:nvGraphicFramePr>
          <p:cNvPr id="6" name="Table 5">
            <a:extLst>
              <a:ext uri="{FF2B5EF4-FFF2-40B4-BE49-F238E27FC236}">
                <a16:creationId xmlns:a16="http://schemas.microsoft.com/office/drawing/2014/main" id="{441E21B4-50AA-0113-AF6D-B8F5CA9CE0B4}"/>
              </a:ext>
            </a:extLst>
          </p:cNvPr>
          <p:cNvGraphicFramePr>
            <a:graphicFrameLocks noGrp="1"/>
          </p:cNvGraphicFramePr>
          <p:nvPr>
            <p:extLst>
              <p:ext uri="{D42A27DB-BD31-4B8C-83A1-F6EECF244321}">
                <p14:modId xmlns:p14="http://schemas.microsoft.com/office/powerpoint/2010/main" val="2709341113"/>
              </p:ext>
            </p:extLst>
          </p:nvPr>
        </p:nvGraphicFramePr>
        <p:xfrm>
          <a:off x="930000" y="2405853"/>
          <a:ext cx="10332000" cy="3059998"/>
        </p:xfrm>
        <a:graphic>
          <a:graphicData uri="http://schemas.openxmlformats.org/drawingml/2006/table">
            <a:tbl>
              <a:tblPr firstRow="1" bandRow="1">
                <a:tableStyleId>{69C7853C-536D-4A76-A0AE-DD22124D55A5}</a:tableStyleId>
              </a:tblPr>
              <a:tblGrid>
                <a:gridCol w="1476000">
                  <a:extLst>
                    <a:ext uri="{9D8B030D-6E8A-4147-A177-3AD203B41FA5}">
                      <a16:colId xmlns:a16="http://schemas.microsoft.com/office/drawing/2014/main" val="1585879530"/>
                    </a:ext>
                  </a:extLst>
                </a:gridCol>
                <a:gridCol w="1476000">
                  <a:extLst>
                    <a:ext uri="{9D8B030D-6E8A-4147-A177-3AD203B41FA5}">
                      <a16:colId xmlns:a16="http://schemas.microsoft.com/office/drawing/2014/main" val="1389322177"/>
                    </a:ext>
                  </a:extLst>
                </a:gridCol>
                <a:gridCol w="1476000">
                  <a:extLst>
                    <a:ext uri="{9D8B030D-6E8A-4147-A177-3AD203B41FA5}">
                      <a16:colId xmlns:a16="http://schemas.microsoft.com/office/drawing/2014/main" val="1757895171"/>
                    </a:ext>
                  </a:extLst>
                </a:gridCol>
                <a:gridCol w="1476000">
                  <a:extLst>
                    <a:ext uri="{9D8B030D-6E8A-4147-A177-3AD203B41FA5}">
                      <a16:colId xmlns:a16="http://schemas.microsoft.com/office/drawing/2014/main" val="1926697050"/>
                    </a:ext>
                  </a:extLst>
                </a:gridCol>
                <a:gridCol w="1476000">
                  <a:extLst>
                    <a:ext uri="{9D8B030D-6E8A-4147-A177-3AD203B41FA5}">
                      <a16:colId xmlns:a16="http://schemas.microsoft.com/office/drawing/2014/main" val="1594094915"/>
                    </a:ext>
                  </a:extLst>
                </a:gridCol>
                <a:gridCol w="1476000">
                  <a:extLst>
                    <a:ext uri="{9D8B030D-6E8A-4147-A177-3AD203B41FA5}">
                      <a16:colId xmlns:a16="http://schemas.microsoft.com/office/drawing/2014/main" val="2607518578"/>
                    </a:ext>
                  </a:extLst>
                </a:gridCol>
                <a:gridCol w="1476000">
                  <a:extLst>
                    <a:ext uri="{9D8B030D-6E8A-4147-A177-3AD203B41FA5}">
                      <a16:colId xmlns:a16="http://schemas.microsoft.com/office/drawing/2014/main" val="1666691909"/>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NDCG@10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MAP</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MRR@10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Recall@10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P@10</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0.7127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0.4908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0.5826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0.1715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0.8093</a:t>
                      </a:r>
                    </a:p>
                  </a:txBody>
                  <a:tcPr anchor="ctr">
                    <a:lnL w="3175" cap="flat" cmpd="sng" algn="ctr">
                      <a:noFill/>
                      <a:prstDash val="solid"/>
                      <a:round/>
                      <a:headEnd type="none" w="med" len="med"/>
                      <a:tailEnd type="none" w="med" len="med"/>
                    </a:lnL>
                    <a:lnR w="9525" cap="rnd" cmpd="sng" algn="ctr">
                      <a:noFill/>
                      <a:prstDash val="soli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0.7031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0.4858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0.5988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0.8116</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0.7224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0.5005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0.5942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0.1733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0.6909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0.4921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0.5957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0.8140</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0.7105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0.5066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0.5916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0.1678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0.7225</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0.5121</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0.1732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0.8256</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EE49342E-E7D6-BF0B-BD1F-7CDBF78E67A8}"/>
              </a:ext>
            </a:extLst>
          </p:cNvPr>
          <p:cNvSpPr txBox="1"/>
          <p:nvPr/>
        </p:nvSpPr>
        <p:spPr>
          <a:xfrm>
            <a:off x="2558643" y="5839722"/>
            <a:ext cx="6274964"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b="1" dirty="0">
                <a:latin typeface="Barlow SemiBold" panose="00000700000000000000" pitchFamily="2" charset="0"/>
              </a:rPr>
              <a:t>🏆 Overall Winner: ModernBERT + Lion achieved highest performance in 4/5 metrics</a:t>
            </a:r>
            <a:endParaRPr lang="en-IN" sz="2000" dirty="0">
              <a:latin typeface="Barlow SemiBold" panose="00000700000000000000" pitchFamily="2" charset="0"/>
            </a:endParaRPr>
          </a:p>
        </p:txBody>
      </p:sp>
    </p:spTree>
    <p:extLst>
      <p:ext uri="{BB962C8B-B14F-4D97-AF65-F5344CB8AC3E}">
        <p14:creationId xmlns:p14="http://schemas.microsoft.com/office/powerpoint/2010/main" val="1499254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2B87-E556-AD36-6DD4-0DBC71C52B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6C5A068-E5AA-E22A-8741-305F801A9A55}"/>
              </a:ext>
            </a:extLst>
          </p:cNvPr>
          <p:cNvSpPr txBox="1"/>
          <p:nvPr/>
        </p:nvSpPr>
        <p:spPr>
          <a:xfrm>
            <a:off x="669471" y="734786"/>
            <a:ext cx="4900701" cy="707886"/>
          </a:xfrm>
          <a:prstGeom prst="rect">
            <a:avLst/>
          </a:prstGeom>
          <a:noFill/>
        </p:spPr>
        <p:txBody>
          <a:bodyPr wrap="none" rtlCol="0">
            <a:spAutoFit/>
          </a:bodyPr>
          <a:lstStyle/>
          <a:p>
            <a:r>
              <a:rPr lang="en-GB" sz="4000" dirty="0">
                <a:solidFill>
                  <a:schemeClr val="bg1"/>
                </a:solidFill>
                <a:latin typeface="Barlow Medium" panose="00000600000000000000" pitchFamily="2" charset="0"/>
              </a:rPr>
              <a:t>GPU Usage Statistics</a:t>
            </a:r>
            <a:endParaRPr lang="en-IN" sz="4000" dirty="0">
              <a:solidFill>
                <a:schemeClr val="bg1"/>
              </a:solidFill>
              <a:latin typeface="Barlow Medium" panose="00000600000000000000" pitchFamily="2" charset="0"/>
            </a:endParaRPr>
          </a:p>
        </p:txBody>
      </p:sp>
      <p:graphicFrame>
        <p:nvGraphicFramePr>
          <p:cNvPr id="6" name="Table 5">
            <a:extLst>
              <a:ext uri="{FF2B5EF4-FFF2-40B4-BE49-F238E27FC236}">
                <a16:creationId xmlns:a16="http://schemas.microsoft.com/office/drawing/2014/main" id="{39537761-ECB2-5E55-4466-ED01094611BA}"/>
              </a:ext>
            </a:extLst>
          </p:cNvPr>
          <p:cNvGraphicFramePr>
            <a:graphicFrameLocks noGrp="1"/>
          </p:cNvGraphicFramePr>
          <p:nvPr>
            <p:extLst>
              <p:ext uri="{D42A27DB-BD31-4B8C-83A1-F6EECF244321}">
                <p14:modId xmlns:p14="http://schemas.microsoft.com/office/powerpoint/2010/main" val="530166516"/>
              </p:ext>
            </p:extLst>
          </p:nvPr>
        </p:nvGraphicFramePr>
        <p:xfrm>
          <a:off x="930001" y="2197509"/>
          <a:ext cx="10309020" cy="3356106"/>
        </p:xfrm>
        <a:graphic>
          <a:graphicData uri="http://schemas.openxmlformats.org/drawingml/2006/table">
            <a:tbl>
              <a:tblPr firstRow="1" bandRow="1">
                <a:tableStyleId>{69C7853C-536D-4A76-A0AE-DD22124D55A5}</a:tableStyleId>
              </a:tblPr>
              <a:tblGrid>
                <a:gridCol w="2061804">
                  <a:extLst>
                    <a:ext uri="{9D8B030D-6E8A-4147-A177-3AD203B41FA5}">
                      <a16:colId xmlns:a16="http://schemas.microsoft.com/office/drawing/2014/main" val="1585879530"/>
                    </a:ext>
                  </a:extLst>
                </a:gridCol>
                <a:gridCol w="2061804">
                  <a:extLst>
                    <a:ext uri="{9D8B030D-6E8A-4147-A177-3AD203B41FA5}">
                      <a16:colId xmlns:a16="http://schemas.microsoft.com/office/drawing/2014/main" val="1389322177"/>
                    </a:ext>
                  </a:extLst>
                </a:gridCol>
                <a:gridCol w="2061804">
                  <a:extLst>
                    <a:ext uri="{9D8B030D-6E8A-4147-A177-3AD203B41FA5}">
                      <a16:colId xmlns:a16="http://schemas.microsoft.com/office/drawing/2014/main" val="1757895171"/>
                    </a:ext>
                  </a:extLst>
                </a:gridCol>
                <a:gridCol w="2061804">
                  <a:extLst>
                    <a:ext uri="{9D8B030D-6E8A-4147-A177-3AD203B41FA5}">
                      <a16:colId xmlns:a16="http://schemas.microsoft.com/office/drawing/2014/main" val="1926697050"/>
                    </a:ext>
                  </a:extLst>
                </a:gridCol>
                <a:gridCol w="2061804">
                  <a:extLst>
                    <a:ext uri="{9D8B030D-6E8A-4147-A177-3AD203B41FA5}">
                      <a16:colId xmlns:a16="http://schemas.microsoft.com/office/drawing/2014/main" val="1594094915"/>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Mean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Peak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Efficiency gain (%)</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33.09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35.25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2.67 %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GB" b="1" dirty="0">
                          <a:solidFill>
                            <a:srgbClr val="334155"/>
                          </a:solidFill>
                          <a:effectLst/>
                          <a:latin typeface="Barlow Medium" panose="00000600000000000000" pitchFamily="2" charset="0"/>
                        </a:rPr>
                        <a:t>32.21</a:t>
                      </a:r>
                      <a:endParaRPr lang="en-IN" b="1"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34.64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b="0" dirty="0">
                          <a:solidFill>
                            <a:srgbClr val="334155"/>
                          </a:solidFill>
                          <a:effectLst/>
                          <a:latin typeface="Barlow Medium" panose="00000600000000000000" pitchFamily="2" charset="0"/>
                        </a:rPr>
                        <a:t>73.04</a:t>
                      </a:r>
                      <a:endParaRPr lang="en-IN" b="0"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78.08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10.33 %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65.50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69.69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77.04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81.40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3.49%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74.35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79.45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51B1C36E-476B-1187-E408-7D55B97D5C4B}"/>
              </a:ext>
            </a:extLst>
          </p:cNvPr>
          <p:cNvSpPr txBox="1"/>
          <p:nvPr/>
        </p:nvSpPr>
        <p:spPr>
          <a:xfrm>
            <a:off x="2616517" y="5851297"/>
            <a:ext cx="7152516"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dirty="0">
                <a:latin typeface="Barlow SemiBold" panose="00000700000000000000" pitchFamily="2" charset="0"/>
              </a:rPr>
              <a:t>Lion optimizer demonstrates superior GPU utilization efficiency across all models</a:t>
            </a:r>
            <a:endParaRPr lang="en-IN" sz="2000" dirty="0">
              <a:latin typeface="Barlow SemiBold" panose="00000700000000000000" pitchFamily="2" charset="0"/>
            </a:endParaRPr>
          </a:p>
        </p:txBody>
      </p:sp>
    </p:spTree>
    <p:extLst>
      <p:ext uri="{BB962C8B-B14F-4D97-AF65-F5344CB8AC3E}">
        <p14:creationId xmlns:p14="http://schemas.microsoft.com/office/powerpoint/2010/main" val="28522380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AD8E1BB-9F92-23D5-7BB8-D614AC3724B9}"/>
              </a:ext>
            </a:extLst>
          </p:cNvPr>
          <p:cNvSpPr>
            <a:spLocks noGrp="1"/>
          </p:cNvSpPr>
          <p:nvPr>
            <p:ph type="body" sz="half" idx="2"/>
          </p:nvPr>
        </p:nvSpPr>
        <p:spPr>
          <a:xfrm>
            <a:off x="1126690" y="2523281"/>
            <a:ext cx="11065310" cy="4085863"/>
          </a:xfrm>
        </p:spPr>
        <p:txBody>
          <a:bodyPr>
            <a:normAutofit/>
          </a:bodyPr>
          <a:lstStyle/>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Universal Efficiency:</a:t>
            </a:r>
            <a:r>
              <a:rPr lang="en-IN" dirty="0">
                <a:latin typeface="Barlow" panose="00000500000000000000" pitchFamily="2" charset="0"/>
              </a:rPr>
              <a:t> Lion optimizer reduces GPU usage in 100% of configurations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Performance Trade-offs:</a:t>
            </a:r>
            <a:r>
              <a:rPr lang="en-IN" dirty="0">
                <a:latin typeface="Barlow" panose="00000500000000000000" pitchFamily="2" charset="0"/>
              </a:rPr>
              <a:t> Neither optimizer dominates all metrics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Configuration Critical:</a:t>
            </a:r>
            <a:r>
              <a:rPr lang="en-IN" dirty="0">
                <a:latin typeface="Barlow" panose="00000500000000000000" pitchFamily="2" charset="0"/>
              </a:rPr>
              <a:t> Learning rate and scheduling significantly impact results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ModernBERT Excellence:</a:t>
            </a:r>
            <a:r>
              <a:rPr lang="en-IN" dirty="0">
                <a:latin typeface="Barlow" panose="00000500000000000000" pitchFamily="2" charset="0"/>
              </a:rPr>
              <a:t> Best overall performance with Lion optimizer</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Cost-Effectiveness:</a:t>
            </a:r>
            <a:r>
              <a:rPr lang="en-IN" dirty="0">
                <a:latin typeface="Barlow" panose="00000500000000000000" pitchFamily="2" charset="0"/>
              </a:rPr>
              <a:t> 5.50% average efficiency improvement across models</a:t>
            </a:r>
          </a:p>
        </p:txBody>
      </p:sp>
      <p:sp>
        <p:nvSpPr>
          <p:cNvPr id="5" name="TextBox 4">
            <a:extLst>
              <a:ext uri="{FF2B5EF4-FFF2-40B4-BE49-F238E27FC236}">
                <a16:creationId xmlns:a16="http://schemas.microsoft.com/office/drawing/2014/main" id="{F4A67FDF-559B-3DA4-1BAB-783B74FF50BF}"/>
              </a:ext>
            </a:extLst>
          </p:cNvPr>
          <p:cNvSpPr txBox="1"/>
          <p:nvPr/>
        </p:nvSpPr>
        <p:spPr>
          <a:xfrm>
            <a:off x="1458410" y="486137"/>
            <a:ext cx="7741222" cy="707886"/>
          </a:xfrm>
          <a:prstGeom prst="rect">
            <a:avLst/>
          </a:prstGeom>
          <a:noFill/>
        </p:spPr>
        <p:txBody>
          <a:bodyPr wrap="none" rtlCol="0">
            <a:spAutoFit/>
            <a:scene3d>
              <a:camera prst="orthographicFront"/>
              <a:lightRig rig="harsh" dir="t"/>
            </a:scene3d>
            <a:sp3d extrusionH="57150" prstMaterial="matte">
              <a:bevelT w="63500" h="12700" prst="angle"/>
              <a:contourClr>
                <a:schemeClr val="bg1">
                  <a:lumMod val="65000"/>
                </a:schemeClr>
              </a:contourClr>
            </a:sp3d>
          </a:bodyPr>
          <a:lstStyle/>
          <a:p>
            <a:r>
              <a:rPr lang="en-IN" sz="4000" b="1" dirty="0">
                <a:ln/>
                <a:solidFill>
                  <a:schemeClr val="accent3"/>
                </a:solidFill>
                <a:latin typeface="Barlow ExtraBold" panose="00000900000000000000" pitchFamily="2" charset="0"/>
              </a:rPr>
              <a:t>Key Takeaways &amp; Decision Points</a:t>
            </a:r>
          </a:p>
        </p:txBody>
      </p:sp>
      <p:sp>
        <p:nvSpPr>
          <p:cNvPr id="6" name="TextBox 5">
            <a:extLst>
              <a:ext uri="{FF2B5EF4-FFF2-40B4-BE49-F238E27FC236}">
                <a16:creationId xmlns:a16="http://schemas.microsoft.com/office/drawing/2014/main" id="{CF350CD9-140C-3A36-38A9-6C5A2ADC1AFB}"/>
              </a:ext>
            </a:extLst>
          </p:cNvPr>
          <p:cNvSpPr txBox="1"/>
          <p:nvPr/>
        </p:nvSpPr>
        <p:spPr>
          <a:xfrm>
            <a:off x="729205" y="1667283"/>
            <a:ext cx="4607352" cy="523220"/>
          </a:xfrm>
          <a:prstGeom prst="rect">
            <a:avLst/>
          </a:prstGeom>
          <a:noFill/>
        </p:spPr>
        <p:txBody>
          <a:bodyPr wrap="none" rtlCol="0">
            <a:spAutoFit/>
          </a:bodyPr>
          <a:lstStyle/>
          <a:p>
            <a:r>
              <a:rPr lang="en-IN" sz="2800" b="1" dirty="0">
                <a:latin typeface="Barlow SemiBold" panose="00000700000000000000" pitchFamily="2" charset="0"/>
              </a:rPr>
              <a:t>🎯 Major Findings Summary</a:t>
            </a:r>
          </a:p>
        </p:txBody>
      </p:sp>
    </p:spTree>
    <p:extLst>
      <p:ext uri="{BB962C8B-B14F-4D97-AF65-F5344CB8AC3E}">
        <p14:creationId xmlns:p14="http://schemas.microsoft.com/office/powerpoint/2010/main" val="22987981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323D41-0EF3-86F1-BFC3-9CFC3BE29E33}"/>
              </a:ext>
            </a:extLst>
          </p:cNvPr>
          <p:cNvSpPr>
            <a:spLocks noGrp="1"/>
          </p:cNvSpPr>
          <p:nvPr>
            <p:ph type="title"/>
          </p:nvPr>
        </p:nvSpPr>
        <p:spPr>
          <a:xfrm>
            <a:off x="729291" y="868100"/>
            <a:ext cx="6956299" cy="740781"/>
          </a:xfrm>
          <a:solidFill>
            <a:schemeClr val="bg1"/>
          </a:solidFill>
        </p:spPr>
        <p:txBody>
          <a:bodyPr>
            <a:normAutofit fontScale="90000"/>
          </a:bodyPr>
          <a:lstStyle/>
          <a:p>
            <a:pPr algn="ctr"/>
            <a:r>
              <a:rPr lang="en-IN" dirty="0"/>
              <a:t>🧠 </a:t>
            </a:r>
            <a:r>
              <a:rPr lang="en-GB" sz="3600" dirty="0">
                <a:latin typeface="Barlow ExtraBold" panose="00000900000000000000" pitchFamily="2" charset="0"/>
              </a:rPr>
              <a:t>Decision Matrix for Practitioners</a:t>
            </a:r>
            <a:endParaRPr lang="en-IN" sz="2800" dirty="0">
              <a:latin typeface="Barlow ExtraBold" panose="00000900000000000000" pitchFamily="2" charset="0"/>
            </a:endParaRPr>
          </a:p>
        </p:txBody>
      </p:sp>
      <p:graphicFrame>
        <p:nvGraphicFramePr>
          <p:cNvPr id="5" name="Table 4">
            <a:extLst>
              <a:ext uri="{FF2B5EF4-FFF2-40B4-BE49-F238E27FC236}">
                <a16:creationId xmlns:a16="http://schemas.microsoft.com/office/drawing/2014/main" id="{1A1439E2-33C2-97AA-9107-AAF352165232}"/>
              </a:ext>
            </a:extLst>
          </p:cNvPr>
          <p:cNvGraphicFramePr>
            <a:graphicFrameLocks noGrp="1"/>
          </p:cNvGraphicFramePr>
          <p:nvPr>
            <p:extLst>
              <p:ext uri="{D42A27DB-BD31-4B8C-83A1-F6EECF244321}">
                <p14:modId xmlns:p14="http://schemas.microsoft.com/office/powerpoint/2010/main" val="3598317748"/>
              </p:ext>
            </p:extLst>
          </p:nvPr>
        </p:nvGraphicFramePr>
        <p:xfrm>
          <a:off x="1030147" y="2501900"/>
          <a:ext cx="9757458" cy="3285441"/>
        </p:xfrm>
        <a:graphic>
          <a:graphicData uri="http://schemas.openxmlformats.org/drawingml/2006/table">
            <a:tbl>
              <a:tblPr firstRow="1" bandRow="1">
                <a:tableStyleId>{69C7853C-536D-4A76-A0AE-DD22124D55A5}</a:tableStyleId>
              </a:tblPr>
              <a:tblGrid>
                <a:gridCol w="2426520">
                  <a:extLst>
                    <a:ext uri="{9D8B030D-6E8A-4147-A177-3AD203B41FA5}">
                      <a16:colId xmlns:a16="http://schemas.microsoft.com/office/drawing/2014/main" val="2494200330"/>
                    </a:ext>
                  </a:extLst>
                </a:gridCol>
                <a:gridCol w="2443646">
                  <a:extLst>
                    <a:ext uri="{9D8B030D-6E8A-4147-A177-3AD203B41FA5}">
                      <a16:colId xmlns:a16="http://schemas.microsoft.com/office/drawing/2014/main" val="2981015715"/>
                    </a:ext>
                  </a:extLst>
                </a:gridCol>
                <a:gridCol w="2443646">
                  <a:extLst>
                    <a:ext uri="{9D8B030D-6E8A-4147-A177-3AD203B41FA5}">
                      <a16:colId xmlns:a16="http://schemas.microsoft.com/office/drawing/2014/main" val="1473517929"/>
                    </a:ext>
                  </a:extLst>
                </a:gridCol>
                <a:gridCol w="2443646">
                  <a:extLst>
                    <a:ext uri="{9D8B030D-6E8A-4147-A177-3AD203B41FA5}">
                      <a16:colId xmlns:a16="http://schemas.microsoft.com/office/drawing/2014/main" val="1918200521"/>
                    </a:ext>
                  </a:extLst>
                </a:gridCol>
              </a:tblGrid>
              <a:tr h="604213">
                <a:tc>
                  <a:txBody>
                    <a:bodyPr/>
                    <a:lstStyle/>
                    <a:p>
                      <a:pPr algn="ctr"/>
                      <a:r>
                        <a:rPr lang="en-GB" sz="2000" dirty="0">
                          <a:latin typeface="Barlow SemiBold" panose="00000700000000000000" pitchFamily="2" charset="0"/>
                        </a:rPr>
                        <a:t>Priority</a:t>
                      </a:r>
                      <a:endParaRPr lang="en-IN" sz="2000" dirty="0">
                        <a:latin typeface="Barlow SemiBold" panose="00000700000000000000" pitchFamily="2" charset="0"/>
                      </a:endParaRPr>
                    </a:p>
                  </a:txBody>
                  <a:tcPr>
                    <a:solidFill>
                      <a:srgbClr val="00B0F0"/>
                    </a:solidFill>
                  </a:tcPr>
                </a:tc>
                <a:tc>
                  <a:txBody>
                    <a:bodyPr/>
                    <a:lstStyle/>
                    <a:p>
                      <a:pPr algn="ctr"/>
                      <a:r>
                        <a:rPr lang="en-GB" sz="2000" dirty="0">
                          <a:latin typeface="Barlow SemiBold" panose="00000700000000000000" pitchFamily="2" charset="0"/>
                        </a:rPr>
                        <a:t>Model Choice</a:t>
                      </a:r>
                      <a:endParaRPr lang="en-IN" sz="2000" dirty="0">
                        <a:latin typeface="Barlow SemiBold" panose="00000700000000000000" pitchFamily="2" charset="0"/>
                      </a:endParaRPr>
                    </a:p>
                  </a:txBody>
                  <a:tcPr>
                    <a:solidFill>
                      <a:srgbClr val="00B0F0"/>
                    </a:solidFill>
                  </a:tcPr>
                </a:tc>
                <a:tc>
                  <a:txBody>
                    <a:bodyPr/>
                    <a:lstStyle/>
                    <a:p>
                      <a:pPr algn="ctr"/>
                      <a:r>
                        <a:rPr lang="en-GB" sz="2000" dirty="0">
                          <a:latin typeface="Barlow SemiBold" panose="00000700000000000000" pitchFamily="2" charset="0"/>
                        </a:rPr>
                        <a:t>Optimizer</a:t>
                      </a:r>
                      <a:endParaRPr lang="en-IN" sz="2000" dirty="0">
                        <a:latin typeface="Barlow SemiBold" panose="00000700000000000000" pitchFamily="2" charset="0"/>
                      </a:endParaRPr>
                    </a:p>
                  </a:txBody>
                  <a:tcPr>
                    <a:solidFill>
                      <a:srgbClr val="00B0F0"/>
                    </a:solidFill>
                  </a:tcPr>
                </a:tc>
                <a:tc>
                  <a:txBody>
                    <a:bodyPr/>
                    <a:lstStyle/>
                    <a:p>
                      <a:pPr algn="ctr"/>
                      <a:r>
                        <a:rPr lang="en-GB" sz="2000" dirty="0">
                          <a:latin typeface="Barlow SemiBold" panose="00000700000000000000" pitchFamily="2" charset="0"/>
                        </a:rPr>
                        <a:t>Expected Outcome</a:t>
                      </a:r>
                      <a:endParaRPr lang="en-IN" sz="20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919526205"/>
                  </a:ext>
                </a:extLst>
              </a:tr>
              <a:tr h="670307">
                <a:tc>
                  <a:txBody>
                    <a:bodyPr/>
                    <a:lstStyle/>
                    <a:p>
                      <a:pPr algn="ctr"/>
                      <a:r>
                        <a:rPr lang="en-IN" b="1" dirty="0">
                          <a:solidFill>
                            <a:srgbClr val="334155"/>
                          </a:solidFill>
                          <a:effectLst/>
                          <a:latin typeface="Barlow" panose="00000500000000000000" pitchFamily="2" charset="0"/>
                        </a:rPr>
                        <a:t>Maximum Performance</a:t>
                      </a:r>
                      <a:endParaRPr lang="en-IN"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ModernBERT</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Lion</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Best metrics + efficiency</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35999168"/>
                  </a:ext>
                </a:extLst>
              </a:tr>
              <a:tr h="670307">
                <a:tc>
                  <a:txBody>
                    <a:bodyPr/>
                    <a:lstStyle/>
                    <a:p>
                      <a:pPr algn="ctr"/>
                      <a:r>
                        <a:rPr lang="en-IN" b="1">
                          <a:solidFill>
                            <a:srgbClr val="334155"/>
                          </a:solidFill>
                          <a:effectLst/>
                          <a:latin typeface="Barlow" panose="00000500000000000000" pitchFamily="2" charset="0"/>
                        </a:rPr>
                        <a:t>Cost Optimization</a:t>
                      </a:r>
                      <a:endParaRPr lang="en-IN">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a:solidFill>
                            <a:srgbClr val="334155"/>
                          </a:solidFill>
                          <a:effectLst/>
                          <a:latin typeface="Barlow" panose="00000500000000000000" pitchFamily="2" charset="0"/>
                        </a:rPr>
                        <a:t>GTE</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a:solidFill>
                            <a:srgbClr val="334155"/>
                          </a:solidFill>
                          <a:effectLst/>
                          <a:latin typeface="Barlow" panose="00000500000000000000" pitchFamily="2" charset="0"/>
                        </a:rPr>
                        <a:t>10.33% resource savings</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7149833"/>
                  </a:ext>
                </a:extLst>
              </a:tr>
              <a:tr h="670307">
                <a:tc>
                  <a:txBody>
                    <a:bodyPr/>
                    <a:lstStyle/>
                    <a:p>
                      <a:pPr algn="ctr"/>
                      <a:r>
                        <a:rPr lang="en-IN" b="1">
                          <a:solidFill>
                            <a:srgbClr val="334155"/>
                          </a:solidFill>
                          <a:effectLst/>
                          <a:latin typeface="Barlow" panose="00000500000000000000" pitchFamily="2" charset="0"/>
                        </a:rPr>
                        <a:t>Balanced Approach</a:t>
                      </a:r>
                      <a:endParaRPr lang="en-IN">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a:solidFill>
                            <a:srgbClr val="334155"/>
                          </a:solidFill>
                          <a:effectLst/>
                          <a:latin typeface="Barlow" panose="00000500000000000000" pitchFamily="2" charset="0"/>
                        </a:rPr>
                        <a:t>MiniLM</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rgbClr val="334155"/>
                          </a:solidFill>
                          <a:effectLst/>
                          <a:latin typeface="Barlow" panose="00000500000000000000" pitchFamily="2" charset="0"/>
                        </a:rPr>
                        <a:t>Good performance + efficiency</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5157648"/>
                  </a:ext>
                </a:extLst>
              </a:tr>
              <a:tr h="670307">
                <a:tc>
                  <a:txBody>
                    <a:bodyPr/>
                    <a:lstStyle/>
                    <a:p>
                      <a:pPr algn="ctr"/>
                      <a:r>
                        <a:rPr lang="en-IN" b="1">
                          <a:solidFill>
                            <a:srgbClr val="334155"/>
                          </a:solidFill>
                          <a:effectLst/>
                          <a:latin typeface="Barlow" panose="00000500000000000000" pitchFamily="2" charset="0"/>
                        </a:rPr>
                        <a:t>Risk Minimization</a:t>
                      </a:r>
                      <a:endParaRPr lang="en-IN">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a:solidFill>
                            <a:srgbClr val="334155"/>
                          </a:solidFill>
                          <a:effectLst/>
                          <a:latin typeface="Barlow" panose="00000500000000000000" pitchFamily="2" charset="0"/>
                        </a:rPr>
                        <a:t>Any</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dirty="0">
                          <a:solidFill>
                            <a:srgbClr val="334155"/>
                          </a:solidFill>
                          <a:effectLst/>
                          <a:latin typeface="Barlow" panose="00000500000000000000" pitchFamily="2" charset="0"/>
                        </a:rPr>
                        <a:t>Established, reliable results</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463148647"/>
                  </a:ext>
                </a:extLst>
              </a:tr>
            </a:tbl>
          </a:graphicData>
        </a:graphic>
      </p:graphicFrame>
    </p:spTree>
    <p:extLst>
      <p:ext uri="{BB962C8B-B14F-4D97-AF65-F5344CB8AC3E}">
        <p14:creationId xmlns:p14="http://schemas.microsoft.com/office/powerpoint/2010/main" val="3642378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p:txBody>
          <a:bodyPr/>
          <a:lstStyle/>
          <a:p>
            <a:r>
              <a:rPr lang="en-US" dirty="0">
                <a:latin typeface="Barlow SemiBold" panose="00000700000000000000" pitchFamily="2" charset="0"/>
              </a:rPr>
              <a:t>Future Research Directions</a:t>
            </a:r>
          </a:p>
        </p:txBody>
      </p:sp>
      <p:sp>
        <p:nvSpPr>
          <p:cNvPr id="2" name="TextBox 1">
            <a:extLst>
              <a:ext uri="{FF2B5EF4-FFF2-40B4-BE49-F238E27FC236}">
                <a16:creationId xmlns:a16="http://schemas.microsoft.com/office/drawing/2014/main" id="{2D373BEE-251F-D5D0-6012-B26689AC8792}"/>
              </a:ext>
            </a:extLst>
          </p:cNvPr>
          <p:cNvSpPr txBox="1"/>
          <p:nvPr/>
        </p:nvSpPr>
        <p:spPr>
          <a:xfrm>
            <a:off x="810000" y="2656935"/>
            <a:ext cx="7351693" cy="3539430"/>
          </a:xfrm>
          <a:prstGeom prst="rect">
            <a:avLst/>
          </a:prstGeom>
          <a:noFill/>
        </p:spPr>
        <p:txBody>
          <a:bodyPr wrap="none" rtlCol="0">
            <a:spAutoFit/>
          </a:bodyPr>
          <a:lstStyle/>
          <a:p>
            <a:r>
              <a:rPr lang="en-GB" sz="3600" dirty="0">
                <a:latin typeface="Barlow SemiBold" panose="00000700000000000000" pitchFamily="2" charset="0"/>
              </a:rPr>
              <a:t>Immediate Extensions</a:t>
            </a:r>
          </a:p>
          <a:p>
            <a:pPr marL="800100" lvl="1" indent="-342900">
              <a:lnSpc>
                <a:spcPct val="150000"/>
              </a:lnSpc>
              <a:buFont typeface="Arial" panose="020B0604020202020204" pitchFamily="34" charset="0"/>
              <a:buChar char="•"/>
            </a:pPr>
            <a:r>
              <a:rPr lang="en-GB" sz="2800" dirty="0">
                <a:latin typeface="Barlow" panose="00000500000000000000" pitchFamily="2" charset="0"/>
              </a:rPr>
              <a:t>	Comprehensive hyperparameter studies</a:t>
            </a:r>
          </a:p>
          <a:p>
            <a:pPr marL="800100" lvl="1" indent="-342900">
              <a:lnSpc>
                <a:spcPct val="150000"/>
              </a:lnSpc>
              <a:buFont typeface="Arial" panose="020B0604020202020204" pitchFamily="34" charset="0"/>
              <a:buChar char="•"/>
            </a:pPr>
            <a:r>
              <a:rPr lang="en-GB" sz="2800" dirty="0">
                <a:latin typeface="Barlow" panose="00000500000000000000" pitchFamily="2" charset="0"/>
              </a:rPr>
              <a:t>	Extended training analysis</a:t>
            </a:r>
          </a:p>
          <a:p>
            <a:pPr marL="800100" lvl="1" indent="-342900">
              <a:lnSpc>
                <a:spcPct val="150000"/>
              </a:lnSpc>
              <a:buFont typeface="Arial" panose="020B0604020202020204" pitchFamily="34" charset="0"/>
              <a:buChar char="•"/>
            </a:pPr>
            <a:r>
              <a:rPr lang="en-GB" sz="2800" dirty="0">
                <a:latin typeface="Barlow" panose="00000500000000000000" pitchFamily="2" charset="0"/>
              </a:rPr>
              <a:t>	Alternative schedulers investigation</a:t>
            </a:r>
          </a:p>
          <a:p>
            <a:pPr marL="800100" lvl="1" indent="-342900">
              <a:lnSpc>
                <a:spcPct val="150000"/>
              </a:lnSpc>
              <a:buFont typeface="Arial" panose="020B0604020202020204" pitchFamily="34" charset="0"/>
              <a:buChar char="•"/>
            </a:pPr>
            <a:r>
              <a:rPr lang="en-GB" sz="2800" dirty="0">
                <a:latin typeface="Barlow" panose="00000500000000000000" pitchFamily="2" charset="0"/>
              </a:rPr>
              <a:t>	Cross-lingual evaluation</a:t>
            </a:r>
          </a:p>
          <a:p>
            <a:endParaRPr lang="en-IN" sz="2000" dirty="0"/>
          </a:p>
        </p:txBody>
      </p:sp>
      <p:pic>
        <p:nvPicPr>
          <p:cNvPr id="9" name="Picture 8">
            <a:extLst>
              <a:ext uri="{FF2B5EF4-FFF2-40B4-BE49-F238E27FC236}">
                <a16:creationId xmlns:a16="http://schemas.microsoft.com/office/drawing/2014/main" id="{65C88D0E-27A8-0075-CFF1-32B6BDE7A425}"/>
              </a:ext>
            </a:extLst>
          </p:cNvPr>
          <p:cNvPicPr>
            <a:picLocks noChangeAspect="1"/>
          </p:cNvPicPr>
          <p:nvPr/>
        </p:nvPicPr>
        <p:blipFill>
          <a:blip r:embed="rId2"/>
          <a:stretch>
            <a:fillRect/>
          </a:stretch>
        </p:blipFill>
        <p:spPr>
          <a:xfrm>
            <a:off x="8161692" y="1908858"/>
            <a:ext cx="4030307" cy="4949142"/>
          </a:xfrm>
          <a:prstGeom prst="rect">
            <a:avLst/>
          </a:prstGeom>
        </p:spPr>
      </p:pic>
    </p:spTree>
    <p:extLst>
      <p:ext uri="{BB962C8B-B14F-4D97-AF65-F5344CB8AC3E}">
        <p14:creationId xmlns:p14="http://schemas.microsoft.com/office/powerpoint/2010/main" val="23945982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27240B3-8BFF-4F4A-AFA2-52E66F2680F1}"/>
              </a:ext>
            </a:extLst>
          </p:cNvPr>
          <p:cNvSpPr txBox="1"/>
          <p:nvPr/>
        </p:nvSpPr>
        <p:spPr>
          <a:xfrm>
            <a:off x="7360032" y="311847"/>
            <a:ext cx="4537679" cy="830997"/>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The thesis should be clear and bold.  Use powerful images as a background or an accent to strengthen the thesis statement.</a:t>
            </a:r>
          </a:p>
        </p:txBody>
      </p:sp>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t>[Type Thesis Statement Here]</a:t>
            </a:r>
          </a:p>
        </p:txBody>
      </p:sp>
    </p:spTree>
    <p:extLst>
      <p:ext uri="{BB962C8B-B14F-4D97-AF65-F5344CB8AC3E}">
        <p14:creationId xmlns:p14="http://schemas.microsoft.com/office/powerpoint/2010/main" val="38690944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DA7EC95-D971-4A86-9927-619CED5AB4B2}"/>
              </a:ext>
            </a:extLst>
          </p:cNvPr>
          <p:cNvSpPr>
            <a:spLocks noGrp="1"/>
          </p:cNvSpPr>
          <p:nvPr>
            <p:ph type="title"/>
          </p:nvPr>
        </p:nvSpPr>
        <p:spPr>
          <a:xfrm>
            <a:off x="810000" y="4489884"/>
            <a:ext cx="10561418" cy="1426004"/>
          </a:xfrm>
        </p:spPr>
        <p:txBody>
          <a:bodyPr/>
          <a:lstStyle/>
          <a:p>
            <a:r>
              <a:rPr lang="en-US" dirty="0"/>
              <a:t>[Type The Action Step Here]</a:t>
            </a:r>
          </a:p>
        </p:txBody>
      </p:sp>
      <p:sp>
        <p:nvSpPr>
          <p:cNvPr id="9" name="Content Placeholder 8">
            <a:extLst>
              <a:ext uri="{FF2B5EF4-FFF2-40B4-BE49-F238E27FC236}">
                <a16:creationId xmlns:a16="http://schemas.microsoft.com/office/drawing/2014/main" id="{D7442235-8F25-4E4C-8750-8CC8C44313AD}"/>
              </a:ext>
            </a:extLst>
          </p:cNvPr>
          <p:cNvSpPr>
            <a:spLocks noGrp="1"/>
          </p:cNvSpPr>
          <p:nvPr>
            <p:ph sz="quarter" idx="14"/>
          </p:nvPr>
        </p:nvSpPr>
        <p:spPr/>
        <p:txBody>
          <a:bodyPr/>
          <a:lstStyle/>
          <a:p>
            <a:pPr marL="0" indent="0" algn="ctr">
              <a:buFont typeface="Arial" panose="020B0604020202020204" pitchFamily="34" charset="0"/>
              <a:buNone/>
            </a:pPr>
            <a:r>
              <a:rPr lang="en-US" dirty="0">
                <a:ea typeface="Tahoma" panose="020B0604030504040204" pitchFamily="34" charset="0"/>
                <a:cs typeface="Tahoma" panose="020B0604030504040204" pitchFamily="34" charset="0"/>
              </a:rPr>
              <a:t>[Use this space to place an image that best captures the main idea of the action step]</a:t>
            </a:r>
          </a:p>
        </p:txBody>
      </p:sp>
      <p:sp>
        <p:nvSpPr>
          <p:cNvPr id="7" name="TextBox 6">
            <a:extLst>
              <a:ext uri="{FF2B5EF4-FFF2-40B4-BE49-F238E27FC236}">
                <a16:creationId xmlns:a16="http://schemas.microsoft.com/office/drawing/2014/main" id="{43264A76-ADAD-4DC9-84FD-71DFAFEE7A6F}"/>
              </a:ext>
            </a:extLst>
          </p:cNvPr>
          <p:cNvSpPr txBox="1"/>
          <p:nvPr/>
        </p:nvSpPr>
        <p:spPr>
          <a:xfrm>
            <a:off x="8089900" y="186333"/>
            <a:ext cx="3886200" cy="1077218"/>
          </a:xfrm>
          <a:prstGeom prst="rect">
            <a:avLst/>
          </a:prstGeom>
          <a:solidFill>
            <a:schemeClr val="tx1"/>
          </a:solidFill>
          <a:effectLst>
            <a:outerShdw blurRad="63500" sx="102000" sy="102000" algn="ctr"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wrap="square" rtlCol="0">
            <a:spAutoFit/>
          </a:bodyPr>
          <a:lstStyle/>
          <a:p>
            <a:pPr algn="ctr"/>
            <a:r>
              <a:rPr lang="en-US" sz="1600" dirty="0">
                <a:ea typeface="Tahoma" panose="020B0604030504040204" pitchFamily="34" charset="0"/>
                <a:cs typeface="Tahoma" panose="020B0604030504040204" pitchFamily="34" charset="0"/>
              </a:rPr>
              <a:t>Tip: If time and format permits it may be a good idea to add another slide for questions.  It may be as simple as a title that states “Questions?”</a:t>
            </a:r>
          </a:p>
        </p:txBody>
      </p:sp>
    </p:spTree>
    <p:extLst>
      <p:ext uri="{BB962C8B-B14F-4D97-AF65-F5344CB8AC3E}">
        <p14:creationId xmlns:p14="http://schemas.microsoft.com/office/powerpoint/2010/main" val="198029653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8413E5-0484-489B-B293-D8720B6027F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491</TotalTime>
  <Words>1462</Words>
  <Application>Microsoft Office PowerPoint</Application>
  <PresentationFormat>Widescreen</PresentationFormat>
  <Paragraphs>217</Paragraphs>
  <Slides>17</Slides>
  <Notes>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17</vt:i4>
      </vt:variant>
    </vt:vector>
  </HeadingPairs>
  <TitlesOfParts>
    <vt:vector size="28" baseType="lpstr">
      <vt:lpstr>Arial</vt:lpstr>
      <vt:lpstr>Barlow</vt:lpstr>
      <vt:lpstr>Barlow ExtraBold</vt:lpstr>
      <vt:lpstr>Barlow Medium</vt:lpstr>
      <vt:lpstr>Barlow SemiBold</vt:lpstr>
      <vt:lpstr>Calibri</vt:lpstr>
      <vt:lpstr>Century Gothic</vt:lpstr>
      <vt:lpstr>Tahoma</vt:lpstr>
      <vt:lpstr>Wingdings</vt:lpstr>
      <vt:lpstr>Wingdings 2</vt:lpstr>
      <vt:lpstr>Quotable</vt:lpstr>
      <vt:lpstr>Comparative Analysis of Lion and AdamW Optimizers for Cross-Encoder Reranking with MiniLM, GTE, and ModernBERT </vt:lpstr>
      <vt:lpstr>Research Overview &amp; Motivation</vt:lpstr>
      <vt:lpstr>Research Objectives</vt:lpstr>
      <vt:lpstr>Cross-Encoder Architecture</vt:lpstr>
      <vt:lpstr>Model Architectures Tested</vt:lpstr>
      <vt:lpstr>Optimizers Comparison (AdamW)</vt:lpstr>
      <vt:lpstr>Optimizers Comparison (Lion)</vt:lpstr>
      <vt:lpstr>Evaluation Metrices</vt:lpstr>
      <vt:lpstr>Evaluation Metrices</vt:lpstr>
      <vt:lpstr>Experimental Setup</vt:lpstr>
      <vt:lpstr>PowerPoint Presentation</vt:lpstr>
      <vt:lpstr>PowerPoint Presentation</vt:lpstr>
      <vt:lpstr>PowerPoint Presentation</vt:lpstr>
      <vt:lpstr>🧠 Decision Matrix for Practitioners</vt:lpstr>
      <vt:lpstr>Future Research Directions</vt:lpstr>
      <vt:lpstr>[Type Thesis Statement Here]</vt:lpstr>
      <vt:lpstr>[Type The Action Step Here]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28</cp:revision>
  <dcterms:created xsi:type="dcterms:W3CDTF">2025-06-19T06:03:54Z</dcterms:created>
  <dcterms:modified xsi:type="dcterms:W3CDTF">2025-06-19T14:15:52Z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