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2"/>
  </p:notesMasterIdLst>
  <p:handoutMasterIdLst>
    <p:handoutMasterId r:id="rId23"/>
  </p:handoutMasterIdLst>
  <p:sldIdLst>
    <p:sldId id="256" r:id="rId5"/>
    <p:sldId id="257" r:id="rId6"/>
    <p:sldId id="261" r:id="rId7"/>
    <p:sldId id="263" r:id="rId8"/>
    <p:sldId id="264" r:id="rId9"/>
    <p:sldId id="267" r:id="rId10"/>
    <p:sldId id="270" r:id="rId11"/>
    <p:sldId id="271" r:id="rId12"/>
    <p:sldId id="273" r:id="rId13"/>
    <p:sldId id="272" r:id="rId14"/>
    <p:sldId id="279" r:id="rId15"/>
    <p:sldId id="275" r:id="rId16"/>
    <p:sldId id="276" r:id="rId17"/>
    <p:sldId id="277" r:id="rId18"/>
    <p:sldId id="278" r:id="rId19"/>
    <p:sldId id="269" r:id="rId20"/>
    <p:sldId id="25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p:scale>
          <a:sx n="66" d="100"/>
          <a:sy n="66" d="100"/>
        </p:scale>
        <p:origin x="1282" y="619"/>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6/19/2025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6/19/2025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6</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17</a:t>
            </a:fld>
            <a:endParaRPr lang="en-US" dirty="0"/>
          </a:p>
        </p:txBody>
      </p:sp>
    </p:spTree>
    <p:extLst>
      <p:ext uri="{BB962C8B-B14F-4D97-AF65-F5344CB8AC3E}">
        <p14:creationId xmlns:p14="http://schemas.microsoft.com/office/powerpoint/2010/main" val="3338027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6/19/2025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1" y="5280847"/>
            <a:ext cx="10572000" cy="1217090"/>
          </a:xfrm>
        </p:spPr>
        <p:txBody>
          <a:bodyPr>
            <a:normAutofit fontScale="62500" lnSpcReduction="20000"/>
          </a:bodyPr>
          <a:lstStyle/>
          <a:p>
            <a:r>
              <a:rPr lang="en-IN" b="1" dirty="0"/>
              <a:t>Presented by: Shahil Kumar (MML2023008)</a:t>
            </a:r>
          </a:p>
          <a:p>
            <a:r>
              <a:rPr lang="en-IN" b="1" dirty="0"/>
              <a:t>    MTech. IT (MLIS)</a:t>
            </a:r>
          </a:p>
          <a:p>
            <a:r>
              <a:rPr lang="en-IN" b="1" dirty="0"/>
              <a:t>June 25, 2025</a:t>
            </a:r>
          </a:p>
          <a:p>
            <a:r>
              <a:rPr lang="en-IN" dirty="0"/>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rmAutofit/>
          </a:bodyPr>
          <a:lstStyle/>
          <a:p>
            <a:pPr algn="just"/>
            <a:r>
              <a:rPr lang="en-IN" b="1" dirty="0"/>
              <a:t>Information Retrieval Challenge:</a:t>
            </a:r>
            <a:r>
              <a:rPr lang="en-IN" dirty="0"/>
              <a:t> Modern IR systems require precise document ranking from vast collections</a:t>
            </a:r>
          </a:p>
          <a:p>
            <a:pPr algn="just"/>
            <a:r>
              <a:rPr lang="en-IN" b="1" dirty="0"/>
              <a:t>Cross-Encoder Advantage:</a:t>
            </a:r>
            <a:r>
              <a:rPr lang="en-IN" dirty="0"/>
              <a:t> State-of-the-art reranking through deep query-document interactions</a:t>
            </a:r>
          </a:p>
          <a:p>
            <a:pPr algn="just"/>
            <a:r>
              <a:rPr lang="en-IN" b="1" dirty="0"/>
              <a:t>Optimization Gap:</a:t>
            </a:r>
            <a:r>
              <a:rPr lang="en-IN" dirty="0"/>
              <a:t> Limited research on Lion optimizer for IR tasks despite success in other domains</a:t>
            </a:r>
          </a:p>
          <a:p>
            <a:pPr algn="just"/>
            <a:r>
              <a:rPr lang="en-IN" b="1" dirty="0"/>
              <a:t>Practical Impact:</a:t>
            </a:r>
            <a:r>
              <a:rPr lang="en-IN" dirty="0"/>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 and AdamW 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t>Research </a:t>
            </a:r>
            <a:r>
              <a:rPr lang="en-IN" b="1" dirty="0">
                <a:latin typeface="Barlow ExtraBold" panose="00000900000000000000" pitchFamily="2" charset="0"/>
              </a:rPr>
              <a:t>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2022538"/>
            <a:ext cx="10151233" cy="2948179"/>
          </a:xfrm>
          <a:prstGeom prst="rect">
            <a:avLst/>
          </a:prstGeom>
          <a:noFill/>
        </p:spPr>
        <p:txBody>
          <a:bodyPr wrap="square" rtlCol="0">
            <a:spAutoFit/>
          </a:bodyPr>
          <a:lstStyle/>
          <a:p>
            <a:pPr marL="342900" indent="-342900" algn="just">
              <a:lnSpc>
                <a:spcPct val="150000"/>
              </a:lnSpc>
              <a:buFont typeface="+mj-lt"/>
              <a:buAutoNum type="arabicPeriod"/>
            </a:pPr>
            <a:r>
              <a:rPr lang="en-IN" b="1" dirty="0"/>
              <a:t>Systematic Evaluation:</a:t>
            </a:r>
            <a:r>
              <a:rPr lang="en-IN" dirty="0"/>
              <a:t> Compare Lion and AdamW across three transformer architectures.</a:t>
            </a:r>
          </a:p>
          <a:p>
            <a:pPr marL="342900" indent="-342900" algn="just">
              <a:lnSpc>
                <a:spcPct val="150000"/>
              </a:lnSpc>
              <a:buFont typeface="+mj-lt"/>
              <a:buAutoNum type="arabicPeriod"/>
            </a:pPr>
            <a:r>
              <a:rPr lang="en-IN" b="1" dirty="0"/>
              <a:t>Comprehensive Benchmarking:</a:t>
            </a:r>
            <a:r>
              <a:rPr lang="en-IN" dirty="0"/>
              <a:t> Evaluate performance using standard IR metrics on TREC DL 2019 and MS MARCO.</a:t>
            </a:r>
          </a:p>
          <a:p>
            <a:pPr marL="342900" indent="-342900" algn="just">
              <a:lnSpc>
                <a:spcPct val="150000"/>
              </a:lnSpc>
              <a:buFont typeface="+mj-lt"/>
              <a:buAutoNum type="arabicPeriod"/>
            </a:pPr>
            <a:r>
              <a:rPr lang="en-IN" b="1" dirty="0"/>
              <a:t>Training Dynamics Analysis:</a:t>
            </a:r>
            <a:r>
              <a:rPr lang="en-IN" dirty="0"/>
              <a:t> Investigate convergence patterns and stability.</a:t>
            </a:r>
          </a:p>
          <a:p>
            <a:pPr marL="342900" indent="-342900" algn="just">
              <a:lnSpc>
                <a:spcPct val="150000"/>
              </a:lnSpc>
              <a:buFont typeface="+mj-lt"/>
              <a:buAutoNum type="arabicPeriod"/>
            </a:pPr>
            <a:r>
              <a:rPr lang="en-IN" b="1" dirty="0"/>
              <a:t>Practical Guidelines:</a:t>
            </a:r>
            <a:r>
              <a:rPr lang="en-IN" dirty="0"/>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28506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714037" y="473988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tretch>
            <a:fillRect/>
          </a:stretch>
        </p:blipFill>
        <p:spPr>
          <a:xfrm>
            <a:off x="190791" y="35955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2952616321"/>
              </p:ext>
            </p:extLst>
          </p:nvPr>
        </p:nvGraphicFramePr>
        <p:xfrm>
          <a:off x="782704" y="1812991"/>
          <a:ext cx="10629934" cy="26212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endParaRPr lang="en-IN" sz="2000" dirty="0">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a:effectLst/>
                          <a:latin typeface="Barlow" panose="00000500000000000000" pitchFamily="2" charset="0"/>
                        </a:rPr>
                        <a:t>GTE-multilingual-base</a:t>
                      </a:r>
                      <a:endParaRPr lang="en-IN" sz="200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a:effectLst/>
                          <a:latin typeface="Barlow" panose="00000500000000000000" pitchFamily="2" charset="0"/>
                        </a:rPr>
                        <a:t>ModernBERT-base</a:t>
                      </a:r>
                      <a:endParaRPr lang="en-IN" sz="200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 Flash Attention, GeGLU</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dirty="0">
                <a:latin typeface="Barlow ExtraBold" panose="00000900000000000000" pitchFamily="2" charset="0"/>
              </a:rPr>
              <a:t>Optimizers Comparison (AdamW)</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extLst>
              <a:ext uri="{FF2B5EF4-FFF2-40B4-BE49-F238E27FC236}">
                <a16:creationId xmlns:a16="http://schemas.microsoft.com/office/drawing/2014/main" id="{9ADE2C19-748C-BEF1-E01F-6CA5DA982809}"/>
              </a:ext>
            </a:extLst>
          </p:cNvPr>
          <p:cNvPicPr>
            <a:picLocks/>
          </p:cNvPicPr>
          <p:nvPr/>
        </p:nvPicPr>
        <p:blipFill>
          <a:blip r:embed="rId3"/>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4"/>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dirty="0">
                <a:latin typeface="Barlow ExtraBold" panose="00000900000000000000" pitchFamily="2" charset="0"/>
              </a:rPr>
              <a:t>Optimizers Comparison (Lion)</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291364"/>
            <a:ext cx="4599964" cy="2211814"/>
          </a:xfrm>
          <a:prstGeom prst="rect">
            <a:avLst/>
          </a:prstGeom>
        </p:spPr>
      </p:pic>
      <p:pic>
        <p:nvPicPr>
          <p:cNvPr id="3" name="@holatex&#10;\begin{document}&#10;\center&#10;where:&#10;\begin{itemize}&#10;    \item $c_t$: interpolated momentum for update direction&#10;    \item $\text{sign}(\cdot)$: element-wise sign function&#10;    \item Other parameters follow similar definitions as AdamW&#10;\end{itemize}&#10;\end{document}">
            <a:extLst>
              <a:ext uri="{FF2B5EF4-FFF2-40B4-BE49-F238E27FC236}">
                <a16:creationId xmlns:a16="http://schemas.microsoft.com/office/drawing/2014/main" id="{996BC0B4-312F-574A-8729-9E94B96A1AB9}"/>
              </a:ext>
            </a:extLst>
          </p:cNvPr>
          <p:cNvPicPr>
            <a:picLocks/>
          </p:cNvPicPr>
          <p:nvPr/>
        </p:nvPicPr>
        <p:blipFill>
          <a:blip r:embed="rId4"/>
          <a:stretch>
            <a:fillRect/>
          </a:stretch>
        </p:blipFill>
        <p:spPr>
          <a:xfrm>
            <a:off x="6329956" y="3687882"/>
            <a:ext cx="4599964" cy="1667013"/>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SemiBold" panose="00000700000000000000" pitchFamily="2" charset="0"/>
              </a:rPr>
              <a:t>Evaluation Metrices</a:t>
            </a:r>
            <a:endParaRPr lang="en-IN" dirty="0">
              <a:latin typeface="Barlow SemiBold" panose="000007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428911"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2"/>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SemiBold" panose="00000700000000000000" pitchFamily="2" charset="0"/>
              </a:rPr>
              <a:t>Evaluation Metrices</a:t>
            </a:r>
            <a:endParaRPr lang="en-IN" dirty="0">
              <a:latin typeface="Barlow SemiBold" panose="000007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708975" cy="5044557"/>
          </a:xfrm>
        </p:spPr>
        <p:txBody>
          <a:bodyPr>
            <a:normAutofit fontScale="92500" lnSpcReduction="20000"/>
          </a:bodyPr>
          <a:lstStyle/>
          <a:p>
            <a:r>
              <a:rPr lang="en-IN" sz="3000" b="1" dirty="0">
                <a:latin typeface="Barlow Medium" panose="00000600000000000000" pitchFamily="2" charset="0"/>
              </a:rPr>
              <a:t>Dataset Configuration</a:t>
            </a:r>
          </a:p>
          <a:p>
            <a:pPr lvl="1"/>
            <a:r>
              <a:rPr lang="en-IN" sz="1800" b="1" dirty="0">
                <a:latin typeface="Barlow Medium" panose="00000600000000000000" pitchFamily="2" charset="0"/>
              </a:rPr>
              <a:t>T</a:t>
            </a:r>
            <a:r>
              <a:rPr lang="en-IN" sz="1800" b="1" dirty="0">
                <a:latin typeface="Barlow" panose="00000500000000000000" pitchFamily="2" charset="0"/>
              </a:rPr>
              <a:t>raining:</a:t>
            </a:r>
            <a:r>
              <a:rPr lang="en-IN" sz="1800" dirty="0">
                <a:latin typeface="Barlow" panose="00000500000000000000" pitchFamily="2" charset="0"/>
              </a:rPr>
              <a:t> MS MARCO Passage Ranking (~500K query-passage pairs)</a:t>
            </a:r>
          </a:p>
          <a:p>
            <a:pPr lvl="1"/>
            <a:r>
              <a:rPr lang="en-IN" sz="1800" b="1" dirty="0">
                <a:latin typeface="Barlow" panose="00000500000000000000" pitchFamily="2" charset="0"/>
              </a:rPr>
              <a:t>Evaluation:</a:t>
            </a:r>
            <a:r>
              <a:rPr lang="en-IN" sz="1800" dirty="0">
                <a:latin typeface="Barlow" panose="00000500000000000000" pitchFamily="2" charset="0"/>
              </a:rPr>
              <a:t> TREC DL 2019 (43 queries with comprehensive relevance judgments)</a:t>
            </a:r>
          </a:p>
          <a:p>
            <a:pPr lvl="1"/>
            <a:r>
              <a:rPr lang="en-IN" sz="1800" b="1" dirty="0">
                <a:latin typeface="Barlow" panose="00000500000000000000" pitchFamily="2" charset="0"/>
              </a:rPr>
              <a:t>Metrics:</a:t>
            </a:r>
            <a:r>
              <a:rPr lang="en-IN" sz="1800" dirty="0">
                <a:latin typeface="Barlow" panose="00000500000000000000" pitchFamily="2" charset="0"/>
              </a:rPr>
              <a:t> NDCG@10, MAP, MRR@10, Recall@10, R-Precision, P@10</a:t>
            </a:r>
          </a:p>
          <a:p>
            <a:r>
              <a:rPr lang="en-IN" sz="3000" b="1" dirty="0">
                <a:latin typeface="Barlow Medium" panose="00000600000000000000" pitchFamily="2" charset="0"/>
              </a:rPr>
              <a:t>Infrastructure</a:t>
            </a:r>
          </a:p>
          <a:p>
            <a:pPr lvl="1"/>
            <a:r>
              <a:rPr lang="en-IN" sz="1800" b="1" dirty="0">
                <a:latin typeface="Barlow" panose="00000500000000000000" pitchFamily="2" charset="0"/>
              </a:rPr>
              <a:t>Platform:</a:t>
            </a:r>
            <a:r>
              <a:rPr lang="en-IN" sz="1800" dirty="0">
                <a:latin typeface="Barlow" panose="00000500000000000000" pitchFamily="2" charset="0"/>
              </a:rPr>
              <a:t> Modal cloud computing</a:t>
            </a:r>
          </a:p>
          <a:p>
            <a:pPr lvl="1"/>
            <a:r>
              <a:rPr lang="en-IN" sz="1800" b="1" dirty="0">
                <a:latin typeface="Barlow" panose="00000500000000000000" pitchFamily="2" charset="0"/>
              </a:rPr>
              <a:t>Hardware:</a:t>
            </a:r>
            <a:r>
              <a:rPr lang="en-IN" sz="1800" dirty="0">
                <a:latin typeface="Barlow" panose="00000500000000000000" pitchFamily="2" charset="0"/>
              </a:rPr>
              <a:t> 3 × NVIDIA L40S GPUs</a:t>
            </a:r>
          </a:p>
          <a:p>
            <a:pPr lvl="1"/>
            <a:r>
              <a:rPr lang="en-IN" sz="1800" b="1" dirty="0">
                <a:latin typeface="Barlow" panose="00000500000000000000" pitchFamily="2" charset="0"/>
              </a:rPr>
              <a:t>Monitoring:</a:t>
            </a:r>
            <a:r>
              <a:rPr lang="en-IN" sz="1800" dirty="0">
                <a:latin typeface="Barlow" panose="00000500000000000000" pitchFamily="2" charset="0"/>
              </a:rPr>
              <a:t> Weights &amp; Biases</a:t>
            </a:r>
          </a:p>
          <a:p>
            <a:pPr lvl="1"/>
            <a:r>
              <a:rPr lang="en-IN" sz="1800" b="1" dirty="0">
                <a:latin typeface="Barlow" panose="00000500000000000000" pitchFamily="2" charset="0"/>
              </a:rPr>
              <a:t>Training:</a:t>
            </a:r>
            <a:r>
              <a:rPr lang="en-IN" sz="1800" dirty="0">
                <a:latin typeface="Barlow" panose="00000500000000000000" pitchFamily="2" charset="0"/>
              </a:rPr>
              <a:t> 3 epochs per configuration</a:t>
            </a:r>
          </a:p>
          <a:p>
            <a:r>
              <a:rPr lang="en-IN" sz="3000" b="1" dirty="0">
                <a:latin typeface="Barlow Medium" panose="00000600000000000000" pitchFamily="2" charset="0"/>
              </a:rPr>
              <a:t>Experimental Design</a:t>
            </a:r>
          </a:p>
          <a:p>
            <a:pPr lvl="1"/>
            <a:r>
              <a:rPr lang="en-IN" sz="1800" b="1" dirty="0">
                <a:latin typeface="Barlow" panose="00000500000000000000" pitchFamily="2" charset="0"/>
              </a:rPr>
              <a:t>Total Configurations:</a:t>
            </a:r>
            <a:r>
              <a:rPr lang="en-IN" sz="1800" dirty="0">
                <a:latin typeface="Barlow" panose="00000500000000000000" pitchFamily="2" charset="0"/>
              </a:rPr>
              <a:t> 6 (3 models × 2 optimizers)</a:t>
            </a:r>
          </a:p>
          <a:p>
            <a:pPr lvl="1"/>
            <a:r>
              <a:rPr lang="en-IN" sz="1800" b="1" dirty="0">
                <a:latin typeface="Barlow" panose="00000500000000000000" pitchFamily="2" charset="0"/>
              </a:rPr>
              <a:t>Controlled Variables:</a:t>
            </a:r>
            <a:r>
              <a:rPr lang="en-IN" sz="1800" dirty="0">
                <a:latin typeface="Barlow" panose="00000500000000000000" pitchFamily="2" charset="0"/>
              </a:rPr>
              <a:t> Batch size, training steps, evaluation frequency</a:t>
            </a:r>
          </a:p>
          <a:p>
            <a:pPr lvl="1"/>
            <a:r>
              <a:rPr lang="en-IN" sz="1800" b="1" dirty="0">
                <a:latin typeface="Barlow" panose="00000500000000000000" pitchFamily="2" charset="0"/>
              </a:rPr>
              <a:t>Variable Parameters:</a:t>
            </a:r>
            <a:r>
              <a:rPr lang="en-IN" sz="18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1705017312"/>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 (ModernBERT)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02745" cy="707886"/>
          </a:xfrm>
          <a:prstGeom prst="rect">
            <a:avLst/>
          </a:prstGeom>
          <a:noFill/>
        </p:spPr>
        <p:txBody>
          <a:bodyPr wrap="none" rtlCol="0">
            <a:spAutoFit/>
          </a:bodyPr>
          <a:lstStyle/>
          <a:p>
            <a:r>
              <a:rPr lang="en-GB" sz="4000" dirty="0">
                <a:solidFill>
                  <a:schemeClr val="bg1"/>
                </a:solidFill>
                <a:latin typeface="Barlow Medium" panose="00000600000000000000" pitchFamily="2" charset="0"/>
              </a:rPr>
              <a:t>Main Results</a:t>
            </a:r>
            <a:endParaRPr lang="en-IN" sz="4000" dirty="0">
              <a:solidFill>
                <a:schemeClr val="bg1"/>
              </a:solidFill>
              <a:latin typeface="Barlow Medium" panose="000006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669471" y="734786"/>
            <a:ext cx="4900701" cy="707886"/>
          </a:xfrm>
          <a:prstGeom prst="rect">
            <a:avLst/>
          </a:prstGeom>
          <a:noFill/>
        </p:spPr>
        <p:txBody>
          <a:bodyPr wrap="none" rtlCol="0">
            <a:spAutoFit/>
          </a:bodyPr>
          <a:lstStyle/>
          <a:p>
            <a:r>
              <a:rPr lang="en-GB" sz="4000" dirty="0">
                <a:solidFill>
                  <a:schemeClr val="bg1"/>
                </a:solidFill>
                <a:latin typeface="Barlow Medium" panose="00000600000000000000" pitchFamily="2" charset="0"/>
              </a:rPr>
              <a:t>GPU Usage Statistics</a:t>
            </a:r>
            <a:endParaRPr lang="en-IN" sz="4000" dirty="0">
              <a:solidFill>
                <a:schemeClr val="bg1"/>
              </a:solidFill>
              <a:latin typeface="Barlow Medium" panose="000006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11065310"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Lion optimizer reduces GPU usage in 100% of configurations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Neither optimizer dominates all metrics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Best overall performance with Lion optimizer</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5.50% average efficiency improvement across models</a:t>
            </a: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741222" cy="707886"/>
          </a:xfrm>
          <a:prstGeom prst="rect">
            <a:avLst/>
          </a:prstGeom>
          <a:noFill/>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solidFill>
                  <a:schemeClr val="accent3"/>
                </a:solidFill>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598317748"/>
              </p:ext>
            </p:extLst>
          </p:nvPr>
        </p:nvGraphicFramePr>
        <p:xfrm>
          <a:off x="1030147" y="2501900"/>
          <a:ext cx="9757458" cy="3285441"/>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000" dirty="0">
                          <a:latin typeface="Barlow SemiBold" panose="00000700000000000000" pitchFamily="2" charset="0"/>
                        </a:rPr>
                        <a:t>Priority</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Model Choice</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Optimizer</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Expected Outcome</a:t>
                      </a:r>
                      <a:endParaRPr lang="en-IN" sz="20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b="1" dirty="0">
                          <a:solidFill>
                            <a:srgbClr val="334155"/>
                          </a:solidFill>
                          <a:effectLst/>
                          <a:latin typeface="Barlow" panose="00000500000000000000" pitchFamily="2" charset="0"/>
                        </a:rPr>
                        <a:t>Maximum Performance</a:t>
                      </a:r>
                      <a:endParaRPr lang="en-IN"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Best metrics + efficiency</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b="1">
                          <a:solidFill>
                            <a:srgbClr val="334155"/>
                          </a:solidFill>
                          <a:effectLst/>
                          <a:latin typeface="Barlow" panose="00000500000000000000" pitchFamily="2" charset="0"/>
                        </a:rPr>
                        <a:t>Cost Optimization</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b="1">
                          <a:solidFill>
                            <a:srgbClr val="334155"/>
                          </a:solidFill>
                          <a:effectLst/>
                          <a:latin typeface="Barlow" panose="00000500000000000000" pitchFamily="2" charset="0"/>
                        </a:rPr>
                        <a:t>Balanced Approach</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b="1">
                          <a:solidFill>
                            <a:srgbClr val="334155"/>
                          </a:solidFill>
                          <a:effectLst/>
                          <a:latin typeface="Barlow" panose="00000500000000000000" pitchFamily="2" charset="0"/>
                        </a:rPr>
                        <a:t>Risk Minimization</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p:txBody>
          <a:bodyPr/>
          <a:lstStyle/>
          <a:p>
            <a:r>
              <a:rPr lang="en-US" dirty="0">
                <a:latin typeface="Barlow SemiBold" panose="00000700000000000000" pitchFamily="2" charset="0"/>
              </a:rPr>
              <a:t>Future Research Directions</a:t>
            </a:r>
          </a:p>
        </p:txBody>
      </p:sp>
      <p:sp>
        <p:nvSpPr>
          <p:cNvPr id="2" name="TextBox 1">
            <a:extLst>
              <a:ext uri="{FF2B5EF4-FFF2-40B4-BE49-F238E27FC236}">
                <a16:creationId xmlns:a16="http://schemas.microsoft.com/office/drawing/2014/main" id="{2D373BEE-251F-D5D0-6012-B26689AC8792}"/>
              </a:ext>
            </a:extLst>
          </p:cNvPr>
          <p:cNvSpPr txBox="1"/>
          <p:nvPr/>
        </p:nvSpPr>
        <p:spPr>
          <a:xfrm>
            <a:off x="810000" y="2656935"/>
            <a:ext cx="7351693" cy="3539430"/>
          </a:xfrm>
          <a:prstGeom prst="rect">
            <a:avLst/>
          </a:prstGeom>
          <a:noFill/>
        </p:spPr>
        <p:txBody>
          <a:bodyPr wrap="none" rtlCol="0">
            <a:spAutoFit/>
          </a:bodyPr>
          <a:lstStyle/>
          <a:p>
            <a:r>
              <a:rPr lang="en-GB" sz="3600" dirty="0">
                <a:latin typeface="Barlow SemiBold" panose="00000700000000000000" pitchFamily="2" charset="0"/>
              </a:rPr>
              <a:t>Immediate Extensions</a:t>
            </a:r>
          </a:p>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8161692" y="1908858"/>
            <a:ext cx="4030307" cy="4949142"/>
          </a:xfrm>
          <a:prstGeom prst="rect">
            <a:avLst/>
          </a:prstGeom>
        </p:spPr>
      </p:pic>
    </p:spTree>
    <p:extLst>
      <p:ext uri="{BB962C8B-B14F-4D97-AF65-F5344CB8AC3E}">
        <p14:creationId xmlns:p14="http://schemas.microsoft.com/office/powerpoint/2010/main" val="2394598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386909441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511</TotalTime>
  <Words>1321</Words>
  <Application>Microsoft Office PowerPoint</Application>
  <PresentationFormat>Widescreen</PresentationFormat>
  <Paragraphs>230</Paragraphs>
  <Slides>17</Slides>
  <Notes>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Research Overview &amp; Motivation</vt:lpstr>
      <vt:lpstr>Research Objectives</vt:lpstr>
      <vt:lpstr>Cross-Encoder Architecture</vt:lpstr>
      <vt:lpstr>Model Architectures Tested</vt:lpstr>
      <vt:lpstr>Optimizers Comparison (AdamW)</vt:lpstr>
      <vt:lpstr>Optimizers Comparison (Lion)</vt:lpstr>
      <vt:lpstr>Evaluation Metrices</vt:lpstr>
      <vt:lpstr>Evaluation Metrices</vt:lpstr>
      <vt:lpstr>Experimental Setup</vt:lpstr>
      <vt:lpstr>PowerPoint Presentation</vt:lpstr>
      <vt:lpstr>PowerPoint Presentation</vt:lpstr>
      <vt:lpstr>PowerPoint Presentation</vt:lpstr>
      <vt:lpstr>PowerPoint Presentation</vt:lpstr>
      <vt:lpstr>🧠 Decision Matrix for Practitioners</vt:lpstr>
      <vt:lpstr>Future Research Directions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32</cp:revision>
  <dcterms:created xsi:type="dcterms:W3CDTF">2025-06-19T06:03:54Z</dcterms:created>
  <dcterms:modified xsi:type="dcterms:W3CDTF">2025-06-19T14:35:17Z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