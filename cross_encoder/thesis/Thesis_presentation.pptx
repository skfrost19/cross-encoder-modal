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3"/>
  </p:notesMasterIdLst>
  <p:handoutMasterIdLst>
    <p:handoutMasterId r:id="rId34"/>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1" r:id="rId20"/>
    <p:sldId id="273" r:id="rId21"/>
    <p:sldId id="288" r:id="rId22"/>
    <p:sldId id="275" r:id="rId23"/>
    <p:sldId id="276" r:id="rId24"/>
    <p:sldId id="277" r:id="rId25"/>
    <p:sldId id="278" r:id="rId26"/>
    <p:sldId id="289" r:id="rId27"/>
    <p:sldId id="269" r:id="rId28"/>
    <p:sldId id="290" r:id="rId29"/>
    <p:sldId id="291" r:id="rId30"/>
    <p:sldId id="292" r:id="rId31"/>
    <p:sldId id="284"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varScale="1">
        <p:scale>
          <a:sx n="163" d="100"/>
          <a:sy n="163" d="100"/>
        </p:scale>
        <p:origin x="150" y="2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6/22/2025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28</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6/22/2025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slide" Target="slide2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slide" Target="slide26.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slide" Target="slide26.xml"/></Relationships>
</file>

<file path=ppt/slides/_rels/slide15.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2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latin typeface="Barlow Medium" panose="00000600000000000000" pitchFamily="2" charset="0"/>
              </a:rPr>
              <a:t>[4]</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and AdamW</a:t>
            </a:r>
            <a:r>
              <a:rPr lang="en-GB" b="1" i="1" baseline="30000" dirty="0">
                <a:latin typeface="Barlow Medium" panose="00000600000000000000" pitchFamily="2" charset="0"/>
              </a:rPr>
              <a:t>[3]</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solidFill>
                  <a:srgbClr val="FF0000"/>
                </a:solidFill>
                <a:latin typeface="Barlow" panose="00000500000000000000" pitchFamily="2" charset="0"/>
                <a:hlinkClick r:id="rId3" action="ppaction://hlinksldjump"/>
              </a:rPr>
              <a:t>[4]</a:t>
            </a:r>
            <a:r>
              <a:rPr lang="en-IN" sz="2000" dirty="0">
                <a:solidFill>
                  <a:srgbClr val="FF0000"/>
                </a:solidFill>
                <a:latin typeface="Barlow" panose="00000500000000000000" pitchFamily="2" charset="0"/>
                <a:hlinkClick r:id="rId3" action="ppaction://hlinksldjump"/>
              </a:rPr>
              <a:t> </a:t>
            </a:r>
            <a:r>
              <a:rPr lang="en-IN" sz="2000" dirty="0">
                <a:latin typeface="Barlow" panose="00000500000000000000" pitchFamily="2" charset="0"/>
              </a:rPr>
              <a:t>and AdamW</a:t>
            </a:r>
            <a:r>
              <a:rPr lang="en-IN" sz="2000" b="1" baseline="30000" dirty="0">
                <a:latin typeface="Barlow" panose="00000500000000000000" pitchFamily="2" charset="0"/>
                <a:hlinkClick r:id="rId3" action="ppaction://hlinksldjump"/>
              </a:rPr>
              <a:t>[3]</a:t>
            </a:r>
            <a:r>
              <a:rPr lang="en-IN" sz="2000" dirty="0">
                <a:latin typeface="Barlow" panose="00000500000000000000" pitchFamily="2" charset="0"/>
                <a:hlinkClick r:id="rId3" action="ppaction://hlinksldjump"/>
              </a:rPr>
              <a:t> </a:t>
            </a:r>
            <a:r>
              <a:rPr lang="en-IN" sz="2000" dirty="0">
                <a:latin typeface="Barlow" panose="00000500000000000000" pitchFamily="2" charset="0"/>
              </a:rPr>
              <a:t>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latin typeface="Barlow" panose="00000500000000000000" pitchFamily="2" charset="0"/>
                <a:hlinkClick r:id="rId3" action="ppaction://hlinksldjump"/>
              </a:rPr>
              <a:t>[8] </a:t>
            </a:r>
            <a:r>
              <a:rPr lang="en-IN" sz="2000" dirty="0">
                <a:latin typeface="Barlow" panose="00000500000000000000" pitchFamily="2" charset="0"/>
              </a:rPr>
              <a:t>and MS MARCO</a:t>
            </a:r>
            <a:r>
              <a:rPr lang="en-IN" sz="2000" b="1" baseline="30000" dirty="0">
                <a:latin typeface="Barlow" panose="00000500000000000000" pitchFamily="2" charset="0"/>
                <a:hlinkClick r:id="rId4" action="ppaction://hlinksldjump"/>
              </a:rPr>
              <a:t>[9]</a:t>
            </a:r>
            <a:r>
              <a:rPr lang="en-IN" sz="2000" dirty="0">
                <a:latin typeface="Barlow" panose="00000500000000000000" pitchFamily="2" charset="0"/>
                <a:hlinkClick r:id="rId4" action="ppaction://hlinksldjump"/>
              </a:rPr>
              <a:t>.</a:t>
            </a:r>
            <a:endParaRPr lang="en-IN" sz="2000" dirty="0">
              <a:latin typeface="Barlow" panose="00000500000000000000" pitchFamily="2" charset="0"/>
            </a:endParaRP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latin typeface="Barlow" panose="00000500000000000000" pitchFamily="2" charset="0"/>
                <a:hlinkClick r:id="rId2" action="ppaction://hlinksldjump"/>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latin typeface="Barlow" panose="00000500000000000000" pitchFamily="2" charset="0"/>
                <a:hlinkClick r:id="rId2" action="ppaction://hlinksldjump"/>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latin typeface="Barlow" panose="00000500000000000000" pitchFamily="2" charset="0"/>
                <a:hlinkClick r:id="rId2" action="ppaction://hlinksldjump"/>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latin typeface="Barlow" panose="00000500000000000000" pitchFamily="2" charset="0"/>
                <a:hlinkClick r:id="rId2" action="ppaction://hlinksldjump"/>
              </a:rPr>
              <a:t>[6]</a:t>
            </a:r>
            <a:r>
              <a:rPr lang="en-IN" sz="2000" dirty="0">
                <a:latin typeface="Barlow" panose="00000500000000000000" pitchFamily="2" charset="0"/>
              </a:rPr>
              <a:t>: Advanced features (RoPE</a:t>
            </a:r>
            <a:r>
              <a:rPr lang="en-IN" sz="2000" b="1" baseline="30000" dirty="0">
                <a:latin typeface="Barlow" panose="00000500000000000000" pitchFamily="2" charset="0"/>
                <a:hlinkClick r:id="rId3" action="ppaction://hlinksldjump"/>
              </a:rPr>
              <a:t>[12]</a:t>
            </a:r>
            <a:r>
              <a:rPr lang="en-IN" sz="2000" dirty="0">
                <a:latin typeface="Barlow" panose="00000500000000000000" pitchFamily="2" charset="0"/>
                <a:hlinkClick r:id="rId3" action="ppaction://hlinksldjump"/>
              </a:rPr>
              <a:t>,</a:t>
            </a:r>
            <a:r>
              <a:rPr lang="en-IN" sz="2000" dirty="0">
                <a:latin typeface="Barlow" panose="00000500000000000000" pitchFamily="2" charset="0"/>
                <a:hlinkClick r:id="rId3" action="ppaction://hlinksldjump"/>
              </a:rPr>
              <a:t> </a:t>
            </a:r>
            <a:r>
              <a:rPr lang="en-IN" sz="2000" dirty="0">
                <a:latin typeface="Barlow" panose="00000500000000000000" pitchFamily="2" charset="0"/>
              </a:rPr>
              <a:t>Flash Attention</a:t>
            </a:r>
            <a:r>
              <a:rPr lang="en-IN" sz="2000" b="1" baseline="30000" dirty="0">
                <a:latin typeface="Barlow" panose="00000500000000000000" pitchFamily="2" charset="0"/>
                <a:hlinkClick r:id="rId3" action="ppaction://hlinksldjump"/>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rcRect/>
          <a:stretch/>
        </p:blipFill>
        <p:spPr>
          <a:xfrm>
            <a:off x="190791" y="15826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hlinkClick r:id="rId2" action="ppaction://hlinksldjump"/>
              </a:rPr>
              <a:t>[3]</a:t>
            </a:r>
            <a:endParaRPr lang="en-IN" sz="2800"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hlinkClick r:id="rId3" action="ppaction://hlinksldjump"/>
            <a:extLst>
              <a:ext uri="{FF2B5EF4-FFF2-40B4-BE49-F238E27FC236}">
                <a16:creationId xmlns:a16="http://schemas.microsoft.com/office/drawing/2014/main" id="{9ADE2C19-748C-BEF1-E01F-6CA5DA982809}"/>
              </a:ext>
            </a:extLst>
          </p:cNvPr>
          <p:cNvPicPr>
            <a:picLocks/>
          </p:cNvPicPr>
          <p:nvPr/>
        </p:nvPicPr>
        <p:blipFill>
          <a:blip r:embed="rId4"/>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5"/>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hlinkClick r:id="rId2" action="ppaction://hlinksldjump"/>
              </a:rPr>
              <a:t>[4]</a:t>
            </a:r>
            <a:endParaRPr lang="en-IN" sz="2800" b="1"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6" name="@holatex&#10;\begin{document}&#10;\center&#10;where:&#10;\begin{itemize}&#10;    \item $c_t$: interpolated momentum for update direction&#10;    \item $\text{sign}(\cdot)$: element-wise sign function  &#10;    \item $\theta_t$: model parameters at time step $t$&#10;    \item $g_t$: gradient at time step $t$&#10;    \item $m_t$: exponential moving average of gradients (momentum)&#10;    \item $\eta$: learning rate&#10;    \item $\beta_1$: momentum coefficient for update direction (typically 0.9)&#10;    \item $\beta_2$: momentum coefficient for gradient tracking (typically 0.99)&#10;    \item $\lambda$: weight decay coefficient&#10;\end{itemize}&#10;\end{document}">
            <a:extLst>
              <a:ext uri="{FF2B5EF4-FFF2-40B4-BE49-F238E27FC236}">
                <a16:creationId xmlns:a16="http://schemas.microsoft.com/office/drawing/2014/main" id="{5860B546-5E53-616F-31DD-9768D14F3DAB}"/>
              </a:ext>
            </a:extLst>
          </p:cNvPr>
          <p:cNvPicPr>
            <a:picLocks/>
          </p:cNvPicPr>
          <p:nvPr/>
        </p:nvPicPr>
        <p:blipFill>
          <a:blip r:embed="rId4"/>
          <a:stretch>
            <a:fillRect/>
          </a:stretch>
        </p:blipFill>
        <p:spPr>
          <a:xfrm>
            <a:off x="6505216" y="2461062"/>
            <a:ext cx="4876782" cy="3949750"/>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latin typeface="Barlow" panose="00000500000000000000" pitchFamily="2" charset="0"/>
                <a:hlinkClick r:id="rId2" action="ppaction://hlinksldjump"/>
              </a:rPr>
              <a:t>[9]</a:t>
            </a:r>
            <a:r>
              <a:rPr lang="en-IN" sz="2400" dirty="0">
                <a:latin typeface="Barlow" panose="00000500000000000000" pitchFamily="2" charset="0"/>
                <a:hlinkClick r:id="rId2" action="ppaction://hlinksldjump"/>
              </a:rPr>
              <a:t> </a:t>
            </a:r>
            <a:r>
              <a:rPr lang="en-IN" sz="2400" dirty="0">
                <a:latin typeface="Barlow" panose="00000500000000000000" pitchFamily="2" charset="0"/>
              </a:rPr>
              <a:t>Passage Ranking (~500K query-passage pairs)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latin typeface="Barlow" panose="00000500000000000000" pitchFamily="2" charset="0"/>
                <a:hlinkClick r:id="rId3" action="ppaction://hlinksldjump"/>
              </a:rPr>
              <a:t>[8]</a:t>
            </a:r>
            <a:r>
              <a:rPr lang="en-IN" sz="2400" dirty="0">
                <a:latin typeface="Barlow" panose="00000500000000000000" pitchFamily="2" charset="0"/>
                <a:hlinkClick r:id="rId3" action="ppaction://hlinksldjump"/>
              </a:rPr>
              <a:t> </a:t>
            </a:r>
            <a:r>
              <a:rPr lang="en-IN" sz="2400" dirty="0">
                <a:latin typeface="Barlow" panose="00000500000000000000" pitchFamily="2" charset="0"/>
              </a:rPr>
              <a:t>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 MAP, MRR@10, Recall@10, R-Precision,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latin typeface="Barlow" panose="00000500000000000000" pitchFamily="2" charset="0"/>
                <a:hlinkClick r:id="rId2" action="ppaction://hlinksldjump"/>
              </a:rPr>
              <a:t>[10]</a:t>
            </a:r>
            <a:endParaRPr lang="en-IN" sz="2400" b="1" baseline="30000" dirty="0">
              <a:latin typeface="Barlow" panose="00000500000000000000" pitchFamily="2" charset="0"/>
            </a:endParaRP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latin typeface="Barlow" panose="00000500000000000000" pitchFamily="2" charset="0"/>
                <a:hlinkClick r:id="rId2" action="ppaction://hlinksldjump"/>
              </a:rPr>
              <a:t>[11]</a:t>
            </a:r>
            <a:endParaRPr lang="en-IN" sz="2400" b="1" baseline="30000" dirty="0">
              <a:latin typeface="Barlow" panose="00000500000000000000" pitchFamily="2" charset="0"/>
            </a:endParaRP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4000075422"/>
              </p:ext>
            </p:extLst>
          </p:nvPr>
        </p:nvGraphicFramePr>
        <p:xfrm>
          <a:off x="782704" y="1812991"/>
          <a:ext cx="10629934" cy="29260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 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r>
                        <a:rPr lang="en-IN" sz="2000" b="1" baseline="30000" dirty="0">
                          <a:effectLst/>
                          <a:latin typeface="Barlow" panose="00000500000000000000" pitchFamily="2" charset="0"/>
                          <a:hlinkClick r:id="rId3" action="ppaction://hlinksldjump"/>
                        </a:rPr>
                        <a:t>[5]</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r>
                        <a:rPr lang="en-IN" sz="2000" b="1" baseline="30000" dirty="0">
                          <a:effectLst/>
                          <a:latin typeface="Barlow" panose="00000500000000000000" pitchFamily="2" charset="0"/>
                          <a:hlinkClick r:id="rId3" action="ppaction://hlinksldjump"/>
                        </a:rPr>
                        <a:t>[7]</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dirty="0">
                          <a:effectLst/>
                          <a:latin typeface="Barlow" panose="00000500000000000000" pitchFamily="2" charset="0"/>
                        </a:rPr>
                        <a:t>ModernBERT-base</a:t>
                      </a:r>
                      <a:r>
                        <a:rPr lang="en-IN" sz="2000" b="1" baseline="30000" dirty="0">
                          <a:effectLst/>
                          <a:latin typeface="Barlow" panose="00000500000000000000" pitchFamily="2" charset="0"/>
                          <a:hlinkClick r:id="rId3" action="ppaction://hlinksldjump"/>
                        </a:rPr>
                        <a:t>[6]</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a:t>
                      </a:r>
                      <a:r>
                        <a:rPr lang="en-IN" sz="2000" baseline="30000" dirty="0">
                          <a:effectLst/>
                          <a:latin typeface="Barlow" panose="00000500000000000000" pitchFamily="2" charset="0"/>
                          <a:hlinkClick r:id="rId4" action="ppaction://hlinksldjump"/>
                        </a:rPr>
                        <a:t>[12]</a:t>
                      </a:r>
                      <a:r>
                        <a:rPr lang="en-IN" sz="2000" baseline="30000" dirty="0">
                          <a:effectLst/>
                          <a:latin typeface="Barlow" panose="00000500000000000000" pitchFamily="2" charset="0"/>
                        </a:rPr>
                        <a:t>, </a:t>
                      </a:r>
                      <a:r>
                        <a:rPr lang="en-IN" sz="2000" dirty="0">
                          <a:effectLst/>
                          <a:latin typeface="Barlow" panose="00000500000000000000" pitchFamily="2" charset="0"/>
                        </a:rPr>
                        <a:t>Flash Attention</a:t>
                      </a:r>
                      <a:r>
                        <a:rPr lang="en-IN" sz="2000" baseline="30000" dirty="0">
                          <a:effectLst/>
                          <a:latin typeface="Barlow" panose="00000500000000000000" pitchFamily="2" charset="0"/>
                          <a:hlinkClick r:id="rId4" action="ppaction://hlinksldjump"/>
                        </a:rPr>
                        <a:t>[13]</a:t>
                      </a:r>
                      <a:r>
                        <a:rPr lang="en-IN" sz="2000" dirty="0">
                          <a:effectLst/>
                          <a:latin typeface="Barlow" panose="00000500000000000000" pitchFamily="2" charset="0"/>
                        </a:rPr>
                        <a:t>, GeGLU</a:t>
                      </a:r>
                      <a:r>
                        <a:rPr lang="en-IN" sz="2000" baseline="30000" dirty="0">
                          <a:effectLst/>
                          <a:latin typeface="Barlow" panose="00000500000000000000" pitchFamily="2" charset="0"/>
                          <a:hlinkClick r:id="rId4" action="ppaction://hlinksldjump"/>
                        </a:rPr>
                        <a:t>[14]</a:t>
                      </a:r>
                      <a:endParaRPr lang="en-IN" sz="2000" baseline="30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4110281572"/>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r>
                        <a:rPr lang="en-IN" sz="2000" baseline="30000" dirty="0">
                          <a:solidFill>
                            <a:schemeClr val="tx1"/>
                          </a:solidFill>
                          <a:effectLst/>
                          <a:latin typeface="Barlow" panose="00000500000000000000" pitchFamily="2" charset="0"/>
                          <a:hlinkClick r:id="rId2" action="ppaction://hlinksldjump"/>
                        </a:rPr>
                        <a:t>[6]</a:t>
                      </a:r>
                      <a:r>
                        <a:rPr lang="en-IN" sz="2000" dirty="0">
                          <a:solidFill>
                            <a:schemeClr val="tx1"/>
                          </a:solidFill>
                          <a:effectLst/>
                          <a:latin typeface="Barlow" panose="00000500000000000000" pitchFamily="2" charset="0"/>
                        </a:rPr>
                        <a: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1" baseline="30000" dirty="0">
                          <a:solidFill>
                            <a:schemeClr val="tx1"/>
                          </a:solidFill>
                          <a:effectLst/>
                          <a:latin typeface="Barlow" panose="00000500000000000000" pitchFamily="2" charset="0"/>
                        </a:rPr>
                        <a:t>[15]</a:t>
                      </a:r>
                      <a:r>
                        <a:rPr lang="en-IN" sz="2000" dirty="0">
                          <a:solidFill>
                            <a:schemeClr val="tx1"/>
                          </a:solidFill>
                          <a:effectLst/>
                          <a:latin typeface="Barlow" panose="00000500000000000000" pitchFamily="2" charset="0"/>
                        </a:rPr>
                        <a:t> (ModernBERT)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938665"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r>
              <a:rPr lang="en-GB" sz="2400" baseline="30000" dirty="0">
                <a:latin typeface="Barlow Medium" panose="00000600000000000000" pitchFamily="2" charset="0"/>
                <a:hlinkClick r:id="rId2" action="ppaction://hlinksldjump"/>
              </a:rPr>
              <a:t>[16]</a:t>
            </a:r>
            <a:endParaRPr lang="en-GB" sz="2400" baseline="30000" dirty="0">
              <a:latin typeface="Barlow Medium" panose="00000600000000000000" pitchFamily="2" charset="0"/>
            </a:endParaRP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3"/>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211580055"/>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GB" sz="2000" dirty="0">
                          <a:solidFill>
                            <a:srgbClr val="334155"/>
                          </a:solidFill>
                          <a:effectLst/>
                          <a:latin typeface="Barlow" panose="00000500000000000000" pitchFamily="2" charset="0"/>
                        </a:rPr>
                        <a:t>A</a:t>
                      </a:r>
                      <a:r>
                        <a:rPr lang="en-IN" sz="2000" dirty="0">
                          <a:solidFill>
                            <a:srgbClr val="334155"/>
                          </a:solidFill>
                          <a:effectLst/>
                          <a:latin typeface="Barlow" panose="00000500000000000000" pitchFamily="2" charset="0"/>
                        </a:rPr>
                        <a:t>damW</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fontScale="92500" lnSpcReduction="2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p>
          <a:p>
            <a:pPr marL="457200" indent="-457200">
              <a:buFont typeface="+mj-lt"/>
              <a:buAutoNum type="arabicPeriod" startAt="9"/>
            </a:pPr>
            <a:r>
              <a:rPr lang="en-GB" sz="2000" dirty="0">
                <a:latin typeface="Barlow" panose="00000500000000000000" pitchFamily="2" charset="0"/>
              </a:rPr>
              <a:t>Y. Wang et al., “A theoretical analysis of NDCG type ranking measures,” arXiv preprint arXiv:1304.6480, Apr. 2013.</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purl.org/dc/elements/1.1/"/>
    <ds:schemaRef ds:uri="http://schemas.microsoft.com/office/2006/metadata/properties"/>
    <ds:schemaRef ds:uri="http://schemas.microsoft.com/sharepoint/v3"/>
    <ds:schemaRef ds:uri="http://schemas.microsoft.com/office/2006/documentManagement/types"/>
    <ds:schemaRef ds:uri="230e9df3-be65-4c73-a93b-d1236ebd677e"/>
    <ds:schemaRef ds:uri="http://schemas.microsoft.com/office/infopath/2007/PartnerControls"/>
    <ds:schemaRef ds:uri="http://www.w3.org/XML/1998/namespace"/>
    <ds:schemaRef ds:uri="http://schemas.openxmlformats.org/package/2006/metadata/core-properties"/>
    <ds:schemaRef ds:uri="http://purl.org/dc/terms/"/>
    <ds:schemaRef ds:uri="16c05727-aa75-4e4a-9b5f-8a80a1165891"/>
    <ds:schemaRef ds:uri="71af3243-3dd4-4a8d-8c0d-dd76da1f02a5"/>
    <ds:schemaRef ds:uri="http://purl.org/dc/dcmityp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4348</TotalTime>
  <Words>2637</Words>
  <Application>Microsoft Office PowerPoint</Application>
  <PresentationFormat>Widescreen</PresentationFormat>
  <Paragraphs>332</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Metrics</vt:lpstr>
      <vt:lpstr>Evaluation Metrics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83</cp:revision>
  <dcterms:created xsi:type="dcterms:W3CDTF">2025-06-19T06:03:54Z</dcterms:created>
  <dcterms:modified xsi:type="dcterms:W3CDTF">2025-06-24T08:28:55Z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