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3"/>
  </p:notesMasterIdLst>
  <p:handoutMasterIdLst>
    <p:handoutMasterId r:id="rId34"/>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1" r:id="rId20"/>
    <p:sldId id="273" r:id="rId21"/>
    <p:sldId id="288" r:id="rId22"/>
    <p:sldId id="275" r:id="rId23"/>
    <p:sldId id="276" r:id="rId24"/>
    <p:sldId id="277" r:id="rId25"/>
    <p:sldId id="278" r:id="rId26"/>
    <p:sldId id="289" r:id="rId27"/>
    <p:sldId id="269" r:id="rId28"/>
    <p:sldId id="290" r:id="rId29"/>
    <p:sldId id="291" r:id="rId30"/>
    <p:sldId id="292" r:id="rId31"/>
    <p:sldId id="284"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varScale="1">
        <p:scale>
          <a:sx n="80" d="100"/>
          <a:sy n="80" d="100"/>
        </p:scale>
        <p:origin x="120" y="20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6/21/2025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28</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6/21/2025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6/21/2025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6/21/2025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6/21/2025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6/21/2025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6/21/2025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latin typeface="Barlow" panose="00000500000000000000" pitchFamily="2" charset="0"/>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latin typeface="Barlow" panose="00000500000000000000" pitchFamily="2" charset="0"/>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latin typeface="Barlow Medium" panose="00000600000000000000" pitchFamily="2" charset="0"/>
              </a:rPr>
              <a:t>[4]</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and AdamW</a:t>
            </a:r>
            <a:r>
              <a:rPr lang="en-GB" b="1" i="1" baseline="30000" dirty="0">
                <a:latin typeface="Barlow Medium" panose="00000600000000000000" pitchFamily="2" charset="0"/>
              </a:rPr>
              <a:t>[3]</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latin typeface="Barlow" panose="00000500000000000000" pitchFamily="2" charset="0"/>
              </a:rPr>
              <a:t>[4]</a:t>
            </a:r>
            <a:r>
              <a:rPr lang="en-IN" sz="2000" dirty="0">
                <a:latin typeface="Barlow" panose="00000500000000000000" pitchFamily="2" charset="0"/>
              </a:rPr>
              <a:t> and AdamW</a:t>
            </a:r>
            <a:r>
              <a:rPr lang="en-IN" sz="2000" b="1" baseline="30000" dirty="0">
                <a:latin typeface="Barlow" panose="00000500000000000000" pitchFamily="2" charset="0"/>
              </a:rPr>
              <a:t>[3]</a:t>
            </a:r>
            <a:r>
              <a:rPr lang="en-IN" sz="2000" dirty="0">
                <a:latin typeface="Barlow" panose="00000500000000000000" pitchFamily="2" charset="0"/>
              </a:rPr>
              <a:t> 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latin typeface="Barlow" panose="00000500000000000000" pitchFamily="2" charset="0"/>
              </a:rPr>
              <a:t>[8] </a:t>
            </a:r>
            <a:r>
              <a:rPr lang="en-IN" sz="2000" dirty="0">
                <a:latin typeface="Barlow" panose="00000500000000000000" pitchFamily="2" charset="0"/>
              </a:rPr>
              <a:t>and MS MARCO</a:t>
            </a:r>
            <a:r>
              <a:rPr lang="en-IN" sz="2000" b="1" baseline="30000" dirty="0">
                <a:latin typeface="Barlow" panose="00000500000000000000" pitchFamily="2" charset="0"/>
              </a:rPr>
              <a:t>[9]</a:t>
            </a:r>
            <a:r>
              <a:rPr lang="en-IN" sz="2000" dirty="0">
                <a:latin typeface="Barlow" panose="00000500000000000000" pitchFamily="2" charset="0"/>
              </a:rPr>
              <a:t>.</a:t>
            </a: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latin typeface="Barlow" panose="00000500000000000000" pitchFamily="2" charset="0"/>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latin typeface="Barlow" panose="00000500000000000000" pitchFamily="2" charset="0"/>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latin typeface="Barlow" panose="00000500000000000000" pitchFamily="2" charset="0"/>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latin typeface="Barlow" panose="00000500000000000000" pitchFamily="2" charset="0"/>
              </a:rPr>
              <a:t>[6]</a:t>
            </a:r>
            <a:r>
              <a:rPr lang="en-IN" sz="2000" dirty="0">
                <a:latin typeface="Barlow" panose="00000500000000000000" pitchFamily="2" charset="0"/>
              </a:rPr>
              <a:t>: Advanced features (RoPE</a:t>
            </a:r>
            <a:r>
              <a:rPr lang="en-IN" sz="2000" b="1" baseline="30000" dirty="0">
                <a:latin typeface="Barlow" panose="00000500000000000000" pitchFamily="2" charset="0"/>
              </a:rPr>
              <a:t>[12]</a:t>
            </a:r>
            <a:r>
              <a:rPr lang="en-IN" sz="2000" dirty="0">
                <a:latin typeface="Barlow" panose="00000500000000000000" pitchFamily="2" charset="0"/>
              </a:rPr>
              <a:t>, Flash Attention</a:t>
            </a:r>
            <a:r>
              <a:rPr lang="en-IN" sz="2000" b="1" baseline="30000" dirty="0">
                <a:latin typeface="Barlow" panose="00000500000000000000" pitchFamily="2" charset="0"/>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tretch>
            <a:fillRect/>
          </a:stretch>
        </p:blipFill>
        <p:spPr>
          <a:xfrm>
            <a:off x="190791" y="35955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rPr>
              <a:t>[3]</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17892" cy="3823226"/>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pPr/>
                <a:r>
                  <a:rPr lang="en-IN" sz="2000" dirty="0">
                    <a:latin typeface="Barlow" panose="00000500000000000000" pitchFamily="2" charset="0"/>
                  </a:rPr>
                  <a:t>•</a:t>
                </a:r>
                <a14:m>
                  <m:oMath xmlns:m="http://schemas.openxmlformats.org/officeDocument/2006/math">
                    <m:sSub>
                      <m:sSubPr>
                        <m:ctrlPr>
                          <a:rPr lang="el-GR" sz="2000" i="1" dirty="0" smtClean="0">
                            <a:latin typeface="Cambria Math" panose="02040503050406030204" pitchFamily="18" charset="0"/>
                          </a:rPr>
                        </m:ctrlPr>
                      </m:sSubPr>
                      <m:e>
                        <m:r>
                          <a:rPr lang="el-GR" sz="2000" i="1" dirty="0" smtClean="0">
                            <a:latin typeface="Cambria Math" panose="02040503050406030204" pitchFamily="18" charset="0"/>
                          </a:rPr>
                          <m:t>𝜃</m:t>
                        </m:r>
                      </m:e>
                      <m:sub>
                        <m:d>
                          <m:dPr>
                            <m:begChr m:val="{"/>
                            <m:endChr m:val="}"/>
                            <m:ctrlPr>
                              <a:rPr lang="el-GR" sz="2000" i="1" dirty="0" smtClean="0">
                                <a:latin typeface="Cambria Math" panose="02040503050406030204" pitchFamily="18" charset="0"/>
                              </a:rPr>
                            </m:ctrlPr>
                          </m:dPr>
                          <m:e>
                            <m:r>
                              <a:rPr lang="en-IN" sz="2000" i="1" dirty="0" smtClean="0">
                                <a:latin typeface="Cambria Math" panose="02040503050406030204" pitchFamily="18" charset="0"/>
                              </a:rPr>
                              <m:t>𝑡</m:t>
                            </m:r>
                            <m:r>
                              <a:rPr lang="en-IN" sz="2000" i="1" dirty="0" smtClean="0">
                                <a:latin typeface="Cambria Math" panose="02040503050406030204" pitchFamily="18" charset="0"/>
                              </a:rPr>
                              <m:t>+1</m:t>
                            </m:r>
                          </m:e>
                        </m:d>
                      </m:sub>
                    </m:sSub>
                    <m:r>
                      <a:rPr lang="en-IN" sz="2000" i="1" dirty="0" smtClean="0">
                        <a:latin typeface="Cambria Math" panose="02040503050406030204" pitchFamily="18" charset="0"/>
                      </a:rPr>
                      <m:t> = </m:t>
                    </m:r>
                    <m:sSub>
                      <m:sSubPr>
                        <m:ctrlPr>
                          <a:rPr lang="el-GR" sz="2000" i="1" dirty="0" smtClean="0">
                            <a:latin typeface="Cambria Math" panose="02040503050406030204" pitchFamily="18" charset="0"/>
                          </a:rPr>
                        </m:ctrlPr>
                      </m:sSubPr>
                      <m:e>
                        <m:r>
                          <a:rPr lang="el-GR" sz="2000" i="1" dirty="0" smtClean="0">
                            <a:latin typeface="Cambria Math" panose="02040503050406030204" pitchFamily="18" charset="0"/>
                          </a:rPr>
                          <m:t>𝜃</m:t>
                        </m:r>
                      </m:e>
                      <m:sub>
                        <m:r>
                          <a:rPr lang="en-IN" sz="2000" i="1" dirty="0" smtClean="0">
                            <a:latin typeface="Cambria Math" panose="02040503050406030204" pitchFamily="18" charset="0"/>
                          </a:rPr>
                          <m:t>𝑡</m:t>
                        </m:r>
                      </m:sub>
                    </m:sSub>
                    <m:r>
                      <a:rPr lang="en-IN" sz="2000" i="1" dirty="0" smtClean="0">
                        <a:latin typeface="Cambria Math" panose="02040503050406030204" pitchFamily="18" charset="0"/>
                      </a:rPr>
                      <m:t> − </m:t>
                    </m:r>
                    <m:r>
                      <a:rPr lang="el-GR" sz="2000" i="1" dirty="0" smtClean="0">
                        <a:latin typeface="Cambria Math" panose="02040503050406030204" pitchFamily="18" charset="0"/>
                      </a:rPr>
                      <m:t>𝛼</m:t>
                    </m:r>
                    <m:r>
                      <a:rPr lang="el-GR" sz="2000" i="1" dirty="0" smtClean="0">
                        <a:latin typeface="Cambria Math" panose="02040503050406030204" pitchFamily="18" charset="0"/>
                      </a:rPr>
                      <m:t>(</m:t>
                    </m:r>
                    <m:sSub>
                      <m:sSubPr>
                        <m:ctrlPr>
                          <a:rPr lang="en-IN" sz="2000" i="1" dirty="0" smtClean="0">
                            <a:latin typeface="Cambria Math" panose="02040503050406030204" pitchFamily="18" charset="0"/>
                          </a:rPr>
                        </m:ctrlPr>
                      </m:sSubPr>
                      <m:e>
                        <m:acc>
                          <m:accPr>
                            <m:chr m:val="̂"/>
                            <m:ctrlPr>
                              <a:rPr lang="en-IN" sz="2000" i="1" dirty="0" smtClean="0">
                                <a:latin typeface="Cambria Math" panose="02040503050406030204" pitchFamily="18" charset="0"/>
                              </a:rPr>
                            </m:ctrlPr>
                          </m:accPr>
                          <m:e>
                            <m:r>
                              <a:rPr lang="en-IN" sz="2000" i="1" dirty="0" smtClean="0">
                                <a:latin typeface="Cambria Math" panose="02040503050406030204" pitchFamily="18" charset="0"/>
                              </a:rPr>
                              <m:t>𝑚</m:t>
                            </m:r>
                          </m:e>
                        </m:acc>
                      </m:e>
                      <m:sub>
                        <m:r>
                          <a:rPr lang="en-IN" sz="2000" i="1" dirty="0" smtClean="0">
                            <a:latin typeface="Cambria Math" panose="02040503050406030204" pitchFamily="18" charset="0"/>
                          </a:rPr>
                          <m:t>𝑡</m:t>
                        </m:r>
                      </m:sub>
                    </m:sSub>
                    <m:r>
                      <a:rPr lang="en-GB" sz="2000" b="0" i="1" dirty="0" smtClean="0">
                        <a:latin typeface="Cambria Math" panose="02040503050406030204" pitchFamily="18" charset="0"/>
                      </a:rPr>
                      <m:t>/</m:t>
                    </m:r>
                    <m:r>
                      <a:rPr lang="en-IN" sz="2000" i="1" dirty="0" smtClean="0">
                        <a:latin typeface="Cambria Math" panose="02040503050406030204" pitchFamily="18" charset="0"/>
                      </a:rPr>
                      <m:t>√</m:t>
                    </m:r>
                    <m:sSub>
                      <m:sSubPr>
                        <m:ctrlPr>
                          <a:rPr lang="en-IN" sz="2000" i="1" dirty="0" smtClean="0">
                            <a:latin typeface="Cambria Math" panose="02040503050406030204" pitchFamily="18" charset="0"/>
                          </a:rPr>
                        </m:ctrlPr>
                      </m:sSubPr>
                      <m:e>
                        <m:acc>
                          <m:accPr>
                            <m:chr m:val="̂"/>
                            <m:ctrlPr>
                              <a:rPr lang="en-IN" sz="2000" i="1" dirty="0" smtClean="0">
                                <a:latin typeface="Cambria Math" panose="02040503050406030204" pitchFamily="18" charset="0"/>
                              </a:rPr>
                            </m:ctrlPr>
                          </m:accPr>
                          <m:e>
                            <m:r>
                              <a:rPr lang="en-IN" sz="2000" i="1" dirty="0" smtClean="0">
                                <a:latin typeface="Cambria Math" panose="02040503050406030204" pitchFamily="18" charset="0"/>
                              </a:rPr>
                              <m:t>𝑣</m:t>
                            </m:r>
                          </m:e>
                        </m:acc>
                      </m:e>
                      <m:sub>
                        <m:r>
                          <a:rPr lang="en-IN" sz="2000" i="1" dirty="0" smtClean="0">
                            <a:latin typeface="Cambria Math" panose="02040503050406030204" pitchFamily="18" charset="0"/>
                          </a:rPr>
                          <m:t>𝑡</m:t>
                        </m:r>
                      </m:sub>
                    </m:sSub>
                    <m:r>
                      <a:rPr lang="en-IN" sz="2000" i="1" dirty="0" smtClean="0">
                        <a:latin typeface="Cambria Math" panose="02040503050406030204" pitchFamily="18" charset="0"/>
                      </a:rPr>
                      <m:t> + </m:t>
                    </m:r>
                    <m:r>
                      <a:rPr lang="el-GR" sz="2000" i="1" dirty="0" smtClean="0">
                        <a:latin typeface="Cambria Math" panose="02040503050406030204" pitchFamily="18" charset="0"/>
                      </a:rPr>
                      <m:t>𝜆</m:t>
                    </m:r>
                    <m:sSub>
                      <m:sSubPr>
                        <m:ctrlPr>
                          <a:rPr lang="el-GR" sz="2000" i="1" dirty="0" smtClean="0">
                            <a:latin typeface="Cambria Math" panose="02040503050406030204" pitchFamily="18" charset="0"/>
                          </a:rPr>
                        </m:ctrlPr>
                      </m:sSubPr>
                      <m:e>
                        <m:r>
                          <a:rPr lang="el-GR" sz="2000" i="1" dirty="0" smtClean="0">
                            <a:latin typeface="Cambria Math" panose="02040503050406030204" pitchFamily="18" charset="0"/>
                          </a:rPr>
                          <m:t>𝜃</m:t>
                        </m:r>
                      </m:e>
                      <m:sub>
                        <m:r>
                          <a:rPr lang="en-IN" sz="2000" i="1" dirty="0" smtClean="0">
                            <a:latin typeface="Cambria Math" panose="02040503050406030204" pitchFamily="18" charset="0"/>
                          </a:rPr>
                          <m:t>𝑡</m:t>
                        </m:r>
                      </m:sub>
                    </m:sSub>
                    <m:r>
                      <a:rPr lang="en-IN" sz="2000" i="1" dirty="0" smtClean="0">
                        <a:latin typeface="Cambria Math" panose="02040503050406030204" pitchFamily="18" charset="0"/>
                      </a:rPr>
                      <m:t>)</m:t>
                    </m:r>
                  </m:oMath>
                </a14:m>
                <a:endParaRPr lang="en-IN" sz="2000" dirty="0">
                  <a:latin typeface="Barlow" panose="00000500000000000000" pitchFamily="2" charset="0"/>
                </a:endParaRP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mc:Choice>
        <mc:Fallback>
          <p:sp>
            <p:nvSpPr>
              <p:cNvPr id="6" name="TextBox 5">
                <a:extLst>
                  <a:ext uri="{FF2B5EF4-FFF2-40B4-BE49-F238E27FC236}">
                    <a16:creationId xmlns:a16="http://schemas.microsoft.com/office/drawing/2014/main" id="{3F328A19-6B2F-462C-D96B-F58C09479D3A}"/>
                  </a:ext>
                </a:extLst>
              </p:cNvPr>
              <p:cNvSpPr txBox="1">
                <a:spLocks noRot="1" noChangeAspect="1" noMove="1" noResize="1" noEditPoints="1" noAdjustHandles="1" noChangeArrowheads="1" noChangeShapeType="1" noTextEdit="1"/>
              </p:cNvSpPr>
              <p:nvPr/>
            </p:nvSpPr>
            <p:spPr>
              <a:xfrm>
                <a:off x="445168" y="2610853"/>
                <a:ext cx="6817892" cy="3823226"/>
              </a:xfrm>
              <a:prstGeom prst="rect">
                <a:avLst/>
              </a:prstGeom>
              <a:blipFill>
                <a:blip r:embed="rId2"/>
                <a:stretch>
                  <a:fillRect l="-894" t="-957" r="-89" b="-2233"/>
                </a:stretch>
              </a:blipFill>
            </p:spPr>
            <p:txBody>
              <a:bodyPr/>
              <a:lstStyle/>
              <a:p>
                <a:r>
                  <a:rPr lang="en-IN">
                    <a:noFill/>
                  </a:rPr>
                  <a:t> </a:t>
                </a:r>
              </a:p>
            </p:txBody>
          </p:sp>
        </mc:Fallback>
      </mc:AlternateContent>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extLst>
              <a:ext uri="{FF2B5EF4-FFF2-40B4-BE49-F238E27FC236}">
                <a16:creationId xmlns:a16="http://schemas.microsoft.com/office/drawing/2014/main" id="{9ADE2C19-748C-BEF1-E01F-6CA5DA982809}"/>
              </a:ext>
            </a:extLst>
          </p:cNvPr>
          <p:cNvPicPr>
            <a:picLocks/>
          </p:cNvPicPr>
          <p:nvPr/>
        </p:nvPicPr>
        <p:blipFill>
          <a:blip r:embed="rId3"/>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4"/>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rPr>
              <a:t>[4]</a:t>
            </a:r>
          </a:p>
        </p:txBody>
      </p:sp>
      <p:sp>
        <p:nvSpPr>
          <p:cNvPr id="6" name="TextBox 5">
            <a:extLst>
              <a:ext uri="{FF2B5EF4-FFF2-40B4-BE49-F238E27FC236}">
                <a16:creationId xmlns:a16="http://schemas.microsoft.com/office/drawing/2014/main" id="{364D9E65-4ACF-AB7F-EB7E-92497B1D7DA2}"/>
              </a:ext>
            </a:extLst>
          </p:cNvPr>
          <p:cNvSpPr txBox="1"/>
          <p:nvPr/>
        </p:nvSpPr>
        <p:spPr>
          <a:xfrm>
            <a:off x="421105" y="2346158"/>
            <a:ext cx="7130478"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 update = sign(momentum) × </a:t>
            </a:r>
            <a:r>
              <a:rPr lang="en-IN" sz="2000" dirty="0" err="1">
                <a:latin typeface="Barlow" panose="00000500000000000000" pitchFamily="2" charset="0"/>
              </a:rPr>
              <a:t>lr</a:t>
            </a:r>
            <a:endParaRPr lang="en-IN" sz="2000" dirty="0">
              <a:latin typeface="Barlow" panose="00000500000000000000" pitchFamily="2" charset="0"/>
            </a:endParaRP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3" name="@holatex&#10;\begin{document}&#10;\center&#10;where:&#10;\begin{itemize}&#10;    \item $c_t$: interpolated momentum for update direction&#10;    \item $\text{sign}(\cdot)$: element-wise sign function&#10;    \item Other parameters follow similar definitions as AdamW&#10;\end{itemize}&#10;\end{document}">
            <a:extLst>
              <a:ext uri="{FF2B5EF4-FFF2-40B4-BE49-F238E27FC236}">
                <a16:creationId xmlns:a16="http://schemas.microsoft.com/office/drawing/2014/main" id="{996BC0B4-312F-574A-8729-9E94B96A1AB9}"/>
              </a:ext>
            </a:extLst>
          </p:cNvPr>
          <p:cNvPicPr>
            <a:picLocks/>
          </p:cNvPicPr>
          <p:nvPr/>
        </p:nvPicPr>
        <p:blipFill>
          <a:blip r:embed="rId4"/>
          <a:stretch>
            <a:fillRect/>
          </a:stretch>
        </p:blipFill>
        <p:spPr>
          <a:xfrm>
            <a:off x="6329956" y="3687882"/>
            <a:ext cx="4599964" cy="1667013"/>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latin typeface="Barlow" panose="00000500000000000000" pitchFamily="2" charset="0"/>
              </a:rPr>
              <a:t>[9]</a:t>
            </a:r>
            <a:r>
              <a:rPr lang="en-IN" sz="2400" dirty="0">
                <a:latin typeface="Barlow" panose="00000500000000000000" pitchFamily="2" charset="0"/>
              </a:rPr>
              <a:t> Passage Ranking (~500K query-passage pairs)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latin typeface="Barlow" panose="00000500000000000000" pitchFamily="2" charset="0"/>
              </a:rPr>
              <a:t>[8]</a:t>
            </a:r>
            <a:r>
              <a:rPr lang="en-IN" sz="2400" dirty="0">
                <a:latin typeface="Barlow" panose="00000500000000000000" pitchFamily="2" charset="0"/>
              </a:rPr>
              <a:t> 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 MAP, MRR@10, Recall@10, R-Precision,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latin typeface="Barlow" panose="00000500000000000000" pitchFamily="2" charset="0"/>
              </a:rPr>
              <a:t>[10]</a:t>
            </a: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latin typeface="Barlow" panose="00000500000000000000" pitchFamily="2" charset="0"/>
              </a:rPr>
              <a:t>[11]</a:t>
            </a: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2952616321"/>
              </p:ext>
            </p:extLst>
          </p:nvPr>
        </p:nvGraphicFramePr>
        <p:xfrm>
          <a:off x="782704" y="1812991"/>
          <a:ext cx="10629934" cy="26212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endParaRPr lang="en-IN" sz="2000" dirty="0">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endParaRPr lang="en-IN" sz="2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a:effectLst/>
                          <a:latin typeface="Barlow" panose="00000500000000000000" pitchFamily="2" charset="0"/>
                        </a:rPr>
                        <a:t>ModernBERT-base</a:t>
                      </a:r>
                      <a:endParaRPr lang="en-IN" sz="200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 Flash Attention, GeGLU</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2013879173"/>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1" baseline="30000" dirty="0">
                          <a:solidFill>
                            <a:schemeClr val="tx1"/>
                          </a:solidFill>
                          <a:effectLst/>
                          <a:latin typeface="Barlow" panose="00000500000000000000" pitchFamily="2" charset="0"/>
                        </a:rPr>
                        <a:t>[15]</a:t>
                      </a:r>
                      <a:r>
                        <a:rPr lang="en-IN" sz="2000" dirty="0">
                          <a:solidFill>
                            <a:schemeClr val="tx1"/>
                          </a:solidFill>
                          <a:effectLst/>
                          <a:latin typeface="Barlow" panose="00000500000000000000" pitchFamily="2" charset="0"/>
                        </a:rPr>
                        <a:t> (ModernBERT)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Metrices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428911"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2"/>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Metrices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728589400"/>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 + efficiency</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t>
            </a:r>
            <a:r>
              <a:rPr lang="en-IN" sz="2000" dirty="0" err="1">
                <a:latin typeface="Barlow" panose="00000500000000000000" pitchFamily="2" charset="0"/>
              </a:rPr>
              <a:t>arXiv</a:t>
            </a:r>
            <a:r>
              <a:rPr lang="en-IN" sz="2000" dirty="0">
                <a:latin typeface="Barlow" panose="00000500000000000000" pitchFamily="2" charset="0"/>
              </a:rPr>
              <a:t>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a:t>
            </a:r>
            <a:r>
              <a:rPr lang="en-IN" sz="2000" i="1" dirty="0" err="1">
                <a:latin typeface="Barlow" panose="00000500000000000000" pitchFamily="2" charset="0"/>
              </a:rPr>
              <a:t>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t>
            </a:r>
            <a:r>
              <a:rPr lang="en-IN" sz="2000" dirty="0" err="1">
                <a:latin typeface="Barlow" panose="00000500000000000000" pitchFamily="2" charset="0"/>
              </a:rPr>
              <a:t>arXiv</a:t>
            </a:r>
            <a:r>
              <a:rPr lang="en-IN" sz="2000" dirty="0">
                <a:latin typeface="Barlow" panose="00000500000000000000" pitchFamily="2" charset="0"/>
              </a:rPr>
              <a:t>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t>
            </a:r>
            <a:r>
              <a:rPr lang="en-IN" sz="2000" dirty="0" err="1">
                <a:latin typeface="Barlow" panose="00000500000000000000" pitchFamily="2" charset="0"/>
              </a:rPr>
              <a:t>arXiv</a:t>
            </a:r>
            <a:r>
              <a:rPr lang="en-IN" sz="2000" dirty="0">
                <a:latin typeface="Barlow" panose="00000500000000000000" pitchFamily="2" charset="0"/>
              </a:rPr>
              <a:t>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a:t>
            </a:r>
            <a:r>
              <a:rPr lang="en-IN" sz="2000" dirty="0" err="1">
                <a:latin typeface="Barlow" panose="00000500000000000000" pitchFamily="2" charset="0"/>
              </a:rPr>
              <a:t>REtrieval</a:t>
            </a:r>
            <a:r>
              <a:rPr lang="en-IN" sz="2000" dirty="0">
                <a:latin typeface="Barlow" panose="00000500000000000000" pitchFamily="2" charset="0"/>
              </a:rPr>
              <a:t>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a:t>
            </a:r>
            <a:r>
              <a:rPr lang="en-IN" sz="2000" dirty="0" err="1">
                <a:latin typeface="Barlow" panose="00000500000000000000" pitchFamily="2" charset="0"/>
              </a:rPr>
              <a:t>MAchine</a:t>
            </a:r>
            <a:r>
              <a:rPr lang="en-IN" sz="2000" dirty="0">
                <a:latin typeface="Barlow" panose="00000500000000000000" pitchFamily="2" charset="0"/>
              </a:rPr>
              <a:t> Reading </a:t>
            </a:r>
            <a:r>
              <a:rPr lang="en-IN" sz="2000" dirty="0" err="1">
                <a:latin typeface="Barlow" panose="00000500000000000000" pitchFamily="2" charset="0"/>
              </a:rPr>
              <a:t>COmprehension</a:t>
            </a:r>
            <a:r>
              <a:rPr lang="en-IN" sz="2000" dirty="0">
                <a:latin typeface="Barlow" panose="00000500000000000000" pitchFamily="2" charset="0"/>
              </a:rPr>
              <a:t>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a:t>
            </a:r>
            <a:r>
              <a:rPr lang="en-IN" sz="2000" dirty="0" err="1">
                <a:latin typeface="Barlow" panose="00000500000000000000" pitchFamily="2" charset="0"/>
              </a:rPr>
              <a:t>RoFormer</a:t>
            </a:r>
            <a:r>
              <a:rPr lang="en-IN" sz="2000" dirty="0">
                <a:latin typeface="Barlow" panose="00000500000000000000" pitchFamily="2" charset="0"/>
              </a:rPr>
              <a:t>: Enhanced Transformer with Rotary Position Embedding," </a:t>
            </a:r>
            <a:r>
              <a:rPr lang="en-IN" sz="2000" dirty="0" err="1">
                <a:latin typeface="Barlow" panose="00000500000000000000" pitchFamily="2" charset="0"/>
              </a:rPr>
              <a:t>arXiv</a:t>
            </a:r>
            <a:r>
              <a:rPr lang="en-IN" sz="2000" dirty="0">
                <a:latin typeface="Barlow" panose="00000500000000000000" pitchFamily="2" charset="0"/>
              </a:rPr>
              <a:t> preprint arXiv:2104.09864, 2021.</a:t>
            </a:r>
          </a:p>
          <a:p>
            <a:pPr marL="457200" indent="-457200">
              <a:buFont typeface="+mj-lt"/>
              <a:buAutoNum type="arabicPeriod" startAt="9"/>
            </a:pPr>
            <a:r>
              <a:rPr lang="en-GB" sz="2000" dirty="0">
                <a:latin typeface="Barlow" panose="00000500000000000000" pitchFamily="2" charset="0"/>
              </a:rPr>
              <a:t>T. Dao, D. Y. Fu, S. Ermon, A. Rudra, and C. </a:t>
            </a:r>
            <a:r>
              <a:rPr lang="en-GB" sz="2000" dirty="0" err="1">
                <a:latin typeface="Barlow" panose="00000500000000000000" pitchFamily="2" charset="0"/>
              </a:rPr>
              <a:t>Ré</a:t>
            </a:r>
            <a:r>
              <a:rPr lang="en-GB" sz="2000" dirty="0">
                <a:latin typeface="Barlow" panose="00000500000000000000" pitchFamily="2" charset="0"/>
              </a:rPr>
              <a:t>, "</a:t>
            </a:r>
            <a:r>
              <a:rPr lang="en-GB" sz="2000" dirty="0" err="1">
                <a:latin typeface="Barlow" panose="00000500000000000000" pitchFamily="2" charset="0"/>
              </a:rPr>
              <a:t>FlashAttention</a:t>
            </a:r>
            <a:r>
              <a:rPr lang="en-GB" sz="2000" dirty="0">
                <a:latin typeface="Barlow" panose="00000500000000000000" pitchFamily="2" charset="0"/>
              </a:rPr>
              <a:t>: Fast and Memory-Efficient Exact Attention with IO-Awareness," in Advances in Neural Information Processing Systems (</a:t>
            </a:r>
            <a:r>
              <a:rPr lang="en-GB" sz="2000" dirty="0" err="1">
                <a:latin typeface="Barlow" panose="00000500000000000000" pitchFamily="2" charset="0"/>
              </a:rPr>
              <a:t>NeurIPS</a:t>
            </a:r>
            <a:r>
              <a:rPr lang="en-GB" sz="2000" dirty="0">
                <a:latin typeface="Barlow" panose="00000500000000000000" pitchFamily="2" charset="0"/>
              </a:rPr>
              <a:t>), vol. 35, pp. 16438–16453, 2022.</a:t>
            </a:r>
          </a:p>
          <a:p>
            <a:pPr marL="457200" indent="-457200">
              <a:buFont typeface="+mj-lt"/>
              <a:buAutoNum type="arabicPeriod" startAt="9"/>
            </a:pPr>
            <a:r>
              <a:rPr lang="en-GB" sz="2000" dirty="0">
                <a:latin typeface="Barlow" panose="00000500000000000000" pitchFamily="2" charset="0"/>
              </a:rPr>
              <a:t>A. </a:t>
            </a:r>
            <a:r>
              <a:rPr lang="en-GB" sz="2000" dirty="0" err="1">
                <a:latin typeface="Barlow" panose="00000500000000000000" pitchFamily="2" charset="0"/>
              </a:rPr>
              <a:t>Shazeer</a:t>
            </a:r>
            <a:r>
              <a:rPr lang="en-GB" sz="2000" dirty="0">
                <a:latin typeface="Barlow" panose="00000500000000000000" pitchFamily="2" charset="0"/>
              </a:rPr>
              <a:t>, "Gated Linear Units with GELU activation," </a:t>
            </a:r>
            <a:r>
              <a:rPr lang="en-GB" sz="2000" dirty="0" err="1">
                <a:latin typeface="Barlow" panose="00000500000000000000" pitchFamily="2" charset="0"/>
              </a:rPr>
              <a:t>arXiv</a:t>
            </a:r>
            <a:r>
              <a:rPr lang="en-GB" sz="2000" dirty="0">
                <a:latin typeface="Barlow" panose="00000500000000000000" pitchFamily="2" charset="0"/>
              </a:rPr>
              <a:t>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2.xml><?xml version="1.0" encoding="utf-8"?>
<ds:datastoreItem xmlns:ds="http://schemas.openxmlformats.org/officeDocument/2006/customXml" ds:itemID="{BC8413E5-0484-489B-B293-D8720B6027F2}">
  <ds:schemaRefs>
    <ds:schemaRef ds:uri="16c05727-aa75-4e4a-9b5f-8a80a1165891"/>
    <ds:schemaRef ds:uri="http://purl.org/dc/terms/"/>
    <ds:schemaRef ds:uri="http://schemas.microsoft.com/office/2006/metadata/properties"/>
    <ds:schemaRef ds:uri="http://schemas.microsoft.com/office/infopath/2007/PartnerControls"/>
    <ds:schemaRef ds:uri="http://www.w3.org/XML/1998/namespace"/>
    <ds:schemaRef ds:uri="http://schemas.microsoft.com/office/2006/documentManagement/types"/>
    <ds:schemaRef ds:uri="http://schemas.openxmlformats.org/package/2006/metadata/core-properties"/>
    <ds:schemaRef ds:uri="71af3243-3dd4-4a8d-8c0d-dd76da1f02a5"/>
    <ds:schemaRef ds:uri="230e9df3-be65-4c73-a93b-d1236ebd677e"/>
    <ds:schemaRef ds:uri="http://schemas.microsoft.com/sharepoint/v3"/>
    <ds:schemaRef ds:uri="http://purl.org/dc/dcmitype/"/>
    <ds:schemaRef ds:uri="http://purl.org/dc/elements/1.1/"/>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1261</TotalTime>
  <Words>2618</Words>
  <Application>Microsoft Office PowerPoint</Application>
  <PresentationFormat>Widescreen</PresentationFormat>
  <Paragraphs>332</Paragraphs>
  <Slides>28</Slides>
  <Notes>13</Notes>
  <HiddenSlides>2</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28</vt:i4>
      </vt:variant>
    </vt:vector>
  </HeadingPairs>
  <TitlesOfParts>
    <vt:vector size="40" baseType="lpstr">
      <vt:lpstr>Arial</vt:lpstr>
      <vt:lpstr>Barlow</vt:lpstr>
      <vt:lpstr>Barlow ExtraBold</vt:lpstr>
      <vt:lpstr>Barlow Medium</vt:lpstr>
      <vt:lpstr>Barlow SemiBold</vt:lpstr>
      <vt:lpstr>Calibri</vt:lpstr>
      <vt:lpstr>Cambria Math</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Metrices</vt:lpstr>
      <vt:lpstr>Evaluation Metrices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71</cp:revision>
  <dcterms:created xsi:type="dcterms:W3CDTF">2025-06-19T06:03:54Z</dcterms:created>
  <dcterms:modified xsi:type="dcterms:W3CDTF">2025-06-21T08:21:08Z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