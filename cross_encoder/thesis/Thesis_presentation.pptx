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3"/>
  </p:notesMasterIdLst>
  <p:handoutMasterIdLst>
    <p:handoutMasterId r:id="rId34"/>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0" r:id="rId29"/>
    <p:sldId id="291" r:id="rId30"/>
    <p:sldId id="292" r:id="rId31"/>
    <p:sldId id="284"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varScale="1">
        <p:scale>
          <a:sx n="163" d="100"/>
          <a:sy n="163" d="100"/>
        </p:scale>
        <p:origin x="150" y="2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28</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slide" Target="slide26.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6.xml"/></Relationships>
</file>

<file path=ppt/slides/_rels/slide15.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slide" Target="slide2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2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[3]</a:t>
            </a:r>
            <a:r>
              <a:rPr lang="en-IN" sz="20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 </a:t>
            </a:r>
            <a:r>
              <a:rPr lang="en-IN" sz="2000" dirty="0">
                <a:latin typeface="Barlow" panose="00000500000000000000" pitchFamily="2" charset="0"/>
              </a:rPr>
              <a:t>and MS MARCO</a:t>
            </a:r>
            <a:r>
              <a:rPr lang="en-IN" sz="2000" b="1" baseline="30000" dirty="0">
                <a:solidFill>
                  <a:srgbClr val="FF0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[9]</a:t>
            </a:r>
            <a:r>
              <a:rPr lang="en-IN" sz="2000" dirty="0">
                <a:solidFill>
                  <a:srgbClr val="FFC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latin typeface="Barlow" panose="00000500000000000000" pitchFamily="2" charset="0"/>
              </a:rPr>
              <a:t>: Advanced features (RoPE</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[12]</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Flash Attention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[9]</a:t>
            </a:r>
            <a:r>
              <a:rPr lang="en-IN" sz="2400" dirty="0">
                <a:solidFill>
                  <a:srgbClr val="FFC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Passage Ranking (~500K query-passage pairs)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a:t>
            </a:r>
            <a:r>
              <a:rPr lang="en-IN" sz="24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a:t>
            </a:r>
            <a:r>
              <a:rPr lang="en-IN" sz="2400"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[16] </a:t>
            </a:r>
            <a:r>
              <a:rPr lang="en-IN" sz="2400" dirty="0">
                <a:latin typeface="Barlow" panose="00000500000000000000" pitchFamily="2" charset="0"/>
              </a:rPr>
              <a:t>, MAP, MRR@10, Recall@10, R-Precision,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[10]</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[11]</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58972864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[5]</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[7]</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[13]</a:t>
                      </a:r>
                      <a:r>
                        <a:rPr lang="en-IN" sz="2000" dirty="0">
                          <a:effectLst/>
                          <a:latin typeface="Barlow" panose="00000500000000000000" pitchFamily="2" charset="0"/>
                        </a:rPr>
                        <a:t>, GeGLU</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[14]</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1270312117"/>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rgbClr val="FF0000"/>
                          </a:solidFill>
                          <a:effectLst/>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0"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[15]</a:t>
                      </a:r>
                      <a:r>
                        <a:rPr lang="en-IN" sz="2000" b="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solidFill>
                            <a:schemeClr val="tx1"/>
                          </a:solidFill>
                          <a:effectLst/>
                          <a:latin typeface="Barlow" panose="00000500000000000000" pitchFamily="2" charset="0"/>
                        </a:rPr>
                        <a:t>(ModernBERT)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solidFill>
                  <a:srgbClr val="FF0000"/>
                </a:solidFill>
                <a:latin typeface="Barlow Medium" panose="00000600000000000000" pitchFamily="2" charset="0"/>
                <a:hlinkClick r:id="rId2" action="ppaction://hlinksldjump">
                  <a:extLst>
                    <a:ext uri="{A12FA001-AC4F-418D-AE19-62706E023703}">
                      <ahyp:hlinkClr xmlns:ahyp="http://schemas.microsoft.com/office/drawing/2018/hyperlinkcolor" val="tx"/>
                    </a:ext>
                  </a:extLst>
                </a:hlinkClick>
              </a:rPr>
              <a:t>[16]</a:t>
            </a:r>
            <a:endParaRPr lang="en-GB" sz="2400" baseline="30000" dirty="0">
              <a:solidFill>
                <a:srgbClr val="FF0000"/>
              </a:solidFill>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
        <p:nvSpPr>
          <p:cNvPr id="2" name="TextBox 1">
            <a:extLst>
              <a:ext uri="{FF2B5EF4-FFF2-40B4-BE49-F238E27FC236}">
                <a16:creationId xmlns:a16="http://schemas.microsoft.com/office/drawing/2014/main" id="{CEC592ED-C90F-911E-D6D9-9690BFA70C4C}"/>
              </a:ext>
            </a:extLst>
          </p:cNvPr>
          <p:cNvSpPr txBox="1"/>
          <p:nvPr/>
        </p:nvSpPr>
        <p:spPr>
          <a:xfrm>
            <a:off x="7825153" y="1679336"/>
            <a:ext cx="3659976" cy="369332"/>
          </a:xfrm>
          <a:prstGeom prst="rect">
            <a:avLst/>
          </a:prstGeom>
          <a:noFill/>
        </p:spPr>
        <p:txBody>
          <a:bodyPr wrap="none" rtlCol="0">
            <a:spAutoFit/>
          </a:bodyPr>
          <a:lstStyle/>
          <a:p>
            <a:r>
              <a:rPr lang="en-GB" b="1" dirty="0">
                <a:latin typeface="Barlow" panose="00000500000000000000" pitchFamily="2" charset="0"/>
              </a:rPr>
              <a:t>*All calculations are w.r.t. AdamW</a:t>
            </a:r>
            <a:endParaRPr lang="en-IN" b="1" dirty="0">
              <a:latin typeface="Barlow" panose="000005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211580055"/>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A</a:t>
                      </a:r>
                      <a:r>
                        <a:rPr lang="en-IN" sz="2000" dirty="0">
                          <a:solidFill>
                            <a:srgbClr val="334155"/>
                          </a:solidFill>
                          <a:effectLst/>
                          <a:latin typeface="Barlow" panose="00000500000000000000" pitchFamily="2" charset="0"/>
                        </a:rPr>
                        <a:t>damW</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purl.org/dc/elements/1.1/"/>
    <ds:schemaRef ds:uri="http://schemas.microsoft.com/office/2006/metadata/properties"/>
    <ds:schemaRef ds:uri="http://schemas.microsoft.com/sharepoint/v3"/>
    <ds:schemaRef ds:uri="http://schemas.microsoft.com/office/2006/documentManagement/types"/>
    <ds:schemaRef ds:uri="230e9df3-be65-4c73-a93b-d1236ebd677e"/>
    <ds:schemaRef ds:uri="http://schemas.microsoft.com/office/infopath/2007/PartnerControls"/>
    <ds:schemaRef ds:uri="http://www.w3.org/XML/1998/namespace"/>
    <ds:schemaRef ds:uri="http://schemas.openxmlformats.org/package/2006/metadata/core-properties"/>
    <ds:schemaRef ds:uri="http://purl.org/dc/term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4367</TotalTime>
  <Words>2649</Words>
  <Application>Microsoft Office PowerPoint</Application>
  <PresentationFormat>Widescreen</PresentationFormat>
  <Paragraphs>333</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87</cp:revision>
  <dcterms:created xsi:type="dcterms:W3CDTF">2025-06-19T06:03:54Z</dcterms:created>
  <dcterms:modified xsi:type="dcterms:W3CDTF">2025-06-24T08:48:23Z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