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5"/>
  </p:notesMasterIdLst>
  <p:handoutMasterIdLst>
    <p:handoutMasterId r:id="rId36"/>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3" r:id="rId20"/>
    <p:sldId id="271" r:id="rId21"/>
    <p:sldId id="288" r:id="rId22"/>
    <p:sldId id="275" r:id="rId23"/>
    <p:sldId id="276" r:id="rId24"/>
    <p:sldId id="277" r:id="rId25"/>
    <p:sldId id="278" r:id="rId26"/>
    <p:sldId id="289" r:id="rId27"/>
    <p:sldId id="269" r:id="rId28"/>
    <p:sldId id="293" r:id="rId29"/>
    <p:sldId id="294" r:id="rId30"/>
    <p:sldId id="290" r:id="rId31"/>
    <p:sldId id="291" r:id="rId32"/>
    <p:sldId id="292" r:id="rId33"/>
    <p:sldId id="284"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5529" autoAdjust="0"/>
  </p:normalViewPr>
  <p:slideViewPr>
    <p:cSldViewPr snapToGrid="0">
      <p:cViewPr varScale="1">
        <p:scale>
          <a:sx n="163" d="100"/>
          <a:sy n="163" d="100"/>
        </p:scale>
        <p:origin x="150" y="2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6/22/2025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30</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6/22/2025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slide" Target="slide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slide" Target="slide2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slide" Target="slide28.xml"/></Relationships>
</file>

<file path=ppt/slides/_rels/slide1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slide" Target="slide27.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 Target="slide28.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hyperlink" Target="https://huggingface.co/collections/skfrost19/rerenkers-681320776cfb45e44b18f5f1" TargetMode="External"/><Relationship Id="rId2" Type="http://schemas.openxmlformats.org/officeDocument/2006/relationships/hyperlink" Target="https://github.com/skfrost19/Cross-Encoder-Lion-vs-AdamW.git" TargetMode="External"/><Relationship Id="rId1" Type="http://schemas.openxmlformats.org/officeDocument/2006/relationships/slideLayout" Target="../slideLayouts/slideLayout6.xml"/><Relationship Id="rId4" Type="http://schemas.openxmlformats.org/officeDocument/2006/relationships/hyperlink" Target="https://arxiv.org/abs/2506.1829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[4]</a:t>
            </a:r>
            <a:r>
              <a:rPr lang="en-GB" b="1" i="1"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 </a:t>
            </a:r>
            <a:r>
              <a:rPr lang="en-GB" sz="2400" i="1" dirty="0">
                <a:solidFill>
                  <a:srgbClr val="002060"/>
                </a:solidFill>
                <a:latin typeface="Barlow Medium" panose="00000600000000000000" pitchFamily="2" charset="0"/>
              </a:rPr>
              <a:t>and AdamW</a:t>
            </a:r>
            <a:r>
              <a:rPr lang="en-GB" b="1" i="1" baseline="30000"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[3]</a:t>
            </a:r>
            <a:r>
              <a:rPr lang="en-GB" b="1" i="1"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a:t>
            </a:r>
            <a:r>
              <a:rPr lang="en-IN" sz="2000" dirty="0">
                <a:solidFill>
                  <a:srgbClr val="FF0000"/>
                </a:solidFill>
                <a:latin typeface="Barlow" panose="00000500000000000000" pitchFamily="2" charset="0"/>
                <a:hlinkClick r:id="rId3" action="ppaction://hlinksldjump"/>
              </a:rPr>
              <a:t> </a:t>
            </a:r>
            <a:r>
              <a:rPr lang="en-IN" sz="2000" dirty="0">
                <a:latin typeface="Barlow" panose="00000500000000000000" pitchFamily="2" charset="0"/>
              </a:rPr>
              <a:t>and AdamW</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[3]</a:t>
            </a:r>
            <a:r>
              <a:rPr lang="en-IN" sz="20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 </a:t>
            </a:r>
            <a:r>
              <a:rPr lang="en-IN" sz="2000" dirty="0">
                <a:latin typeface="Barlow" panose="00000500000000000000" pitchFamily="2" charset="0"/>
              </a:rPr>
              <a:t>and MS MARCO</a:t>
            </a:r>
            <a:r>
              <a:rPr lang="en-IN" sz="2000" b="1" baseline="30000" dirty="0">
                <a:solidFill>
                  <a:srgbClr val="FF0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[9]</a:t>
            </a:r>
            <a:r>
              <a:rPr lang="en-IN" sz="2000" dirty="0">
                <a:solidFill>
                  <a:srgbClr val="FFC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a:t>
            </a:r>
            <a:endParaRPr lang="en-IN" sz="2000" dirty="0">
              <a:latin typeface="Barlow" panose="00000500000000000000" pitchFamily="2" charset="0"/>
            </a:endParaRP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latin typeface="Barlow" panose="00000500000000000000" pitchFamily="2" charset="0"/>
              </a:rPr>
              <a:t>: Advanced features (RoPE</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[12]</a:t>
            </a:r>
            <a:r>
              <a:rPr lang="en-IN" sz="2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a:t>
            </a:r>
            <a:r>
              <a:rPr lang="en-IN" sz="2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Flash Attention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rcRect/>
          <a:stretch/>
        </p:blipFill>
        <p:spPr>
          <a:xfrm>
            <a:off x="190791" y="15826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hlinkClick r:id="rId2" action="ppaction://hlinksldjump"/>
              </a:rPr>
              <a:t>[3]</a:t>
            </a:r>
            <a:endParaRPr lang="en-IN" sz="2800"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46746" cy="3477875"/>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latin typeface="Barlow" panose="00000500000000000000" pitchFamily="2" charset="0"/>
              </a:rPr>
              <a:t>[1]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hlinkClick r:id="rId3" action="ppaction://hlinksldjump"/>
            <a:extLst>
              <a:ext uri="{FF2B5EF4-FFF2-40B4-BE49-F238E27FC236}">
                <a16:creationId xmlns:a16="http://schemas.microsoft.com/office/drawing/2014/main" id="{9ADE2C19-748C-BEF1-E01F-6CA5DA982809}"/>
              </a:ext>
            </a:extLst>
          </p:cNvPr>
          <p:cNvPicPr>
            <a:picLocks/>
          </p:cNvPicPr>
          <p:nvPr/>
        </p:nvPicPr>
        <p:blipFill>
          <a:blip r:embed="rId4"/>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5"/>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hlinkClick r:id="rId2" action="ppaction://hlinksldjump"/>
              </a:rPr>
              <a:t>[4]</a:t>
            </a:r>
            <a:endParaRPr lang="en-IN" sz="2800" b="1"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64D9E65-4ACF-AB7F-EB7E-92497B1D7DA2}"/>
              </a:ext>
            </a:extLst>
          </p:cNvPr>
          <p:cNvSpPr txBox="1"/>
          <p:nvPr/>
        </p:nvSpPr>
        <p:spPr>
          <a:xfrm>
            <a:off x="469232" y="2117892"/>
            <a:ext cx="7173759"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a:t>
            </a: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6" name="@holatex&#10;\begin{document}&#10;\center&#10;where:&#10;\begin{itemize}&#10;    \item $c_t$: interpolated momentum for update direction&#10;    \item $\text{sign}(\cdot)$: element-wise sign function  &#10;    \item $\theta_t$: model parameters at time step $t$&#10;    \item $g_t$: gradient at time step $t$&#10;    \item $m_t$: exponential moving average of gradients (momentum)&#10;    \item $\eta$: learning rate&#10;    \item $\beta_1$: momentum coefficient for update direction (typically 0.9)&#10;    \item $\beta_2$: momentum coefficient for gradient tracking (typically 0.99)&#10;    \item $\lambda$: weight decay coefficient&#10;\end{itemize}&#10;\end{document}">
            <a:extLst>
              <a:ext uri="{FF2B5EF4-FFF2-40B4-BE49-F238E27FC236}">
                <a16:creationId xmlns:a16="http://schemas.microsoft.com/office/drawing/2014/main" id="{5860B546-5E53-616F-31DD-9768D14F3DAB}"/>
              </a:ext>
            </a:extLst>
          </p:cNvPr>
          <p:cNvPicPr>
            <a:picLocks/>
          </p:cNvPicPr>
          <p:nvPr/>
        </p:nvPicPr>
        <p:blipFill>
          <a:blip r:embed="rId4"/>
          <a:stretch>
            <a:fillRect/>
          </a:stretch>
        </p:blipFill>
        <p:spPr>
          <a:xfrm>
            <a:off x="6505216" y="2461062"/>
            <a:ext cx="4876782" cy="3949750"/>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953183" cy="5044557"/>
          </a:xfrm>
        </p:spPr>
        <p:txBody>
          <a:bodyPr>
            <a:normAutofit fontScale="77500" lnSpcReduction="20000"/>
          </a:bodyPr>
          <a:lstStyle/>
          <a:p>
            <a:r>
              <a:rPr lang="en-IN" sz="3100" b="1" dirty="0">
                <a:solidFill>
                  <a:schemeClr val="tx2"/>
                </a:solidFill>
                <a:latin typeface="Barlow Medium" panose="00000600000000000000" pitchFamily="2" charset="0"/>
              </a:rPr>
              <a:t>Dataset Configuration</a:t>
            </a:r>
          </a:p>
          <a:p>
            <a:pPr lvl="1"/>
            <a:r>
              <a:rPr lang="en-IN" sz="2400" b="1" dirty="0">
                <a:latin typeface="Barlow Medium" panose="00000600000000000000" pitchFamily="2" charset="0"/>
              </a:rPr>
              <a:t>T</a:t>
            </a:r>
            <a:r>
              <a:rPr lang="en-IN" sz="2400" b="1" dirty="0">
                <a:latin typeface="Barlow" panose="00000500000000000000" pitchFamily="2" charset="0"/>
              </a:rPr>
              <a:t>raining:</a:t>
            </a:r>
            <a:r>
              <a:rPr lang="en-IN" sz="2400" dirty="0">
                <a:latin typeface="Barlow" panose="00000500000000000000" pitchFamily="2" charset="0"/>
              </a:rPr>
              <a:t> MS MARCO</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[9]</a:t>
            </a:r>
            <a:r>
              <a:rPr lang="en-IN" sz="2400" dirty="0">
                <a:solidFill>
                  <a:srgbClr val="FFC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 </a:t>
            </a:r>
            <a:r>
              <a:rPr lang="en-IN" sz="2400" dirty="0">
                <a:latin typeface="Barlow" panose="00000500000000000000" pitchFamily="2" charset="0"/>
              </a:rPr>
              <a:t>Passage Ranking (~2M triplets)</a:t>
            </a:r>
          </a:p>
          <a:p>
            <a:pPr lvl="1"/>
            <a:r>
              <a:rPr lang="en-IN" sz="2400" b="1" dirty="0">
                <a:latin typeface="Barlow" panose="00000500000000000000" pitchFamily="2" charset="0"/>
              </a:rPr>
              <a:t>Evaluation:</a:t>
            </a:r>
            <a:r>
              <a:rPr lang="en-IN" sz="2400" dirty="0">
                <a:latin typeface="Barlow" panose="00000500000000000000" pitchFamily="2" charset="0"/>
              </a:rPr>
              <a:t> TREC DL</a:t>
            </a:r>
            <a:r>
              <a:rPr lang="en-IN" sz="24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a:t>
            </a:r>
            <a:r>
              <a:rPr lang="en-IN" sz="24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400" dirty="0">
                <a:latin typeface="Barlow" panose="00000500000000000000" pitchFamily="2" charset="0"/>
              </a:rPr>
              <a:t>2019 (43 queries with comprehensive relevance judgments)</a:t>
            </a:r>
          </a:p>
          <a:p>
            <a:pPr lvl="1"/>
            <a:r>
              <a:rPr lang="en-IN" sz="2400" b="1" dirty="0">
                <a:latin typeface="Barlow" panose="00000500000000000000" pitchFamily="2" charset="0"/>
              </a:rPr>
              <a:t>Metrics:</a:t>
            </a:r>
            <a:r>
              <a:rPr lang="en-IN" sz="2400" dirty="0">
                <a:latin typeface="Barlow" panose="00000500000000000000" pitchFamily="2" charset="0"/>
              </a:rPr>
              <a:t> NDCG@10</a:t>
            </a:r>
            <a:r>
              <a:rPr lang="en-IN" sz="2400"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[16] </a:t>
            </a:r>
            <a:r>
              <a:rPr lang="en-IN" sz="2400" dirty="0">
                <a:latin typeface="Barlow" panose="00000500000000000000" pitchFamily="2" charset="0"/>
              </a:rPr>
              <a:t>, MRR@10, Recall@10, P@10</a:t>
            </a:r>
          </a:p>
          <a:p>
            <a:r>
              <a:rPr lang="en-IN" sz="3100" b="1" dirty="0">
                <a:solidFill>
                  <a:schemeClr val="tx2"/>
                </a:solidFill>
                <a:latin typeface="Barlow Medium" panose="00000600000000000000" pitchFamily="2" charset="0"/>
              </a:rPr>
              <a:t>Infrastructure</a:t>
            </a:r>
          </a:p>
          <a:p>
            <a:pPr lvl="1"/>
            <a:r>
              <a:rPr lang="en-IN" sz="2400" b="1" dirty="0">
                <a:latin typeface="Barlow" panose="00000500000000000000" pitchFamily="2" charset="0"/>
              </a:rPr>
              <a:t>Platform:</a:t>
            </a:r>
            <a:r>
              <a:rPr lang="en-IN" sz="2400" dirty="0">
                <a:latin typeface="Barlow" panose="00000500000000000000" pitchFamily="2" charset="0"/>
              </a:rPr>
              <a:t> Modal cloud computing</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[10]</a:t>
            </a:r>
            <a:endParaRPr lang="en-IN" sz="2400" b="1" baseline="30000" dirty="0">
              <a:solidFill>
                <a:srgbClr val="FF0000"/>
              </a:solidFill>
              <a:latin typeface="Barlow" panose="00000500000000000000" pitchFamily="2" charset="0"/>
            </a:endParaRPr>
          </a:p>
          <a:p>
            <a:pPr lvl="1"/>
            <a:r>
              <a:rPr lang="en-IN" sz="2400" b="1" dirty="0">
                <a:latin typeface="Barlow" panose="00000500000000000000" pitchFamily="2" charset="0"/>
              </a:rPr>
              <a:t>Hardware:</a:t>
            </a:r>
            <a:r>
              <a:rPr lang="en-IN" sz="2400" dirty="0">
                <a:latin typeface="Barlow" panose="00000500000000000000" pitchFamily="2" charset="0"/>
              </a:rPr>
              <a:t> 3 × NVIDIA L40S GPUs</a:t>
            </a:r>
          </a:p>
          <a:p>
            <a:pPr lvl="1"/>
            <a:r>
              <a:rPr lang="en-IN" sz="2400" b="1" dirty="0">
                <a:latin typeface="Barlow" panose="00000500000000000000" pitchFamily="2" charset="0"/>
              </a:rPr>
              <a:t>Monitoring:</a:t>
            </a:r>
            <a:r>
              <a:rPr lang="en-IN" sz="2400" dirty="0">
                <a:latin typeface="Barlow" panose="00000500000000000000" pitchFamily="2" charset="0"/>
              </a:rPr>
              <a:t> Weights &amp; Biases</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[11]</a:t>
            </a:r>
            <a:endParaRPr lang="en-IN" sz="2400" b="1" baseline="30000" dirty="0">
              <a:solidFill>
                <a:srgbClr val="FF0000"/>
              </a:solidFill>
              <a:latin typeface="Barlow" panose="00000500000000000000" pitchFamily="2" charset="0"/>
            </a:endParaRPr>
          </a:p>
          <a:p>
            <a:pPr lvl="1"/>
            <a:r>
              <a:rPr lang="en-IN" sz="2400" b="1" dirty="0">
                <a:latin typeface="Barlow" panose="00000500000000000000" pitchFamily="2" charset="0"/>
              </a:rPr>
              <a:t>Training:</a:t>
            </a:r>
            <a:r>
              <a:rPr lang="en-IN" sz="2400" dirty="0">
                <a:latin typeface="Barlow" panose="00000500000000000000" pitchFamily="2" charset="0"/>
              </a:rPr>
              <a:t> 3 epochs per configuration</a:t>
            </a:r>
          </a:p>
          <a:p>
            <a:r>
              <a:rPr lang="en-IN" sz="3100" b="1" dirty="0">
                <a:solidFill>
                  <a:schemeClr val="tx2"/>
                </a:solidFill>
                <a:latin typeface="Barlow Medium" panose="00000600000000000000" pitchFamily="2" charset="0"/>
              </a:rPr>
              <a:t>Experimental Design</a:t>
            </a:r>
          </a:p>
          <a:p>
            <a:pPr lvl="1"/>
            <a:r>
              <a:rPr lang="en-IN" sz="2400" b="1" dirty="0">
                <a:latin typeface="Barlow" panose="00000500000000000000" pitchFamily="2" charset="0"/>
              </a:rPr>
              <a:t>Total Configurations:</a:t>
            </a:r>
            <a:r>
              <a:rPr lang="en-IN" sz="2400" dirty="0">
                <a:latin typeface="Barlow" panose="00000500000000000000" pitchFamily="2" charset="0"/>
              </a:rPr>
              <a:t> 6 (3 models × 2 optimizers)</a:t>
            </a:r>
          </a:p>
          <a:p>
            <a:pPr lvl="1"/>
            <a:r>
              <a:rPr lang="en-IN" sz="2400" b="1" dirty="0">
                <a:latin typeface="Barlow" panose="00000500000000000000" pitchFamily="2" charset="0"/>
              </a:rPr>
              <a:t>Controlled Variables:</a:t>
            </a:r>
            <a:r>
              <a:rPr lang="en-IN" sz="2400" dirty="0">
                <a:latin typeface="Barlow" panose="00000500000000000000" pitchFamily="2" charset="0"/>
              </a:rPr>
              <a:t> Batch size, training steps, evaluation frequency</a:t>
            </a:r>
          </a:p>
          <a:p>
            <a:pPr lvl="1"/>
            <a:r>
              <a:rPr lang="en-IN" sz="2400" b="1" dirty="0">
                <a:latin typeface="Barlow" panose="00000500000000000000" pitchFamily="2" charset="0"/>
              </a:rPr>
              <a:t>Variable Parameters:</a:t>
            </a:r>
            <a:r>
              <a:rPr lang="en-IN" sz="2400" dirty="0">
                <a:latin typeface="Barlow" panose="00000500000000000000" pitchFamily="2" charset="0"/>
              </a:rPr>
              <a:t> Learning rates (2e-5 standard, 2e-6 for ModernBERT</a:t>
            </a:r>
            <a:r>
              <a:rPr lang="en-IN" sz="2400"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[6]</a:t>
            </a:r>
            <a:r>
              <a:rPr lang="en-IN" sz="2400" dirty="0">
                <a:latin typeface="Barlow" panose="00000500000000000000" pitchFamily="2" charset="0"/>
              </a:rPr>
              <a:t>+Lion</a:t>
            </a:r>
            <a:r>
              <a:rPr lang="en-IN" sz="2400"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a:t>
            </a:r>
            <a:r>
              <a:rPr lang="en-IN" sz="2400" dirty="0">
                <a:latin typeface="Barlow" panose="00000500000000000000" pitchFamily="2" charset="0"/>
              </a:rPr>
              <a:t>)</a:t>
            </a: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589728642"/>
              </p:ext>
            </p:extLst>
          </p:nvPr>
        </p:nvGraphicFramePr>
        <p:xfrm>
          <a:off x="782704" y="1812991"/>
          <a:ext cx="10629934" cy="29260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 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[5]</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[7]</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dirty="0">
                          <a:effectLst/>
                          <a:latin typeface="Barlow" panose="00000500000000000000" pitchFamily="2" charset="0"/>
                        </a:rPr>
                        <a:t>ModernBERT-base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[6]</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[12]</a:t>
                      </a:r>
                      <a:r>
                        <a:rPr lang="en-IN" sz="2000" baseline="30000" dirty="0">
                          <a:effectLst/>
                          <a:latin typeface="Barlow" panose="00000500000000000000" pitchFamily="2" charset="0"/>
                        </a:rPr>
                        <a:t>, </a:t>
                      </a:r>
                      <a:r>
                        <a:rPr lang="en-IN" sz="2000" dirty="0">
                          <a:effectLst/>
                          <a:latin typeface="Barlow" panose="00000500000000000000" pitchFamily="2" charset="0"/>
                        </a:rPr>
                        <a:t>Flash Attention</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[13]</a:t>
                      </a:r>
                      <a:r>
                        <a:rPr lang="en-IN" sz="2000" dirty="0">
                          <a:effectLst/>
                          <a:latin typeface="Barlow" panose="00000500000000000000" pitchFamily="2" charset="0"/>
                        </a:rPr>
                        <a:t>, GeGLU</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[14]</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1270312117"/>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r>
                        <a:rPr lang="en-IN" sz="2000" baseline="30000" dirty="0">
                          <a:solidFill>
                            <a:srgbClr val="FF0000"/>
                          </a:solidFill>
                          <a:effectLst/>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solidFill>
                            <a:schemeClr val="tx1"/>
                          </a:solidFill>
                          <a:effectLst/>
                          <a:latin typeface="Barlow" panose="00000500000000000000" pitchFamily="2" charset="0"/>
                        </a:rPr>
                        <a: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0"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[15]</a:t>
                      </a:r>
                      <a:r>
                        <a:rPr lang="en-IN" sz="2000" b="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solidFill>
                            <a:schemeClr val="tx1"/>
                          </a:solidFill>
                          <a:effectLst/>
                          <a:latin typeface="Barlow" panose="00000500000000000000" pitchFamily="2" charset="0"/>
                        </a:rPr>
                        <a:t>(ModernBERT)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938665"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r>
              <a:rPr lang="en-GB" sz="2400" baseline="30000" dirty="0">
                <a:solidFill>
                  <a:srgbClr val="FF0000"/>
                </a:solidFill>
                <a:latin typeface="Barlow Medium" panose="00000600000000000000" pitchFamily="2" charset="0"/>
                <a:hlinkClick r:id="rId2" action="ppaction://hlinksldjump">
                  <a:extLst>
                    <a:ext uri="{A12FA001-AC4F-418D-AE19-62706E023703}">
                      <ahyp:hlinkClr xmlns:ahyp="http://schemas.microsoft.com/office/drawing/2018/hyperlinkcolor" val="tx"/>
                    </a:ext>
                  </a:extLst>
                </a:hlinkClick>
              </a:rPr>
              <a:t>[16]</a:t>
            </a:r>
            <a:endParaRPr lang="en-GB" sz="2400" baseline="30000" dirty="0">
              <a:solidFill>
                <a:srgbClr val="FF0000"/>
              </a:solidFill>
              <a:latin typeface="Barlow Medium" panose="00000600000000000000" pitchFamily="2" charset="0"/>
            </a:endParaRP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3"/>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1126788479"/>
              </p:ext>
            </p:extLst>
          </p:nvPr>
        </p:nvGraphicFramePr>
        <p:xfrm>
          <a:off x="1668000" y="2286584"/>
          <a:ext cx="8856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3161617" y="5707201"/>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3/4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
        <p:nvSpPr>
          <p:cNvPr id="2" name="TextBox 1">
            <a:extLst>
              <a:ext uri="{FF2B5EF4-FFF2-40B4-BE49-F238E27FC236}">
                <a16:creationId xmlns:a16="http://schemas.microsoft.com/office/drawing/2014/main" id="{CEC592ED-C90F-911E-D6D9-9690BFA70C4C}"/>
              </a:ext>
            </a:extLst>
          </p:cNvPr>
          <p:cNvSpPr txBox="1"/>
          <p:nvPr/>
        </p:nvSpPr>
        <p:spPr>
          <a:xfrm>
            <a:off x="7825153" y="1679336"/>
            <a:ext cx="3659976" cy="369332"/>
          </a:xfrm>
          <a:prstGeom prst="rect">
            <a:avLst/>
          </a:prstGeom>
          <a:noFill/>
        </p:spPr>
        <p:txBody>
          <a:bodyPr wrap="none" rtlCol="0">
            <a:spAutoFit/>
          </a:bodyPr>
          <a:lstStyle/>
          <a:p>
            <a:r>
              <a:rPr lang="en-GB" b="1" dirty="0">
                <a:latin typeface="Barlow" panose="00000500000000000000" pitchFamily="2" charset="0"/>
              </a:rPr>
              <a:t>*All calculations are w.r.t. AdamW</a:t>
            </a:r>
            <a:endParaRPr lang="en-IN" b="1" dirty="0">
              <a:latin typeface="Barlow" panose="000005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211580055"/>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GB" sz="2000" dirty="0">
                          <a:solidFill>
                            <a:srgbClr val="334155"/>
                          </a:solidFill>
                          <a:effectLst/>
                          <a:latin typeface="Barlow" panose="00000500000000000000" pitchFamily="2" charset="0"/>
                        </a:rPr>
                        <a:t>A</a:t>
                      </a:r>
                      <a:r>
                        <a:rPr lang="en-IN" sz="2000" dirty="0">
                          <a:solidFill>
                            <a:srgbClr val="334155"/>
                          </a:solidFill>
                          <a:effectLst/>
                          <a:latin typeface="Barlow" panose="00000500000000000000" pitchFamily="2" charset="0"/>
                        </a:rPr>
                        <a:t>damW</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B296B-71D9-5C1C-7F8F-165046B741D8}"/>
              </a:ext>
            </a:extLst>
          </p:cNvPr>
          <p:cNvSpPr>
            <a:spLocks noGrp="1"/>
          </p:cNvSpPr>
          <p:nvPr>
            <p:ph type="title"/>
          </p:nvPr>
        </p:nvSpPr>
        <p:spPr/>
        <p:txBody>
          <a:bodyPr/>
          <a:lstStyle/>
          <a:p>
            <a:r>
              <a:rPr lang="en-GB" dirty="0">
                <a:latin typeface="Barlow ExtraBold" panose="00000900000000000000" pitchFamily="2" charset="0"/>
              </a:rPr>
              <a:t>Code and Model availability</a:t>
            </a:r>
            <a:endParaRPr lang="en-IN" dirty="0">
              <a:latin typeface="Barlow ExtraBold" panose="00000900000000000000" pitchFamily="2" charset="0"/>
            </a:endParaRPr>
          </a:p>
        </p:txBody>
      </p:sp>
    </p:spTree>
    <p:extLst>
      <p:ext uri="{BB962C8B-B14F-4D97-AF65-F5344CB8AC3E}">
        <p14:creationId xmlns:p14="http://schemas.microsoft.com/office/powerpoint/2010/main" val="3032910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B818C9-2186-F63A-6998-385E02599FEB}"/>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2898D326-FA1B-355D-92D0-C089225B5146}"/>
              </a:ext>
            </a:extLst>
          </p:cNvPr>
          <p:cNvSpPr>
            <a:spLocks noGrp="1"/>
          </p:cNvSpPr>
          <p:nvPr>
            <p:ph type="body" sz="half" idx="2"/>
          </p:nvPr>
        </p:nvSpPr>
        <p:spPr>
          <a:xfrm>
            <a:off x="706277" y="1197142"/>
            <a:ext cx="10779446" cy="5209674"/>
          </a:xfrm>
        </p:spPr>
        <p:txBody>
          <a:bodyPr>
            <a:noAutofit/>
          </a:bodyPr>
          <a:lstStyle/>
          <a:p>
            <a:pPr marL="342900" indent="-342900">
              <a:buFont typeface="Wingdings" panose="05000000000000000000" pitchFamily="2" charset="2"/>
              <a:buChar char="q"/>
            </a:pPr>
            <a:r>
              <a:rPr lang="en-GB" sz="3200" dirty="0">
                <a:latin typeface="Barlow Medium" panose="00000600000000000000" pitchFamily="2" charset="0"/>
              </a:rPr>
              <a:t>Code for reproducibility can be found on: </a:t>
            </a:r>
            <a:r>
              <a:rPr lang="en-GB" sz="3200" dirty="0">
                <a:solidFill>
                  <a:srgbClr val="FF0000"/>
                </a:solidFill>
                <a:latin typeface="Barlow Medium" panose="00000600000000000000" pitchFamily="2" charset="0"/>
                <a:hlinkClick r:id="rId2">
                  <a:extLst>
                    <a:ext uri="{A12FA001-AC4F-418D-AE19-62706E023703}">
                      <ahyp:hlinkClr xmlns:ahyp="http://schemas.microsoft.com/office/drawing/2018/hyperlinkcolor" val="tx"/>
                    </a:ext>
                  </a:extLst>
                </a:hlinkClick>
              </a:rPr>
              <a:t>https://github.com/skfrost19/Cross-Encoder-Lion-vs-AdamW.git</a:t>
            </a:r>
            <a:endParaRPr lang="en-GB" sz="3200" dirty="0">
              <a:solidFill>
                <a:srgbClr val="FF0000"/>
              </a:solidFill>
              <a:latin typeface="Barlow Medium" panose="00000600000000000000" pitchFamily="2" charset="0"/>
            </a:endParaRPr>
          </a:p>
          <a:p>
            <a:pPr marL="342900" indent="-342900">
              <a:buFont typeface="Wingdings" panose="05000000000000000000" pitchFamily="2" charset="2"/>
              <a:buChar char="q"/>
            </a:pPr>
            <a:r>
              <a:rPr lang="en-GB" sz="3200" dirty="0">
                <a:latin typeface="Barlow Medium" panose="00000600000000000000" pitchFamily="2" charset="0"/>
              </a:rPr>
              <a:t>Trained Cross encoders can be found on:</a:t>
            </a:r>
            <a:r>
              <a:rPr lang="en-IN" sz="3200" dirty="0">
                <a:latin typeface="Barlow Medium" panose="00000600000000000000" pitchFamily="2" charset="0"/>
              </a:rPr>
              <a:t> </a:t>
            </a:r>
            <a:r>
              <a:rPr lang="en-IN" sz="3200" dirty="0">
                <a:solidFill>
                  <a:srgbClr val="FF0000"/>
                </a:solidFill>
                <a:latin typeface="Barlow Medium" panose="00000600000000000000" pitchFamily="2" charset="0"/>
                <a:hlinkClick r:id="rId3">
                  <a:extLst>
                    <a:ext uri="{A12FA001-AC4F-418D-AE19-62706E023703}">
                      <ahyp:hlinkClr xmlns:ahyp="http://schemas.microsoft.com/office/drawing/2018/hyperlinkcolor" val="tx"/>
                    </a:ext>
                  </a:extLst>
                </a:hlinkClick>
              </a:rPr>
              <a:t>https://huggingface.co/collections/skfrost19/rerenkers-681320776cfb45e44b18f5f1</a:t>
            </a:r>
            <a:endParaRPr lang="en-IN" sz="3200" dirty="0">
              <a:solidFill>
                <a:srgbClr val="FF0000"/>
              </a:solidFill>
              <a:latin typeface="Barlow Medium" panose="00000600000000000000" pitchFamily="2" charset="0"/>
            </a:endParaRPr>
          </a:p>
          <a:p>
            <a:pPr marL="342900" indent="-342900">
              <a:buFont typeface="Wingdings" panose="05000000000000000000" pitchFamily="2" charset="2"/>
              <a:buChar char="q"/>
            </a:pPr>
            <a:r>
              <a:rPr lang="en-IN" sz="3200" dirty="0">
                <a:latin typeface="Barlow Medium" panose="00000600000000000000" pitchFamily="2" charset="0"/>
              </a:rPr>
              <a:t>Pre-print can be found on: </a:t>
            </a:r>
            <a:r>
              <a:rPr lang="en-IN" sz="3200" dirty="0">
                <a:solidFill>
                  <a:srgbClr val="FF0000"/>
                </a:solidFill>
                <a:latin typeface="Barlow Medium" panose="00000600000000000000" pitchFamily="2" charset="0"/>
                <a:hlinkClick r:id="rId4">
                  <a:extLst>
                    <a:ext uri="{A12FA001-AC4F-418D-AE19-62706E023703}">
                      <ahyp:hlinkClr xmlns:ahyp="http://schemas.microsoft.com/office/drawing/2018/hyperlinkcolor" val="tx"/>
                    </a:ext>
                  </a:extLst>
                </a:hlinkClick>
              </a:rPr>
              <a:t>https://arxiv.org/abs/2506.18297</a:t>
            </a:r>
            <a:endParaRPr lang="en-GB" sz="3200" dirty="0">
              <a:solidFill>
                <a:srgbClr val="FF0000"/>
              </a:solidFill>
              <a:latin typeface="Barlow Medium" panose="00000600000000000000" pitchFamily="2" charset="0"/>
            </a:endParaRPr>
          </a:p>
        </p:txBody>
      </p:sp>
    </p:spTree>
    <p:extLst>
      <p:ext uri="{BB962C8B-B14F-4D97-AF65-F5344CB8AC3E}">
        <p14:creationId xmlns:p14="http://schemas.microsoft.com/office/powerpoint/2010/main" val="1171816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arXiv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arXiv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arXiv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REtrieval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106905"/>
            <a:ext cx="11080236" cy="5329990"/>
          </a:xfrm>
        </p:spPr>
        <p:txBody>
          <a:bodyPr>
            <a:normAutofit fontScale="92500" lnSpcReduction="2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MAchine Reading COmprehension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"RoFormer: Enhanced Transformer with Rotary Position Embedding," arXiv preprint arXiv:2104.09864, 2021.</a:t>
            </a:r>
          </a:p>
          <a:p>
            <a:pPr marL="457200" indent="-457200">
              <a:buFont typeface="+mj-lt"/>
              <a:buAutoNum type="arabicPeriod" startAt="9"/>
            </a:pPr>
            <a:r>
              <a:rPr lang="en-GB" sz="2000" dirty="0">
                <a:latin typeface="Barlow" panose="00000500000000000000" pitchFamily="2" charset="0"/>
              </a:rPr>
              <a:t>T. Dao, D. Y. Fu, S. Ermon, A. Rudra, and C. Ré, "FlashAttention: Fast and Memory-Efficient Exact Attention with IO-Awareness," in Advances in Neural Information Processing Systems (NeurIPS), vol. 35, pp. 16438–16453, 2022.</a:t>
            </a:r>
          </a:p>
          <a:p>
            <a:pPr marL="457200" indent="-457200">
              <a:buFont typeface="+mj-lt"/>
              <a:buAutoNum type="arabicPeriod" startAt="9"/>
            </a:pPr>
            <a:r>
              <a:rPr lang="en-GB" sz="2000" dirty="0">
                <a:latin typeface="Barlow" panose="00000500000000000000" pitchFamily="2" charset="0"/>
              </a:rPr>
              <a:t>A. Shazeer, "Gated Linear Units with GELU activation," arXiv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p>
          <a:p>
            <a:pPr marL="457200" indent="-457200">
              <a:buFont typeface="+mj-lt"/>
              <a:buAutoNum type="arabicPeriod" startAt="9"/>
            </a:pPr>
            <a:r>
              <a:rPr lang="en-GB" sz="2000" dirty="0">
                <a:latin typeface="Barlow" panose="00000500000000000000" pitchFamily="2" charset="0"/>
              </a:rPr>
              <a:t>Y. Wang et al., “A theoretical analysis of NDCG type ranking measures,” arXiv preprint arXiv:1304.6480, Apr. 2013.</a:t>
            </a:r>
            <a:endParaRPr lang="en-IN" sz="2000" dirty="0">
              <a:latin typeface="Barlow" panose="00000500000000000000" pitchFamily="2" charset="0"/>
            </a:endParaRPr>
          </a:p>
        </p:txBody>
      </p:sp>
    </p:spTree>
    <p:extLst>
      <p:ext uri="{BB962C8B-B14F-4D97-AF65-F5344CB8AC3E}">
        <p14:creationId xmlns:p14="http://schemas.microsoft.com/office/powerpoint/2010/main" val="28487331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purl.org/dc/elements/1.1/"/>
    <ds:schemaRef ds:uri="http://schemas.microsoft.com/office/2006/metadata/properties"/>
    <ds:schemaRef ds:uri="http://schemas.microsoft.com/sharepoint/v3"/>
    <ds:schemaRef ds:uri="http://schemas.microsoft.com/office/2006/documentManagement/types"/>
    <ds:schemaRef ds:uri="230e9df3-be65-4c73-a93b-d1236ebd677e"/>
    <ds:schemaRef ds:uri="http://schemas.microsoft.com/office/infopath/2007/PartnerControls"/>
    <ds:schemaRef ds:uri="http://www.w3.org/XML/1998/namespace"/>
    <ds:schemaRef ds:uri="http://schemas.openxmlformats.org/package/2006/metadata/core-properties"/>
    <ds:schemaRef ds:uri="http://purl.org/dc/terms/"/>
    <ds:schemaRef ds:uri="16c05727-aa75-4e4a-9b5f-8a80a1165891"/>
    <ds:schemaRef ds:uri="71af3243-3dd4-4a8d-8c0d-dd76da1f02a5"/>
    <ds:schemaRef ds:uri="http://purl.org/dc/dcmityp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4694</TotalTime>
  <Words>2699</Words>
  <Application>Microsoft Office PowerPoint</Application>
  <PresentationFormat>Widescreen</PresentationFormat>
  <Paragraphs>330</Paragraphs>
  <Slides>30</Slides>
  <Notes>13</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vt:i4>
      </vt:variant>
    </vt:vector>
  </HeadingPairs>
  <TitlesOfParts>
    <vt:vector size="41"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Metrics</vt:lpstr>
      <vt:lpstr>Evaluation Metrics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Code and Model availability</vt:lpstr>
      <vt:lpstr>PowerPoint Presentation</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101</cp:revision>
  <dcterms:created xsi:type="dcterms:W3CDTF">2025-06-19T06:03:54Z</dcterms:created>
  <dcterms:modified xsi:type="dcterms:W3CDTF">2025-06-24T14:15:27Z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